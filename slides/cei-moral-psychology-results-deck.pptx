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3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4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c3b674d00264299" /><Relationship Type="http://schemas.openxmlformats.org/officeDocument/2006/relationships/extended-properties" Target="/docProps/app.xml" Id="R93c2eb653aeb460b" /><Relationship Type="http://schemas.openxmlformats.org/officeDocument/2006/relationships/officeDocument" Target="/ppt/presentation.xml" Id="R4e7286a623bc4fd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1cd8b7a0e634a0e"/>
  </p:sldMasterIdLst>
  <p:notesMasterIdLst>
    <p:notesMasterId xmlns:r="http://schemas.openxmlformats.org/officeDocument/2006/relationships" r:id="R990e15a58efa4467"/>
  </p:notesMasterIdLst>
  <p:sldIdLst>
    <p:sldId xmlns:r="http://schemas.openxmlformats.org/officeDocument/2006/relationships" id="256" r:id="R8e86394e54734515"/>
    <p:sldId xmlns:r="http://schemas.openxmlformats.org/officeDocument/2006/relationships" id="257" r:id="R4af1f1d8d7f24a27"/>
    <p:sldId xmlns:r="http://schemas.openxmlformats.org/officeDocument/2006/relationships" id="258" r:id="Rcc5aca3358c54a8d"/>
    <p:sldId xmlns:r="http://schemas.openxmlformats.org/officeDocument/2006/relationships" id="259" r:id="R80f339c386b24948"/>
    <p:sldId xmlns:r="http://schemas.openxmlformats.org/officeDocument/2006/relationships" id="260" r:id="R43eafd66d5ec4c1d"/>
    <p:sldId xmlns:r="http://schemas.openxmlformats.org/officeDocument/2006/relationships" id="261" r:id="R59eb355073104c30"/>
    <p:sldId xmlns:r="http://schemas.openxmlformats.org/officeDocument/2006/relationships" id="262" r:id="R40e0262293a94300"/>
    <p:sldId xmlns:r="http://schemas.openxmlformats.org/officeDocument/2006/relationships" id="263" r:id="Rc806270a275f420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a1734923aba4e47" /><Relationship Type="http://schemas.openxmlformats.org/officeDocument/2006/relationships/slideMaster" Target="/ppt/slideMasters/slideMaster1.xml" Id="R61cd8b7a0e634a0e" /><Relationship Type="http://schemas.openxmlformats.org/officeDocument/2006/relationships/notesMaster" Target="/ppt/notesMasters/notesMaster1.xml" Id="R990e15a58efa4467" /><Relationship Type="http://schemas.openxmlformats.org/officeDocument/2006/relationships/presProps" Target="/ppt/presProps.xml" Id="Rf484838705e0486b" /><Relationship Type="http://schemas.openxmlformats.org/officeDocument/2006/relationships/tableStyles" Target="/ppt/tableStyles.xml" Id="R439bff69d45b471e" /><Relationship Type="http://schemas.openxmlformats.org/officeDocument/2006/relationships/slide" Target="/ppt/slides/slide1.xml" Id="R8e86394e54734515" /><Relationship Type="http://schemas.openxmlformats.org/officeDocument/2006/relationships/slide" Target="/ppt/slides/slide2.xml" Id="R4af1f1d8d7f24a27" /><Relationship Type="http://schemas.openxmlformats.org/officeDocument/2006/relationships/slide" Target="/ppt/slides/slide3.xml" Id="Rcc5aca3358c54a8d" /><Relationship Type="http://schemas.openxmlformats.org/officeDocument/2006/relationships/slide" Target="/ppt/slides/slide4.xml" Id="R80f339c386b24948" /><Relationship Type="http://schemas.openxmlformats.org/officeDocument/2006/relationships/slide" Target="/ppt/slides/slide5.xml" Id="R43eafd66d5ec4c1d" /><Relationship Type="http://schemas.openxmlformats.org/officeDocument/2006/relationships/slide" Target="/ppt/slides/slide6.xml" Id="R59eb355073104c30" /><Relationship Type="http://schemas.openxmlformats.org/officeDocument/2006/relationships/slide" Target="/ppt/slides/slide7.xml" Id="R40e0262293a94300" /><Relationship Type="http://schemas.openxmlformats.org/officeDocument/2006/relationships/slide" Target="/ppt/slides/slide8.xml" Id="Rc806270a275f42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795983d1368498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59c9ec794124aa2" /><Relationship Type="http://schemas.openxmlformats.org/officeDocument/2006/relationships/notesMaster" Target="/ppt/notesMasters/notesMaster1.xml" Id="Rca2db5ec4f4f4cb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c85e4778ca34b35" /><Relationship Type="http://schemas.openxmlformats.org/officeDocument/2006/relationships/notesMaster" Target="/ppt/notesMasters/notesMaster1.xml" Id="R9ee8129b78db43b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1c77073fc08416e" /><Relationship Type="http://schemas.openxmlformats.org/officeDocument/2006/relationships/notesMaster" Target="/ppt/notesMasters/notesMaster1.xml" Id="R2bcf2f7f90574eb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599832597f3485e" /><Relationship Type="http://schemas.openxmlformats.org/officeDocument/2006/relationships/notesMaster" Target="/ppt/notesMasters/notesMaster1.xml" Id="R0da6a6371c1a4a4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954712d165541a0" /><Relationship Type="http://schemas.openxmlformats.org/officeDocument/2006/relationships/notesMaster" Target="/ppt/notesMasters/notesMaster1.xml" Id="Rc3a131edfff3438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be13aaf88243d3" /><Relationship Type="http://schemas.openxmlformats.org/officeDocument/2006/relationships/notesMaster" Target="/ppt/notesMasters/notesMaster1.xml" Id="R331de6efb26f454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80868bf02ff42d9" /><Relationship Type="http://schemas.openxmlformats.org/officeDocument/2006/relationships/notesMaster" Target="/ppt/notesMasters/notesMaster1.xml" Id="R0f10673294dd4be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6a1ab473b2d4f4f" /><Relationship Type="http://schemas.openxmlformats.org/officeDocument/2006/relationships/notesMaster" Target="/ppt/notesMasters/notesMaster1.xml" Id="R930f7b3ac304451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Claim: publish task-level results, but do not create an overall model ranking.</a:t>
            </a:r>
          </a:p>
          <a:p xmlns:a="http://schemas.openxmlformats.org/drawingml/2006/main">
            <a:r>
              <a:t>Sources: docs/RESEARCH_LEAD_BRIEF.md; data/results/research_question_takeaways.csv.</a:t>
            </a:r>
          </a:p>
          <a:p xmlns:a="http://schemas.openxmlformats.org/drawingml/2006/main">
            <a:r>
              <a:t>Boundary: current task aggregates and saved uncertainty do not establish human validity, causal effects, or one cross-metric moral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Each row shows the highest saved point estimate for that task among Claude Haiku 4.5, Claude Opus 4.8, GPT-5.4, GPT-5.4 mini, and Qwen3 8B.</a:t>
            </a:r>
          </a:p>
          <a:p xmlns:a="http://schemas.openxmlformats.org/drawingml/2006/main">
            <a:r>
              <a:t>Sources: data/results/common_roster_primary.csv; docs/RESULTS_READOUT.md section 1.</a:t>
            </a:r>
          </a:p>
          <a:p xmlns:a="http://schemas.openxmlformats.org/drawingml/2006/main">
            <a:r>
              <a:t>The MFQ compare top value is shared by Claude Haiku 4.5 and Qwen3 8B. The vignette compare top value is shared by Claude Haiku 4.5 and GPT-5.4.</a:t>
            </a:r>
          </a:p>
          <a:p xmlns:a="http://schemas.openxmlformats.org/drawingml/2006/main">
            <a:r>
              <a:t>Values belong to different metrics. The visible labels translate normalized preference and METEOR into plain language.</a:t>
            </a:r>
          </a:p>
          <a:p xmlns:a="http://schemas.openxmlformats.org/drawingml/2006/main">
            <a:r>
              <a:t>Do not average preference, accuracy, and METEOR or treat this table as a moral leaderboard.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data/results/task_precision.csv.</a:t>
            </a:r>
          </a:p>
          <a:p xmlns:a="http://schemas.openxmlformats.org/drawingml/2006/main">
            <a:r>
              <a:t>All 18 individual intervals wider than .30 occur in the two MoralBench comparison tasks.</a:t>
            </a:r>
          </a:p>
          <a:p xmlns:a="http://schemas.openxmlformats.org/drawingml/2006/main">
            <a:r>
              <a:t>Denominator: all available primary models—8 on MFQ compare and 10 on vignette compare—not the five-model common roster.</a:t>
            </a:r>
          </a:p>
          <a:p xmlns:a="http://schemas.openxmlformats.org/drawingml/2006/main">
            <a:r>
              <a:t>Within each comparison task, every model pair has overlapping marginal intervals: 28 of 28 MFQ pairs and 45 of 45 vignette pairs.</a:t>
            </a:r>
          </a:p>
          <a:p xmlns:a="http://schemas.openxmlformats.org/drawingml/2006/main">
            <a:r>
              <a:t>This is not a paired model-difference test. The narrow UniMoral intervals are nominal row-level estimates and do not establish cluster-aware uncertainty or human validity.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data/results/size_path_summary.csv; data/results/size_task_points.csv.</a:t>
            </a:r>
          </a:p>
          <a:p xmlns:a="http://schemas.openxmlformats.org/drawingml/2006/main">
            <a:r>
              <a:t>Denominator: 12 complete paths equals three model families times four UniMoral tasks. Each path contains three named variants.</a:t>
            </a:r>
          </a:p>
          <a:p xmlns:a="http://schemas.openxmlformats.org/drawingml/2006/main">
            <a:r>
              <a:t>Counts: 4 rise at both steps, 7 change direction, and 1 falls at both steps.</a:t>
            </a:r>
          </a:p>
          <a:p xmlns:a="http://schemas.openxmlformats.org/drawingml/2006/main">
            <a:r>
              <a:t>Accuracy and METEOR stay separate.</a:t>
            </a:r>
          </a:p>
          <a:p xmlns:a="http://schemas.openxmlformats.org/drawingml/2006/main">
            <a:r>
              <a:t>This slide counts within-task direction only. It does not average accuracy and METEOR. The selected grid has no saved confidence intervals or raw-log replay.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data/results/size_path_summary.csv; data/results/size_task_points.csv; evidence/model-parameter-sources.csv.</a:t>
            </a:r>
          </a:p>
          <a:p xmlns:a="http://schemas.openxmlformats.org/drawingml/2006/main">
            <a:r>
              <a:t>Exact values: factor attribution .578 to .601 to .613; moral typology .597 to .579 to .570.</a:t>
            </a:r>
          </a:p>
          <a:p xmlns:a="http://schemas.openxmlformats.org/drawingml/2006/main">
            <a:r>
              <a:t>Across Qwen, Gemma, and Llama on four UniMoral tasks, 4 of 12 complete paths rise twice, 7 change direction, and 1 falls twice.</a:t>
            </a:r>
          </a:p>
          <a:p xmlns:a="http://schemas.openxmlformats.org/drawingml/2006/main">
            <a:r>
              <a:t>No saved intervals or raw-log replay are available for this selected grid.</a:t>
            </a:r>
          </a:p>
          <a:p xmlns:a="http://schemas.openxmlformats.org/drawingml/2006/main">
            <a:r>
              <a:t>This is exploratory selected-grid evidence. Parameter tier is descriptive metadata, not a controlled intervention. Qwen and Llama paths also change model generation or release period.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data/results/release_path_summary.csv; data/results/release_period_task_points.csv; evidence/model-parameter-sources.csv.</a:t>
            </a:r>
          </a:p>
          <a:p xmlns:a="http://schemas.openxmlformats.org/drawingml/2006/main">
            <a:r>
              <a:t>Classification accuracy deltas shown: Qwen action +.017873, typology +.042383, factor +.002005; DeepSeek action +.186589, typology -.003150, factor -.037514.</a:t>
            </a:r>
          </a:p>
          <a:p xmlns:a="http://schemas.openxmlformats.org/drawingml/2006/main">
            <a:r>
              <a:t>Consequence uses METEOR and is not mixed into this accuracy chart. Its endpoint deltas are Qwen -.026780 and DeepSeek +.018985.</a:t>
            </a:r>
          </a:p>
          <a:p xmlns:a="http://schemas.openxmlformats.org/drawingml/2006/main">
            <a:r>
              <a:t>Every plotted selected-grid score was evaluated on 28 or 29 May 2026. Release quarter is descriptive model metadata, not observation time or a causal intervention.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docs/PAPER_REVIEW.md; data/paper_protocol_map.csv.</a:t>
            </a:r>
          </a:p>
          <a:p xmlns:a="http://schemas.openxmlformats.org/drawingml/2006/main">
            <a:r>
              <a:t>MoralBench and UniMoral share approximate task families with the local evaluator, but model, data, prompt, metric, scorer, or aggregation identities differ.</a:t>
            </a:r>
          </a:p>
          <a:p xmlns:a="http://schemas.openxmlformats.org/drawingml/2006/main">
            <a:r>
              <a:t>MoReBench and MoralLens local performance surfaces are proxy-only. Their paper metrics and judges are not reproduced.</a:t>
            </a:r>
          </a:p>
          <a:p xmlns:a="http://schemas.openxmlformats.org/drawingml/2006/main">
            <a:r>
              <a:t>They are not direct score baselines. The visible status labels translate the protocol evidence into plain language.</a:t>
            </a:r>
          </a:p>
          <a:p xmlns:a="http://schemas.openxmlformats.org/drawingml/2006/main">
            <a:r>
              <a:t>Do not use the canonical 37-row UniMoral and ValuePrism crosswalk as the denominator for all four papers. That ledger covers a different evidence scope.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docs/RESEARCH_LEAD_BRIEF.md; evidence/canonical-audit/RERUN_PRIORITY.md; evidence/canonical-audit/SELF_CRITIQUE.md.</a:t>
            </a:r>
          </a:p>
          <a:p xmlns:a="http://schemas.openxmlformats.org/drawingml/2006/main">
            <a:r>
              <a:t>The order shown is a decision recommendation, not a statistical theorem.</a:t>
            </a:r>
          </a:p>
          <a:p xmlns:a="http://schemas.openxmlformats.org/drawingml/2006/main">
            <a:r>
              <a:t>Benchmark agreement is not human validity. The visible wording translates that evidence boundary into plain language.</a:t>
            </a:r>
          </a:p>
          <a:p xmlns:a="http://schemas.openxmlformats.org/drawingml/2006/main">
            <a:r>
              <a:t>The saved evidence still lacks canonical raw archives, clustered uncertainty, complete model and dataset identity, contamination testing, and representative human validation.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07279a00c54c3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c25f6cae0a14c1e" /><Relationship Type="http://schemas.openxmlformats.org/officeDocument/2006/relationships/slideLayout" Target="/ppt/slideLayouts/slideLayout1.xml" Id="R4019ee32aa014ba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019ee32aa014ba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edfe78ff404777" /><Relationship Type="http://schemas.openxmlformats.org/officeDocument/2006/relationships/notesSlide" Target="/ppt/notesSlides/notesSlide1.xml" Id="R0464c756971d4be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d1341ce70e4102" /><Relationship Type="http://schemas.openxmlformats.org/officeDocument/2006/relationships/notesSlide" Target="/ppt/notesSlides/notesSlide2.xml" Id="R3df3e2d097c9495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44ef44b4b94b2d" /><Relationship Type="http://schemas.openxmlformats.org/officeDocument/2006/relationships/chart" Target="/ppt/slides/charts/chart1.xml" Id="R29b1b8b7029e4326" /><Relationship Type="http://schemas.openxmlformats.org/officeDocument/2006/relationships/notesSlide" Target="/ppt/notesSlides/notesSlide3.xml" Id="R23b365fe10c84a4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7ebe3f90a145da" /><Relationship Type="http://schemas.openxmlformats.org/officeDocument/2006/relationships/chart" Target="/ppt/slides/charts/chart2.xml" Id="R64c5fe6af22643c1" /><Relationship Type="http://schemas.openxmlformats.org/officeDocument/2006/relationships/notesSlide" Target="/ppt/notesSlides/notesSlide4.xml" Id="R5fc36995ec47405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db91cd0fcd4bc7" /><Relationship Type="http://schemas.openxmlformats.org/officeDocument/2006/relationships/chart" Target="/ppt/slides/charts/chart3.xml" Id="R0bd7d51386a0447d" /><Relationship Type="http://schemas.openxmlformats.org/officeDocument/2006/relationships/notesSlide" Target="/ppt/notesSlides/notesSlide5.xml" Id="R72a0d8c2d2084e7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dd28b799af48b0" /><Relationship Type="http://schemas.openxmlformats.org/officeDocument/2006/relationships/chart" Target="/ppt/slides/charts/chart4.xml" Id="R619d1d8fa5f04ecb" /><Relationship Type="http://schemas.openxmlformats.org/officeDocument/2006/relationships/notesSlide" Target="/ppt/notesSlides/notesSlide6.xml" Id="Rd2bbc56867724d9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802638f2964ded" /><Relationship Type="http://schemas.openxmlformats.org/officeDocument/2006/relationships/notesSlide" Target="/ppt/notesSlides/notesSlide7.xml" Id="R43790c8611d1465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7103456e0c4200" /><Relationship Type="http://schemas.openxmlformats.org/officeDocument/2006/relationships/notesSlide" Target="/ppt/notesSlides/notesSlide8.xml" Id="Rb8098b5b80c84c6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Aptos"/>
                <a:ea typeface="Aptos"/>
                <a:cs typeface="Aptos"/>
              </a:rPr>
              <a:t>Median width of saved 95% ranges — wider means less sure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Interval width</c:v>
          </c:tx>
          <c:spPr>
            <a:solidFill xmlns:a="http://schemas.openxmlformats.org/drawingml/2006/main">
              <a:srgbClr val="14856D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CF5D4A"/>
              </a:solidFill>
              <a:ln xmlns:a="http://schemas.openxmlformats.org/drawingml/2006/main" w="0">
                <a:noFill/>
              </a:ln>
            </c:spPr>
          </c:dPt>
          <c:dPt>
            <c:idx val="1"/>
            <c:invertIfNegative val="0"/>
            <c:spPr>
              <a:solidFill xmlns:a="http://schemas.openxmlformats.org/drawingml/2006/main">
                <a:srgbClr val="CF5D4A"/>
              </a:solidFill>
              <a:ln xmlns:a="http://schemas.openxmlformats.org/drawingml/2006/main" w="0">
                <a:noFill/>
              </a:ln>
            </c:spPr>
          </c:dPt>
          <c:dPt>
            <c:idx val="2"/>
            <c:invertIfNegative val="0"/>
            <c:spPr>
              <a:solidFill xmlns:a="http://schemas.openxmlformats.org/drawingml/2006/main">
                <a:srgbClr val="D3971E"/>
              </a:solidFill>
              <a:ln xmlns:a="http://schemas.openxmlformats.org/drawingml/2006/main" w="0">
                <a:noFill/>
              </a:ln>
            </c:spPr>
          </c:dPt>
          <c:dPt>
            <c:idx val="3"/>
            <c:invertIfNegative val="0"/>
            <c:spPr>
              <a:solidFill xmlns:a="http://schemas.openxmlformats.org/drawingml/2006/main">
                <a:srgbClr val="D3971E"/>
              </a:solidFill>
              <a:ln xmlns:a="http://schemas.openxmlformats.org/drawingml/2006/main" w="0">
                <a:noFill/>
              </a:ln>
            </c:spPr>
          </c:dPt>
          <c:dPt>
            <c:idx val="4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5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6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7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cat>
            <c:strRef>
              <c:f>'Chart Data'!$A$2:$A$9</c:f>
              <c:strCache>
                <c:ptCount val="8"/>
                <c:pt idx="0">
                  <c:v>MFQ compare</c:v>
                </c:pt>
                <c:pt idx="1">
                  <c:v>Vignette compare</c:v>
                </c:pt>
                <c:pt idx="2">
                  <c:v>MFQ agreement</c:v>
                </c:pt>
                <c:pt idx="3">
                  <c:v>Vignette agreement</c:v>
                </c:pt>
                <c:pt idx="4">
                  <c:v>UniMoral factor</c:v>
                </c:pt>
                <c:pt idx="5">
                  <c:v>UniMoral typology</c:v>
                </c:pt>
                <c:pt idx="6">
                  <c:v>UniMoral action</c:v>
                </c:pt>
                <c:pt idx="7">
                  <c:v>UniMoral consequence</c:v>
                </c:pt>
              </c:strCache>
            </c:strRef>
          </c:cat>
          <c:val>
            <c:numRef>
              <c:f>'Chart Data'!$B$2:$B$9</c:f>
              <c:numCache>
                <c:formatCode>0.000</c:formatCode>
                <c:ptCount val="8"/>
                <c:pt idx="0">
                  <c:v>0.395</c:v>
                </c:pt>
                <c:pt idx="1">
                  <c:v>0.37</c:v>
                </c:pt>
                <c:pt idx="2">
                  <c:v>0.22</c:v>
                </c:pt>
                <c:pt idx="3">
                  <c:v>0.124</c:v>
                </c:pt>
                <c:pt idx="4">
                  <c:v>0.033</c:v>
                </c:pt>
                <c:pt idx="5">
                  <c:v>0.032</c:v>
                </c:pt>
                <c:pt idx="6">
                  <c:v>0.02</c:v>
                </c:pt>
                <c:pt idx="7">
                  <c:v>0.012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Median full width of saved 95% interval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Aptos"/>
                <a:ea typeface="Aptos"/>
                <a:cs typeface="Aptos"/>
              </a:rPr>
              <a:t>What happens across three model versions?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Complete paths</c:v>
          </c:tx>
          <c:spPr>
            <a:solidFill xmlns:a="http://schemas.openxmlformats.org/drawingml/2006/main">
              <a:srgbClr val="14856D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1"/>
            <c:invertIfNegative val="0"/>
            <c:spPr>
              <a:solidFill xmlns:a="http://schemas.openxmlformats.org/drawingml/2006/main">
                <a:srgbClr val="D3971E"/>
              </a:solidFill>
              <a:ln xmlns:a="http://schemas.openxmlformats.org/drawingml/2006/main" w="0">
                <a:noFill/>
              </a:ln>
            </c:spPr>
          </c:dPt>
          <c:dPt>
            <c:idx val="2"/>
            <c:invertIfNegative val="0"/>
            <c:spPr>
              <a:solidFill xmlns:a="http://schemas.openxmlformats.org/drawingml/2006/main">
                <a:srgbClr val="6E5AA8"/>
              </a:solidFill>
              <a:ln xmlns:a="http://schemas.openxmlformats.org/drawingml/2006/main" w="0">
                <a:noFill/>
              </a:ln>
            </c:spPr>
          </c:dPt>
          <c:cat>
            <c:strRef>
              <c:f>'Chart Data'!$A$2:$A$4</c:f>
              <c:strCache>
                <c:ptCount val="3"/>
                <c:pt idx="0">
                  <c:v>Rise at both steps</c:v>
                </c:pt>
                <c:pt idx="1">
                  <c:v>Change direction</c:v>
                </c:pt>
                <c:pt idx="2">
                  <c:v>Fall at both steps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4</c:v>
                </c:pt>
                <c:pt idx="1">
                  <c:v>7</c:v>
                </c:pt>
                <c:pt idx="2">
                  <c:v>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Model-family and task cases (12 total)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5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Gemma 3 accuracy by model size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 b="1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Factor attribution</c:v>
          </c:tx>
          <c:spPr>
            <a:ln xmlns:a="http://schemas.openxmlformats.org/drawingml/2006/main" w="38100">
              <a:solidFill>
                <a:srgbClr val="2B78B8"/>
              </a:solidFill>
              <a:prstDash val="solid"/>
            </a:ln>
          </c:spPr>
          <c:marker>
            <c:symbol val="circle"/>
            <c:size val="10"/>
            <c:spPr>
              <a:solidFill xmlns:a="http://schemas.openxmlformats.org/drawingml/2006/main">
                <a:srgbClr val="2B78B8"/>
              </a:solidFill>
            </c:spPr>
          </c:marker>
          <c:cat>
            <c:strRef>
              <c:f>'Chart Data'!$A$2:$A$4</c:f>
              <c:strCache>
                <c:ptCount val="3"/>
                <c:pt idx="0">
                  <c:v>Gemma 3-4B-IT
(4B total)</c:v>
                </c:pt>
                <c:pt idx="1">
                  <c:v>Gemma 3-12B-IT
(12B total)</c:v>
                </c:pt>
                <c:pt idx="2">
                  <c:v>Gemma 3-27B-IT
(27B total)</c:v>
                </c:pt>
              </c:strCache>
            </c:strRef>
          </c:cat>
          <c:val>
            <c:numRef>
              <c:f>'Chart Data'!$B$2:$B$4</c:f>
              <c:numCache>
                <c:formatCode>0.000</c:formatCode>
                <c:ptCount val="3"/>
                <c:pt idx="0">
                  <c:v>0.578</c:v>
                </c:pt>
                <c:pt idx="1">
                  <c:v>0.601</c:v>
                </c:pt>
                <c:pt idx="2">
                  <c:v>0.613</c:v>
                </c:pt>
              </c:numCache>
            </c:numRef>
          </c:val>
          <c:smooth val="0"/>
        </c:ser>
        <c:ser>
          <c:idx val="1"/>
          <c:order val="1"/>
          <c:tx>
            <c:v>Moral typology</c:v>
          </c:tx>
          <c:spPr>
            <a:ln xmlns:a="http://schemas.openxmlformats.org/drawingml/2006/main" w="38100">
              <a:solidFill>
                <a:srgbClr val="6E5AA8"/>
              </a:solidFill>
              <a:prstDash val="dash"/>
            </a:ln>
          </c:spPr>
          <c:marker>
            <c:symbol val="square"/>
            <c:size val="10"/>
            <c:spPr>
              <a:solidFill xmlns:a="http://schemas.openxmlformats.org/drawingml/2006/main">
                <a:srgbClr val="6E5AA8"/>
              </a:solidFill>
            </c:spPr>
          </c:marker>
          <c:cat>
            <c:strRef>
              <c:f>'Chart Data'!$C$2:$C$4</c:f>
              <c:strCache>
                <c:ptCount val="3"/>
                <c:pt idx="0">
                  <c:v>Gemma 3-4B-IT
(4B total)</c:v>
                </c:pt>
                <c:pt idx="1">
                  <c:v>Gemma 3-12B-IT
(12B total)</c:v>
                </c:pt>
                <c:pt idx="2">
                  <c:v>Gemma 3-27B-IT
(27B total)</c:v>
                </c:pt>
              </c:strCache>
            </c:strRef>
          </c:cat>
          <c:val>
            <c:numRef>
              <c:f>'Chart Data'!$D$2:$D$4</c:f>
              <c:numCache>
                <c:formatCode>0.000</c:formatCode>
                <c:ptCount val="3"/>
                <c:pt idx="0">
                  <c:v>0.597</c:v>
                </c:pt>
                <c:pt idx="1">
                  <c:v>0.579</c:v>
                </c:pt>
                <c:pt idx="2">
                  <c:v>0.57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Published total parameter count within the Gemma 3 family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D9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0.625"/>
          <c:min val="0.54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Accuracy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0.02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Aptos"/>
                <a:ea typeface="Aptos"/>
                <a:cs typeface="Aptos"/>
              </a:rPr>
              <a:t>Score change from earlier to later version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Qwen</c:v>
          </c:tx>
          <c:spPr>
            <a:solidFill xmlns:a="http://schemas.openxmlformats.org/drawingml/2006/main">
              <a:srgbClr val="14856D"/>
            </a:solidFill>
          </c:spPr>
          <c:cat>
            <c:strRef>
              <c:f>'Chart Data'!$A$2:$A$4</c:f>
              <c:strCache>
                <c:ptCount val="3"/>
                <c:pt idx="0">
                  <c:v>Action</c:v>
                </c:pt>
                <c:pt idx="1">
                  <c:v>Typology</c:v>
                </c:pt>
                <c:pt idx="2">
                  <c:v>Factor</c:v>
                </c:pt>
              </c:strCache>
            </c:strRef>
          </c:cat>
          <c:val>
            <c:numRef>
              <c:f>'Chart Data'!$B$2:$B$4</c:f>
              <c:numCache>
                <c:formatCode>+0.000;-0.000;0.000</c:formatCode>
                <c:ptCount val="3"/>
                <c:pt idx="0">
                  <c:v>0.017873</c:v>
                </c:pt>
                <c:pt idx="1">
                  <c:v>0.042383</c:v>
                </c:pt>
                <c:pt idx="2">
                  <c:v>0.002005</c:v>
                </c:pt>
              </c:numCache>
            </c:numRef>
          </c:val>
        </c:ser>
        <c:ser>
          <c:idx val="1"/>
          <c:order val="1"/>
          <c:tx>
            <c:v>DeepSeek</c:v>
          </c:tx>
          <c:spPr>
            <a:solidFill xmlns:a="http://schemas.openxmlformats.org/drawingml/2006/main">
              <a:srgbClr val="6E5AA8"/>
            </a:solidFill>
          </c:spPr>
          <c:invertIfNegative val="0"/>
          <c:cat>
            <c:strRef>
              <c:f>'Chart Data'!$C$2:$C$4</c:f>
              <c:strCache>
                <c:ptCount val="3"/>
                <c:pt idx="0">
                  <c:v>Action</c:v>
                </c:pt>
                <c:pt idx="1">
                  <c:v>Typology</c:v>
                </c:pt>
                <c:pt idx="2">
                  <c:v>Factor</c:v>
                </c:pt>
              </c:strCache>
            </c:strRef>
          </c:cat>
          <c:val>
            <c:numRef>
              <c:f>'Chart Data'!$D$2:$D$4</c:f>
              <c:numCache>
                <c:formatCode>+0.000;-0.000;0.000</c:formatCode>
                <c:ptCount val="3"/>
                <c:pt idx="0">
                  <c:v>0.186589</c:v>
                </c:pt>
                <c:pt idx="1">
                  <c:v>-0.00315</c:v>
                </c:pt>
                <c:pt idx="2">
                  <c:v>-0.037514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UniMoral task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D9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0.2"/>
          <c:min val="-0.0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Change in accuracy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+0.00;-0.00;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0.05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BAF1B79-1470-4F91-B929-8CCB3A3F0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57300"/>
            <a:ext cx="8858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Publish task results.</a:t>
            </a:r>
          </a:p>
          <a:p xmlns:a="http://schemas.openxmlformats.org/drawingml/2006/main">
            <a:pPr algn="l">
              <a:defRPr sz="40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Do not rank the models.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5EF5D1-3CA1-44E6-8A14-25F9ECAFC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CEI moral psychology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1361B1-B8EF-4CC0-B5DC-2BCEB14A7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Research lead readout · 4 September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63625F-59A7-47A1-8199-6478178C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685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9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84E92B-4135-492F-B2EB-77D725358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9191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7212B"/>
                </a:solidFill>
                <a:latin typeface="Aptos"/>
                <a:ea typeface="Aptos"/>
                <a:cs typeface="Aptos"/>
              </a:rPr>
              <a:t>Why: the highest saved score changes by task, and saved ranges overlap on both comparison tests.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0132A2-4D6F-469C-903A-123363C7A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3405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Share the task results with their limits. Size and release slides are early clues, not final answers.</a:t>
            </a:r>
          </a:p>
        </p:txBody>
      </p:sp>
    </p:spTree>
    <p:extLst>
      <p:ext uri="{BB962C8B-B14F-4D97-AF65-F5344CB8AC3E}">
        <p14:creationId xmlns:p14="http://schemas.microsoft.com/office/powerpoint/2010/main" val="13422518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01876E5-BBD3-4124-B251-E1D806224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121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No model has the highest saved score on all eight tasks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325D4E8-3CD9-4FE2-8D2A-C9C8A8EC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Highest saved score for each task, using the same five models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B44462-9E39-494F-BD10-C9F2F2864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F0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MAIN 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318DFD-806E-4F3F-A9A5-D6DFB8958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914400" y="1619250"/>
          <a:ext xmlns:a="http://schemas.openxmlformats.org/drawingml/2006/main" cx="103632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1809750"/>
                <a:gridCol w="2143125"/>
                <a:gridCol w="3267075"/>
              </a:tblGrid>
              <a:tr h="45508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Task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Highest saved score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Score type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Model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MFQ agreement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.884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Agreement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4856D"/>
                          </a:solidFill>
                          <a:latin typeface="Aptos"/>
                          <a:ea typeface="Aptos"/>
                          <a:cs typeface="Aptos"/>
                        </a:rPr>
                        <a:t>GPT-5.4 mini</a:t>
                      </a:r>
                    </a:p>
                  </a:txBody>
                  <a:tcPr marL="114300" marR="114300" marT="66675" marB="66675">
                    <a:solidFill>
                      <a:srgbClr val="E3F0EB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Vignette agreement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.920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Agreement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4856D"/>
                          </a:solidFill>
                          <a:latin typeface="Aptos"/>
                          <a:ea typeface="Aptos"/>
                          <a:cs typeface="Aptos"/>
                        </a:rPr>
                        <a:t>GPT-5.4</a:t>
                      </a:r>
                    </a:p>
                  </a:txBody>
                  <a:tcPr marL="114300" marR="114300" marT="66675" marB="66675">
                    <a:solidFill>
                      <a:srgbClr val="E3F0EB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MFQ compare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.550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8B5F00"/>
                          </a:solidFill>
                          <a:latin typeface="Aptos"/>
                          <a:ea typeface="Aptos"/>
                          <a:cs typeface="Aptos"/>
                        </a:rPr>
                        <a:t>Haiku + Qwen tie†</a:t>
                      </a:r>
                    </a:p>
                  </a:txBody>
                  <a:tcPr marL="114300" marR="114300" marT="66675" marB="66675">
                    <a:solidFill>
                      <a:srgbClr val="F5EAC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Vignette compare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.625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8B5F00"/>
                          </a:solidFill>
                          <a:latin typeface="Aptos"/>
                          <a:ea typeface="Aptos"/>
                          <a:cs typeface="Aptos"/>
                        </a:rPr>
                        <a:t>Haiku + GPT-5.4 tie†</a:t>
                      </a:r>
                    </a:p>
                  </a:txBody>
                  <a:tcPr marL="114300" marR="114300" marT="66675" marB="66675">
                    <a:solidFill>
                      <a:srgbClr val="F5EAC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action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.668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Haiku 4.5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typology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.651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Opus 4.8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factor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.609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Haiku 4.5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consequence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.152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Text-match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Opus 4.8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4ED951-5B5C-43B9-BF2A-6A75C62B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F5D4A"/>
                </a:solidFill>
                <a:latin typeface="Aptos"/>
                <a:ea typeface="Aptos"/>
                <a:cs typeface="Aptos"/>
              </a:rPr>
              <a:t>† The uncertainty ranges overlap on the two comparison tasks. We cannot tell who leads.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3BABAF-0004-433A-8A57-0CFD4D68B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2103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task uses its own score. Do not compare numbers from different rows.</a:t>
            </a:r>
          </a:p>
        </p:txBody>
      </p:sp>
    </p:spTree>
    <p:extLst>
      <p:ext uri="{BB962C8B-B14F-4D97-AF65-F5344CB8AC3E}">
        <p14:creationId xmlns:p14="http://schemas.microsoft.com/office/powerpoint/2010/main" val="13261897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549F0AC-DC8C-49C5-A5D6-9C46D881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074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Saved ranges overlap for every model pair in both tests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79854F2-E8E6-4694-9D37-E9335C658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Full primary panels: MFQ = 8 models × 20 questions; Vignette = 10 × 24.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A9DCE7-2804-4583-9210-6CE662708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F0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MAIN 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D6CC02-EB4C-4F2E-8AE1-30EFDDA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EEC586-67DC-4847-8686-596423D5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19225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8889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bar = the median full width of saved 95% intervals across available models.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1143000" y="1685925"/>
          <a:ext xmlns:a="http://schemas.openxmlformats.org/drawingml/2006/main" cx="9810750" cy="32099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9b1b8b7029e4326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7CCB19-3063-4B77-9530-ED6A05182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981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Direct evidence: saved ranges overlap for all 28 MFQ and all 45 Vignette model pairs.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C87FE3-427F-47BD-8C3D-829E42C9F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24500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Action: recover per-question outcomes and check scoring.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4D7A6C-45CB-402D-9C98-112F05E03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674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Then compare models, run human review, and add questions only if still unclear.</a:t>
            </a:r>
          </a:p>
        </p:txBody>
      </p:sp>
    </p:spTree>
    <p:extLst>
      <p:ext uri="{BB962C8B-B14F-4D97-AF65-F5344CB8AC3E}">
        <p14:creationId xmlns:p14="http://schemas.microsoft.com/office/powerpoint/2010/main" val="20504982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A09889-AB58-49D7-A4A4-7277EF525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Only 4 of 12 model-and-task cases rise twice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6F8F79D-452B-4414-9712-6953473F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Qwen, Gemma, and Llama × four tasks; model versions differ in more than size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020EC4-B431-4077-9E82-68A2561F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ACF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B5F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B5F00"/>
                </a:solidFill>
                <a:latin typeface="Aptos"/>
                <a:ea typeface="Aptos"/>
                <a:cs typeface="Aptos"/>
              </a:rPr>
              <a:t>EXPLORATORY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64A438-EECC-4B40-BEFA-7D5B8B731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1428750" y="1809750"/>
          <a:ext xmlns:a="http://schemas.openxmlformats.org/drawingml/2006/main" cx="93345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4c5fe6af22643c1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968153-D1DC-44B8-A21A-1547BB671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10200"/>
            <a:ext cx="819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Size is one clue, not a general rule.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323C5A-E2A8-46DD-AE0A-A3C650E3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8645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case follows one model family on one task. Different score types stay separate.</a:t>
            </a:r>
          </a:p>
        </p:txBody>
      </p:sp>
    </p:spTree>
    <p:extLst>
      <p:ext uri="{BB962C8B-B14F-4D97-AF65-F5344CB8AC3E}">
        <p14:creationId xmlns:p14="http://schemas.microsoft.com/office/powerpoint/2010/main" val="14664350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282358E-82B0-4FDE-B166-C225DE3C3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56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The same Gemma models move in opposite directions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DC62B3-BE67-4A79-B6E5-4FFDDE7A2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ACF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B5F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B5F00"/>
                </a:solidFill>
                <a:latin typeface="Aptos"/>
                <a:ea typeface="Aptos"/>
                <a:cs typeface="Aptos"/>
              </a:rPr>
              <a:t>EXPLORATORY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68AA23-1C10-45F2-93FB-846F7773B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1000125" y="1714500"/>
          <a:ext xmlns:a="http://schemas.openxmlformats.org/drawingml/2006/main" cx="10191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bd7d51386a0447d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5A7DA4-C6CD-4A44-BDC3-29300467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829300"/>
            <a:ext cx="695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The larger named variants do not score higher on both tasks.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574A1F-C931-469C-B47C-1F28AD893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191250"/>
            <a:ext cx="876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point is one stored task score. Its uncertainty range and original run are unavailable.</a:t>
            </a:r>
          </a:p>
        </p:txBody>
      </p:sp>
    </p:spTree>
    <p:extLst>
      <p:ext uri="{BB962C8B-B14F-4D97-AF65-F5344CB8AC3E}">
        <p14:creationId xmlns:p14="http://schemas.microsoft.com/office/powerpoint/2010/main" val="1946384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4107A65-1821-45C3-8844-6E93EE811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4349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Later model versions score higher on some tasks and lower on others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9C9FDB1-9025-4685-B12B-921FD01F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Score change on three UniMoral tasks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26A84D-AA21-4163-A9EF-87BBBF6B1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ACF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B5F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B5F00"/>
                </a:solidFill>
                <a:latin typeface="Aptos"/>
                <a:ea typeface="Aptos"/>
                <a:cs typeface="Aptos"/>
              </a:rPr>
              <a:t>EXPLORATORY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AC38DD-A16B-4815-B5A8-CF59D02CE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C30248-A3AD-4475-967D-250F2F23A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0495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Qwen: Qwen2.5 7B Instruct (7.61B) to Qwen3.5 9B (9B)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3F8581-16BF-404C-AD29-E2722ADA9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71650"/>
            <a:ext cx="1009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DeepSeek: V3-0324 (671B main, 37B active) to V4 Flash (284B main, 13B active)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7570C7-6AF3-4842-A314-248C4ED70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19300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main = all parameters; active = parameters used for each token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1143000" y="2266950"/>
          <a:ext xmlns:a="http://schemas.openxmlformats.org/drawingml/2006/main" cx="9810750" cy="31527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19d1d8fa5f04ecb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0CABA5-E1B8-4770-B4AD-4764FB15D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578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All endpoint runs were evaluated on 28–29 May 2026.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D742F2-5868-4B4E-9E44-D9FE3B3EA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00075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Release period describes the model. It is not a progress timeline.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88AA8F-F8BE-48F9-AD81-51B59FD45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96025"/>
            <a:ext cx="895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The consequence task uses a different score, so it is not shown here.</a:t>
            </a:r>
          </a:p>
        </p:txBody>
      </p:sp>
    </p:spTree>
    <p:extLst>
      <p:ext uri="{BB962C8B-B14F-4D97-AF65-F5344CB8AC3E}">
        <p14:creationId xmlns:p14="http://schemas.microsoft.com/office/powerpoint/2010/main" val="8391664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048B509-BE4C-4A05-8C07-BA09133A3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We did not exactly repeat any paper's experiment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11CBDF5-EBCD-4F49-A265-D449F5A8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The papers help explain our questions. Their scores cannot be compared with ours.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301FF3-DB19-4F10-8599-63114991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E6F4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PAPER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28D9A8-8103-4EAC-9553-69F1BD15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B1455E-2E96-42E3-A651-EE8F30357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47875"/>
            <a:ext cx="2190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200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7200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6115BF-5EB1-4EC9-8F10-882E991C6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papers repeated</a:t>
            </a:r>
          </a:p>
          <a:p xmlns:a="http://schemas.openxmlformats.org/drawingml/2006/main">
            <a:pPr algn="ctr">
              <a:defRPr sz="18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exactly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3381375" y="1714500"/>
          <a:ext xmlns:a="http://schemas.openxmlformats.org/drawingml/2006/main" cx="8048625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66875"/>
                <a:gridCol w="4476750"/>
                <a:gridCol w="190500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Paper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Plain-language question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How close is our test?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MoralBench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 model choices match human ratings?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Similar question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Can models predict choices, moral categories, influences, and what happens next?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Some similar tasks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MoReBench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Does reasoning cover expert criteria?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Different scoring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MoralLens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 reasons change when a model explains before or after choosing?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Different scoring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AA8DCC-B77C-479E-BD19-58D59F82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429250"/>
            <a:ext cx="8048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Use the papers to explain our questions—not to compare scores.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D3233E-8995-4346-9296-7322065B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886450"/>
            <a:ext cx="804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Our UniMoral run does not test prompt hints, language differences, or where the stories came from.</a:t>
            </a:r>
          </a:p>
        </p:txBody>
      </p:sp>
    </p:spTree>
    <p:extLst>
      <p:ext uri="{BB962C8B-B14F-4D97-AF65-F5344CB8AC3E}">
        <p14:creationId xmlns:p14="http://schemas.microsoft.com/office/powerpoint/2010/main" val="7753423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50DC2E6-9F8C-466E-B8A1-299865E7A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Make the test stronger before adding more models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41FDDD7-1BEF-41DB-8A9F-EB03DA680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Better evidence makes the current results more useful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C993B2-D1D7-41F1-A7D3-C46F0AF2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E5E0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536CC8-7BB4-45F7-841A-2C89B6198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876300" y="1762125"/>
          <a:ext xmlns:a="http://schemas.openxmlformats.org/drawingml/2006/main" cx="104394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4095750"/>
                <a:gridCol w="434340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When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Reason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Now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Share each task result with its limits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The saved results answer one task at a time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Next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Recover each question's result; check reading and labels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This lets us compare models directly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Then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Have people review the test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 benchmark score does not prove the test matches human judgment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Only if still unclear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Add more comparison questions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New questions help after the scoring works correctly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894B3B-ED41-4C1B-AE96-2C78BB19D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435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6727E"/>
                </a:solidFill>
                <a:latin typeface="Aptos"/>
                <a:ea typeface="Aptos"/>
                <a:cs typeface="Aptos"/>
              </a:rPr>
              <a:t>Best next move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9A2F20-3DDA-4897-BB12-E2A330B5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48350"/>
            <a:ext cx="10439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Recover each question's result. Compare models. Then have people review the test.</a:t>
            </a:r>
          </a:p>
        </p:txBody>
      </p:sp>
    </p:spTree>
    <p:extLst>
      <p:ext uri="{BB962C8B-B14F-4D97-AF65-F5344CB8AC3E}">
        <p14:creationId xmlns:p14="http://schemas.microsoft.com/office/powerpoint/2010/main" val="147225435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2026-09-04T07:01:32.9670000Z</dcterms:created>
  <dcterms:modified xsi:type="dcterms:W3CDTF">2026-09-04T07:01:32.9670000Z</dcterms:modified>
</coreProperties>
</file>