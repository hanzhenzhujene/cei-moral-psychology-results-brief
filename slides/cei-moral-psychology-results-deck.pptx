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slides/charts/chart1.xml" ContentType="application/vnd.openxmlformats-officedocument.drawingml.chart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slides/charts/chart2.xml" ContentType="application/vnd.openxmlformats-officedocument.drawingml.chart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slides/charts/chart3.xml" ContentType="application/vnd.openxmlformats-officedocument.drawingml.chart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Default Extension="xlsx" ContentType="application/vnd.openxmlformats-officedocument.spreadsheetml.sheet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1fcd1606b81945a3" /><Relationship Type="http://schemas.openxmlformats.org/officeDocument/2006/relationships/extended-properties" Target="/docProps/app.xml" Id="R36767eebda1c425a" /><Relationship Type="http://schemas.openxmlformats.org/officeDocument/2006/relationships/officeDocument" Target="/ppt/presentation.xml" Id="R6ea69167140f4f6b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33f090db8080438d"/>
  </p:sldMasterIdLst>
  <p:notesMasterIdLst>
    <p:notesMasterId xmlns:r="http://schemas.openxmlformats.org/officeDocument/2006/relationships" r:id="R43e310ec63f1434a"/>
  </p:notesMasterIdLst>
  <p:sldIdLst>
    <p:sldId xmlns:r="http://schemas.openxmlformats.org/officeDocument/2006/relationships" id="256" r:id="R376bb1f50c4c4960"/>
    <p:sldId xmlns:r="http://schemas.openxmlformats.org/officeDocument/2006/relationships" id="257" r:id="R6a6fa43bd6dd47b8"/>
    <p:sldId xmlns:r="http://schemas.openxmlformats.org/officeDocument/2006/relationships" id="258" r:id="Rabe7afbc6dc3423b"/>
    <p:sldId xmlns:r="http://schemas.openxmlformats.org/officeDocument/2006/relationships" id="259" r:id="R1c6d28cc7d294840"/>
    <p:sldId xmlns:r="http://schemas.openxmlformats.org/officeDocument/2006/relationships" id="260" r:id="Rc652fc765851475a"/>
    <p:sldId xmlns:r="http://schemas.openxmlformats.org/officeDocument/2006/relationships" id="261" r:id="R10961c3f54ac4ede"/>
    <p:sldId xmlns:r="http://schemas.openxmlformats.org/officeDocument/2006/relationships" id="262" r:id="Ra3dccf69e653411a"/>
    <p:sldId xmlns:r="http://schemas.openxmlformats.org/officeDocument/2006/relationships" id="263" r:id="Re89ecb56c0284e9c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43de3320382c4c3e" /><Relationship Type="http://schemas.openxmlformats.org/officeDocument/2006/relationships/slideMaster" Target="/ppt/slideMasters/slideMaster1.xml" Id="R33f090db8080438d" /><Relationship Type="http://schemas.openxmlformats.org/officeDocument/2006/relationships/notesMaster" Target="/ppt/notesMasters/notesMaster1.xml" Id="R43e310ec63f1434a" /><Relationship Type="http://schemas.openxmlformats.org/officeDocument/2006/relationships/presProps" Target="/ppt/presProps.xml" Id="R4b8d235981d84b6c" /><Relationship Type="http://schemas.openxmlformats.org/officeDocument/2006/relationships/tableStyles" Target="/ppt/tableStyles.xml" Id="R5ca62bac5be947b0" /><Relationship Type="http://schemas.openxmlformats.org/officeDocument/2006/relationships/slide" Target="/ppt/slides/slide1.xml" Id="R376bb1f50c4c4960" /><Relationship Type="http://schemas.openxmlformats.org/officeDocument/2006/relationships/slide" Target="/ppt/slides/slide2.xml" Id="R6a6fa43bd6dd47b8" /><Relationship Type="http://schemas.openxmlformats.org/officeDocument/2006/relationships/slide" Target="/ppt/slides/slide3.xml" Id="Rabe7afbc6dc3423b" /><Relationship Type="http://schemas.openxmlformats.org/officeDocument/2006/relationships/slide" Target="/ppt/slides/slide4.xml" Id="R1c6d28cc7d294840" /><Relationship Type="http://schemas.openxmlformats.org/officeDocument/2006/relationships/slide" Target="/ppt/slides/slide5.xml" Id="Rc652fc765851475a" /><Relationship Type="http://schemas.openxmlformats.org/officeDocument/2006/relationships/slide" Target="/ppt/slides/slide6.xml" Id="R10961c3f54ac4ede" /><Relationship Type="http://schemas.openxmlformats.org/officeDocument/2006/relationships/slide" Target="/ppt/slides/slide7.xml" Id="Ra3dccf69e653411a" /><Relationship Type="http://schemas.openxmlformats.org/officeDocument/2006/relationships/slide" Target="/ppt/slides/slide8.xml" Id="Re89ecb56c0284e9c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78c47e193230452d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30a8b5e8d712489b" /><Relationship Type="http://schemas.openxmlformats.org/officeDocument/2006/relationships/notesMaster" Target="/ppt/notesMasters/notesMaster1.xml" Id="R4180a2c62ef948da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dffef18810304c9f" /><Relationship Type="http://schemas.openxmlformats.org/officeDocument/2006/relationships/notesMaster" Target="/ppt/notesMasters/notesMaster1.xml" Id="Rd79ff545ccb3465a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70d4b28d09d1401e" /><Relationship Type="http://schemas.openxmlformats.org/officeDocument/2006/relationships/notesMaster" Target="/ppt/notesMasters/notesMaster1.xml" Id="Reab4e85d560a4a51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c2b3374a60d84503" /><Relationship Type="http://schemas.openxmlformats.org/officeDocument/2006/relationships/notesMaster" Target="/ppt/notesMasters/notesMaster1.xml" Id="R74779b5a1ab04b7c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b537361eb0d946ac" /><Relationship Type="http://schemas.openxmlformats.org/officeDocument/2006/relationships/notesMaster" Target="/ppt/notesMasters/notesMaster1.xml" Id="R6625599b791640a3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75ab8cb94a074e51" /><Relationship Type="http://schemas.openxmlformats.org/officeDocument/2006/relationships/notesMaster" Target="/ppt/notesMasters/notesMaster1.xml" Id="R9b5be9a5a00a42ab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1daa122e1ff84546" /><Relationship Type="http://schemas.openxmlformats.org/officeDocument/2006/relationships/notesMaster" Target="/ppt/notesMasters/notesMaster1.xml" Id="R38d6f5ab914e45bf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76d8d636c51f47ad" /><Relationship Type="http://schemas.openxmlformats.org/officeDocument/2006/relationships/notesMaster" Target="/ppt/notesMasters/notesMaster1.xml" Id="Rd11b04a6e3134b69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This is a CEI MoralBench and UniMoral summary for a research lead.</a:t>
            </a:r>
          </a:p>
          <a:p xmlns:a="http://schemas.openxmlformats.org/drawingml/2006/main">
            <a:r>
              <a:t>Sources: docs/RESEARCH_LEAD_BRIEF.md; data/results/research_question_takeaways.csv.</a:t>
            </a:r>
          </a:p>
          <a:p xmlns:a="http://schemas.openxmlformats.org/drawingml/2006/main">
            <a:r>
              <a:t>No model has the highest saved score on all eight tasks. The MoralBench comparison ranges do not identify a clear leader.</a:t>
            </a:r>
          </a:p>
          <a:p xmlns:a="http://schemas.openxmlformats.org/drawingml/2006/main">
            <a:r>
              <a:t>These tasks do not show that one model is morally better or support one overall score.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Each row shows the highest saved point estimate for that task among Claude Haiku 4.5, Claude Opus 4.8, GPT-5.4, GPT-5.4 mini, and Qwen3 8B.</a:t>
            </a:r>
          </a:p>
          <a:p xmlns:a="http://schemas.openxmlformats.org/drawingml/2006/main">
            <a:r>
              <a:t>Sources: data/results/common_roster_primary.csv; docs/RESULTS_READOUT.md section 1; docs/PAPER_REVIEW.md protocol comparison; evidence/canonical-audit/CLAIM_BOUNDARIES.md.</a:t>
            </a:r>
          </a:p>
          <a:p xmlns:a="http://schemas.openxmlformats.org/drawingml/2006/main">
            <a:r>
              <a:t>The MFQ compare top value is shared by Claude Haiku 4.5 and Qwen3 8B. The vignette compare top value is shared by Claude Haiku 4.5 and GPT-5.4.</a:t>
            </a:r>
          </a:p>
          <a:p xmlns:a="http://schemas.openxmlformats.org/drawingml/2006/main">
            <a:r>
              <a:t>The UniMoral action, typology, and factor rows match saved annotator-specific labels under no-persona prompts; the consequence row matches generated text to saved human references. None infers a person's stable moral identity.</a:t>
            </a:r>
          </a:p>
          <a:p xmlns:a="http://schemas.openxmlformats.org/drawingml/2006/main">
            <a:r>
              <a:t>Values belong to different metrics. Agreement, accuracy, and text match stay separate and should not be averaged.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evidence/canonical-audit/figures/data/primary_confidence_intervals.csv.</a:t>
            </a:r>
          </a:p>
          <a:p xmlns:a="http://schemas.openxmlformats.org/drawingml/2006/main">
            <a:r>
              <a:t>The MFQ test has 8 models and 20 questions. The vignette test has 10 models and 24 questions.</a:t>
            </a:r>
          </a:p>
          <a:p xmlns:a="http://schemas.openxmlformats.org/drawingml/2006/main">
            <a:r>
              <a:t>For every model pair, the two models' saved 95% score ranges overlap. This covers all 28 MFQ pairs and all 45 vignette pairs.</a:t>
            </a:r>
          </a:p>
          <a:p xmlns:a="http://schemas.openxmlformats.org/drawingml/2006/main">
            <a:r>
              <a:t>This is not a paired model-difference test. Question-level scores and stronger uncertainty estimates are missing.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Sources: data/results/size_path_summary.csv; data/results/size_task_points.csv.</a:t>
            </a:r>
          </a:p>
          <a:p xmlns:a="http://schemas.openxmlformats.org/drawingml/2006/main">
            <a:r>
              <a:t>The 12 checks cover three model families and four UniMoral tasks. Each check follows three model sizes.</a:t>
            </a:r>
          </a:p>
          <a:p xmlns:a="http://schemas.openxmlformats.org/drawingml/2006/main">
            <a:r>
              <a:t>Four checks rise twice, seven change direction, and one falls twice.</a:t>
            </a:r>
          </a:p>
          <a:p xmlns:a="http://schemas.openxmlformats.org/drawingml/2006/main">
            <a:r>
              <a:t>Accuracy and METEOR stay separate. No saved uncertainty ranges or raw run archive are available.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Sources: data/results/size_path_summary.csv; data/results/size_task_points.csv; evidence/model-parameter-sources.csv.</a:t>
            </a:r>
          </a:p>
          <a:p xmlns:a="http://schemas.openxmlformats.org/drawingml/2006/main">
            <a:r>
              <a:t>Exact values: factor attribution .578 to .601 to .613; moral typology .597 to .579 to .570.</a:t>
            </a:r>
          </a:p>
          <a:p xmlns:a="http://schemas.openxmlformats.org/drawingml/2006/main">
            <a:r>
              <a:t>Factor accuracy rises while moral typology accuracy falls as the named Gemma variants get larger.</a:t>
            </a:r>
          </a:p>
          <a:p xmlns:a="http://schemas.openxmlformats.org/drawingml/2006/main">
            <a:r>
              <a:t>No saved uncertainty ranges or raw run archive are available. The versions also differ in training.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Sources: data/results/release_path_summary.csv; data/results/release_period_task_points.csv; data/model_release_periods.csv; evidence/model-parameter-sources.csv.</a:t>
            </a:r>
          </a:p>
          <a:p xmlns:a="http://schemas.openxmlformats.org/drawingml/2006/main">
            <a:r>
              <a:t>Classification accuracy deltas shown: Qwen action +.017873, typology +.042383, factor +.002005; DeepSeek action +.186589, typology -.003150, factor -.037514.</a:t>
            </a:r>
          </a:p>
          <a:p xmlns:a="http://schemas.openxmlformats.org/drawingml/2006/main">
            <a:r>
              <a:t>Consequence uses a separate text-match score. Its changes are Qwen -.026780 and DeepSeek +.018985.</a:t>
            </a:r>
          </a:p>
          <a:p xmlns:a="http://schemas.openxmlformats.org/drawingml/2006/main">
            <a:r>
              <a:t>Every shown score was tested on 28 or 29 May 2026. Release date describes the model and does not show a cause.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Sources: docs/PAPER_REVIEW.md; data/paper_protocol_map.csv.</a:t>
            </a:r>
          </a:p>
          <a:p xmlns:a="http://schemas.openxmlformats.org/drawingml/2006/main">
            <a:r>
              <a:t>The five papers ask different questions and use different models, data, prompts, or scores.</a:t>
            </a:r>
          </a:p>
          <a:p xmlns:a="http://schemas.openxmlformats.org/drawingml/2006/main">
            <a:r>
              <a:t>None is reproduced exactly by the CEI tests. Paper scores and CEI scores should stay separate.</a:t>
            </a:r>
          </a:p>
          <a:p xmlns:a="http://schemas.openxmlformats.org/drawingml/2006/main">
            <a:r>
              <a:t>The 37-row comparison in the full deck covers UniMoral and ValuePrism only.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Sources: docs/RESEARCH_LEAD_BRIEF.md; evidence/canonical-audit/RERUN_PRIORITY.md; evidence/canonical-audit/SELF_CRITIQUE.md.</a:t>
            </a:r>
          </a:p>
          <a:p xmlns:a="http://schemas.openxmlformats.org/drawingml/2006/main">
            <a:r>
              <a:t>The order shown is a decision recommendation, not a statistical theorem.</a:t>
            </a:r>
          </a:p>
          <a:p xmlns:a="http://schemas.openxmlformats.org/drawingml/2006/main">
            <a:r>
              <a:t>Benchmark agreement does not prove that the test matches human judgment.</a:t>
            </a:r>
          </a:p>
          <a:p xmlns:a="http://schemas.openxmlformats.org/drawingml/2006/main">
            <a:r>
              <a:t>We still need the original answers and scores, better uncertainty estimates, exact model and dataset records, leakage checks, and representative human review.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1d2f388b363942fc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e645632c25c54f76" /><Relationship Type="http://schemas.openxmlformats.org/officeDocument/2006/relationships/slideLayout" Target="/ppt/slideLayouts/slideLayout1.xml" Id="Re3fdf49366cf43ba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e3fdf49366cf43ba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e88e2778d974151" /><Relationship Type="http://schemas.openxmlformats.org/officeDocument/2006/relationships/notesSlide" Target="/ppt/notesSlides/notesSlide1.xml" Id="R84ae2e729c294a06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b17c14782ea42dc" /><Relationship Type="http://schemas.openxmlformats.org/officeDocument/2006/relationships/notesSlide" Target="/ppt/notesSlides/notesSlide2.xml" Id="R110e6165d24b4df8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402f42a9070454c" /><Relationship Type="http://schemas.openxmlformats.org/officeDocument/2006/relationships/notesSlide" Target="/ppt/notesSlides/notesSlide3.xml" Id="R951ca660c82c411a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5b0555623104ad6" /><Relationship Type="http://schemas.openxmlformats.org/officeDocument/2006/relationships/chart" Target="/ppt/slides/charts/chart1.xml" Id="Rb531920521f94bde" /><Relationship Type="http://schemas.openxmlformats.org/officeDocument/2006/relationships/notesSlide" Target="/ppt/notesSlides/notesSlide4.xml" Id="R49ebb735a5dd457c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ba506e06615442f" /><Relationship Type="http://schemas.openxmlformats.org/officeDocument/2006/relationships/chart" Target="/ppt/slides/charts/chart2.xml" Id="Rf80668fadf964e24" /><Relationship Type="http://schemas.openxmlformats.org/officeDocument/2006/relationships/notesSlide" Target="/ppt/notesSlides/notesSlide5.xml" Id="Rceb21d63e8c44766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881ade4ea2b4d8c" /><Relationship Type="http://schemas.openxmlformats.org/officeDocument/2006/relationships/chart" Target="/ppt/slides/charts/chart3.xml" Id="Rbac13fd76fa54d71" /><Relationship Type="http://schemas.openxmlformats.org/officeDocument/2006/relationships/notesSlide" Target="/ppt/notesSlides/notesSlide6.xml" Id="R7243536385ea4648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46d95e4d18846cb" /><Relationship Type="http://schemas.openxmlformats.org/officeDocument/2006/relationships/notesSlide" Target="/ppt/notesSlides/notesSlide7.xml" Id="Rac4560928dbd4721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6c0152ef3b74552" /><Relationship Type="http://schemas.openxmlformats.org/officeDocument/2006/relationships/notesSlide" Target="/ppt/notesSlides/notesSlide8.xml" Id="R24b3f5ff2f6147b0" /></Relationships>
</file>

<file path=ppt/slides/charts/_rels/chart1.xml.rels><Relationships xmlns="http://schemas.openxmlformats.org/package/2006/relationships"><Relationship Id="rIdChartSnapshot1" Type="http://schemas.openxmlformats.org/officeDocument/2006/relationships/package" Target="../../embeddings/chart-data-snapshot-001.xlsx"/></Relationships>
</file>

<file path=ppt/slides/charts/_rels/chart2.xml.rels><Relationships xmlns="http://schemas.openxmlformats.org/package/2006/relationships"><Relationship Id="rIdChartSnapshot1" Type="http://schemas.openxmlformats.org/officeDocument/2006/relationships/package" Target="../../embeddings/chart-data-snapshot-002.xlsx"/></Relationships>
</file>

<file path=ppt/slides/charts/_rels/chart3.xml.rels><Relationships xmlns="http://schemas.openxmlformats.org/package/2006/relationships"><Relationship Id="rIdChartSnapshot1" Type="http://schemas.openxmlformats.org/officeDocument/2006/relationships/package" Target="../../embeddings/chart-data-snapshot-003.xlsx"/></Relationships>
</file>

<file path=ppt/slides/charts/chart1.xml><?xml version="1.0" encoding="utf-8"?>
<c:chartSpace xmlns:c="http://schemas.openxmlformats.org/drawingml/2006/chart" xmlns:r="http://schemas.openxmlformats.org/officeDocument/2006/relationships">
  <c:lang val="en-US"/>
  <c:chart>
    <c:title>
      <c:tx>
        <c:rich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>
                <a:latin typeface="Aptos"/>
                <a:ea typeface="Aptos"/>
                <a:cs typeface="Aptos"/>
              </a:rPr>
              <a:t>What happens across three model versions?</a:t>
            </a:r>
          </a:p>
        </c:rich>
      </c:tx>
      <c:txPr>
        <a:bodyPr xmlns:a="http://schemas.openxmlformats.org/drawingml/2006/main" anchorCtr="1"/>
        <a:lstStyle xmlns:a="http://schemas.openxmlformats.org/drawingml/2006/main"/>
        <a:p xmlns:a="http://schemas.openxmlformats.org/drawingml/2006/main">
          <a:pPr>
            <a:defRPr>
              <a:latin typeface="Aptos"/>
              <a:ea typeface="Aptos"/>
              <a:cs typeface="Aptos"/>
            </a:defRPr>
          </a:pPr>
        </a:p>
      </c:txPr>
    </c:title>
    <c:plotArea>
      <c:barChart>
        <c:barDir val="bar"/>
        <c:grouping val="clustered"/>
        <c:varyColors val="0"/>
        <c:ser>
          <c:idx val="0"/>
          <c:order val="0"/>
          <c:tx>
            <c:v>Complete paths</c:v>
          </c:tx>
          <c:spPr>
            <a:solidFill xmlns:a="http://schemas.openxmlformats.org/drawingml/2006/main">
              <a:srgbClr val="14856D"/>
            </a:solidFill>
          </c:spPr>
          <c:dPt>
            <c:idx val="0"/>
            <c:invertIfNegative val="0"/>
            <c:spPr>
              <a:solidFill xmlns:a="http://schemas.openxmlformats.org/drawingml/2006/main">
                <a:srgbClr val="14856D"/>
              </a:solidFill>
              <a:ln xmlns:a="http://schemas.openxmlformats.org/drawingml/2006/main" w="0">
                <a:noFill/>
              </a:ln>
            </c:spPr>
          </c:dPt>
          <c:dPt>
            <c:idx val="1"/>
            <c:invertIfNegative val="0"/>
            <c:spPr>
              <a:solidFill xmlns:a="http://schemas.openxmlformats.org/drawingml/2006/main">
                <a:srgbClr val="D3971E"/>
              </a:solidFill>
              <a:ln xmlns:a="http://schemas.openxmlformats.org/drawingml/2006/main" w="0">
                <a:noFill/>
              </a:ln>
            </c:spPr>
          </c:dPt>
          <c:dPt>
            <c:idx val="2"/>
            <c:invertIfNegative val="0"/>
            <c:spPr>
              <a:solidFill xmlns:a="http://schemas.openxmlformats.org/drawingml/2006/main">
                <a:srgbClr val="6E5AA8"/>
              </a:solidFill>
              <a:ln xmlns:a="http://schemas.openxmlformats.org/drawingml/2006/main" w="0">
                <a:noFill/>
              </a:ln>
            </c:spPr>
          </c:dPt>
          <c:cat>
            <c:strRef>
              <c:f>'Chart Data'!$A$2:$A$4</c:f>
              <c:strCache>
                <c:ptCount val="3"/>
                <c:pt idx="0">
                  <c:v>Rise at both steps</c:v>
                </c:pt>
                <c:pt idx="1">
                  <c:v>Change direction</c:v>
                </c:pt>
                <c:pt idx="2">
                  <c:v>Fall at both steps</c:v>
                </c:pt>
              </c:strCache>
            </c:strRef>
          </c:cat>
          <c:val>
            <c:numRef>
              <c:f>'Chart Data'!$B$2:$B$4</c:f>
              <c:numCache>
                <c:formatCode>0</c:formatCode>
                <c:ptCount val="3"/>
                <c:pt idx="0">
                  <c:v>4</c:v>
                </c:pt>
                <c:pt idx="1">
                  <c:v>7</c:v>
                </c:pt>
                <c:pt idx="2">
                  <c:v>1</c:v>
                </c:pt>
              </c:numCache>
            </c:numRef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1500" b="1">
                  <a:solidFill>
                    <a:srgbClr val="17212B"/>
                  </a:solidFill>
                  <a:latin typeface="Aptos"/>
                  <a:ea typeface="Aptos"/>
                  <a:cs typeface="Aptos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2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majorGridlines>
          <c:spPr>
            <a:ln xmlns:a="http://schemas.openxmlformats.org/drawingml/2006/main" w="9525">
              <a:solidFill>
                <a:srgbClr val="D8D9D5"/>
              </a:solidFill>
              <a:prstDash val="solid"/>
            </a:ln>
          </c:spPr>
        </c:majorGridlines>
        <c:title>
          <c:tx>
            <c:rich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r>
                  <a:rPr>
                    <a:latin typeface="Aptos"/>
                    <a:ea typeface="Aptos"/>
                    <a:cs typeface="Aptos"/>
                  </a:rPr>
                  <a:t>Family and task combinations (12 total)</a:t>
                </a:r>
              </a:p>
            </c:rich>
          </c:tx>
          <c:overlay val="0"/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>
                  <a:latin typeface="Aptos"/>
                  <a:ea typeface="Aptos"/>
                  <a:cs typeface="Aptos"/>
                </a:defRPr>
              </a:pPr>
            </a:p>
          </c:txPr>
        </c:title>
        <c:numFmt formatCode="0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050">
                <a:solidFill>
                  <a:srgbClr val="66727E"/>
                </a:solidFill>
                <a:latin typeface="Aptos"/>
                <a:ea typeface="Aptos"/>
                <a:cs typeface="Aptos"/>
              </a:defRPr>
            </a:pPr>
          </a:p>
        </c:txPr>
        <c:crossAx val="48672768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0">
            <a:noFill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17212B"/>
                </a:solidFill>
                <a:latin typeface="Aptos"/>
                <a:ea typeface="Aptos"/>
                <a:cs typeface="Aptos"/>
              </a:defRPr>
            </a:pPr>
          </a:p>
        </c:txPr>
        <c:crossAx val="48650112"/>
        <c:crossBetween val="between"/>
      </c:valAx>
      <c:spPr>
        <a:solidFill xmlns:a="http://schemas.openxmlformats.org/drawingml/2006/main">
          <a:srgbClr val="F7F5EF"/>
        </a:solidFill>
        <a:ln xmlns:a="http://schemas.openxmlformats.org/drawingml/2006/main" w="0">
          <a:noFill/>
        </a:ln>
      </c:spPr>
    </c:plotArea>
    <c:plotVisOnly val="1"/>
  </c:chart>
  <c:spPr>
    <a:solidFill xmlns:a="http://schemas.openxmlformats.org/drawingml/2006/main">
      <a:srgbClr val="F7F5EF"/>
    </a:solidFill>
    <a:ln xmlns:a="http://schemas.openxmlformats.org/drawingml/2006/main" w="0">
      <a:noFill/>
    </a:ln>
  </c:spPr>
  <c:externalData r:id="rIdChartSnapshot1">
    <c:autoUpdate val="0"/>
  </c:externalData>
</c:chartSpace>
</file>

<file path=ppt/slides/charts/chart2.xml><?xml version="1.0" encoding="utf-8"?>
<c:chartSpace xmlns:c="http://schemas.openxmlformats.org/drawingml/2006/chart" xmlns:r="http://schemas.openxmlformats.org/officeDocument/2006/relationships">
  <c:lang val="en-US"/>
  <c:chart>
    <c:title>
      <c:tx>
        <c:rich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sz="1500" b="1">
                <a:solidFill>
                  <a:srgbClr val="17212B"/>
                </a:solidFill>
                <a:latin typeface="Aptos"/>
                <a:ea typeface="Aptos"/>
                <a:cs typeface="Aptos"/>
              </a:rPr>
              <a:t>Gemma 3 accuracy by model size</a:t>
            </a:r>
          </a:p>
        </c:rich>
      </c:tx>
      <c:txPr>
        <a:bodyPr xmlns:a="http://schemas.openxmlformats.org/drawingml/2006/main" anchorCtr="1"/>
        <a:lstStyle xmlns:a="http://schemas.openxmlformats.org/drawingml/2006/main"/>
        <a:p xmlns:a="http://schemas.openxmlformats.org/drawingml/2006/main">
          <a:pPr>
            <a:defRPr sz="1500" b="1">
              <a:solidFill>
                <a:srgbClr val="17212B"/>
              </a:solidFill>
              <a:latin typeface="Aptos"/>
              <a:ea typeface="Aptos"/>
              <a:cs typeface="Aptos"/>
            </a:defRPr>
          </a:pPr>
        </a:p>
      </c:txPr>
    </c:title>
    <c:plotArea>
      <c:lineChart>
        <c:grouping val="standard"/>
        <c:varyColors val="0"/>
        <c:ser>
          <c:idx val="0"/>
          <c:order val="0"/>
          <c:tx>
            <c:v>Factor attribution</c:v>
          </c:tx>
          <c:spPr>
            <a:ln xmlns:a="http://schemas.openxmlformats.org/drawingml/2006/main" w="38100">
              <a:solidFill>
                <a:srgbClr val="2B78B8"/>
              </a:solidFill>
              <a:prstDash val="solid"/>
            </a:ln>
          </c:spPr>
          <c:marker>
            <c:symbol val="circle"/>
            <c:size val="10"/>
            <c:spPr>
              <a:solidFill xmlns:a="http://schemas.openxmlformats.org/drawingml/2006/main">
                <a:srgbClr val="2B78B8"/>
              </a:solidFill>
            </c:spPr>
          </c:marker>
          <c:cat>
            <c:strRef>
              <c:f>'Chart Data'!$A$2:$A$4</c:f>
              <c:strCache>
                <c:ptCount val="3"/>
                <c:pt idx="0">
                  <c:v>Gemma 3-4B-IT
(4B total)</c:v>
                </c:pt>
                <c:pt idx="1">
                  <c:v>Gemma 3-12B-IT
(12B total)</c:v>
                </c:pt>
                <c:pt idx="2">
                  <c:v>Gemma 3-27B-IT
(27B total)</c:v>
                </c:pt>
              </c:strCache>
            </c:strRef>
          </c:cat>
          <c:val>
            <c:numRef>
              <c:f>'Chart Data'!$B$2:$B$4</c:f>
              <c:numCache>
                <c:formatCode>0.000</c:formatCode>
                <c:ptCount val="3"/>
                <c:pt idx="0">
                  <c:v>0.578</c:v>
                </c:pt>
                <c:pt idx="1">
                  <c:v>0.601</c:v>
                </c:pt>
                <c:pt idx="2">
                  <c:v>0.613</c:v>
                </c:pt>
              </c:numCache>
            </c:numRef>
          </c:val>
          <c:smooth val="0"/>
        </c:ser>
        <c:ser>
          <c:idx val="1"/>
          <c:order val="1"/>
          <c:tx>
            <c:v>Moral typology</c:v>
          </c:tx>
          <c:spPr>
            <a:ln xmlns:a="http://schemas.openxmlformats.org/drawingml/2006/main" w="38100">
              <a:solidFill>
                <a:srgbClr val="6E5AA8"/>
              </a:solidFill>
              <a:prstDash val="dash"/>
            </a:ln>
          </c:spPr>
          <c:marker>
            <c:symbol val="square"/>
            <c:size val="10"/>
            <c:spPr>
              <a:solidFill xmlns:a="http://schemas.openxmlformats.org/drawingml/2006/main">
                <a:srgbClr val="6E5AA8"/>
              </a:solidFill>
            </c:spPr>
          </c:marker>
          <c:cat>
            <c:strRef>
              <c:f>'Chart Data'!$C$2:$C$4</c:f>
              <c:strCache>
                <c:ptCount val="3"/>
                <c:pt idx="0">
                  <c:v>Gemma 3-4B-IT
(4B total)</c:v>
                </c:pt>
                <c:pt idx="1">
                  <c:v>Gemma 3-12B-IT
(12B total)</c:v>
                </c:pt>
                <c:pt idx="2">
                  <c:v>Gemma 3-27B-IT
(27B total)</c:v>
                </c:pt>
              </c:strCache>
            </c:strRef>
          </c:cat>
          <c:val>
            <c:numRef>
              <c:f>'Chart Data'!$D$2:$D$4</c:f>
              <c:numCache>
                <c:formatCode>0.000</c:formatCode>
                <c:ptCount val="3"/>
                <c:pt idx="0">
                  <c:v>0.597</c:v>
                </c:pt>
                <c:pt idx="1">
                  <c:v>0.579</c:v>
                </c:pt>
                <c:pt idx="2">
                  <c:v>0.57</c:v>
                </c:pt>
              </c:numCache>
            </c:numRef>
          </c:val>
          <c:smooth val="0"/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1050" b="1">
                  <a:solidFill>
                    <a:srgbClr val="17212B"/>
                  </a:solidFill>
                  <a:latin typeface="Aptos"/>
                  <a:ea typeface="Aptos"/>
                  <a:cs typeface="Aptos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smooth val="0"/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title>
          <c:tx>
            <c:rich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r>
                  <a:rPr>
                    <a:latin typeface="Aptos"/>
                    <a:ea typeface="Aptos"/>
                    <a:cs typeface="Aptos"/>
                  </a:rPr>
                  <a:t>Gemma variants ordered by published total parameters</a:t>
                </a:r>
              </a:p>
            </c:rich>
          </c:tx>
          <c:overlay val="0"/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>
                  <a:latin typeface="Aptos"/>
                  <a:ea typeface="Aptos"/>
                  <a:cs typeface="Aptos"/>
                </a:defRPr>
              </a:pPr>
            </a:p>
          </c:txPr>
        </c:title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8D9D5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17212B"/>
                </a:solidFill>
                <a:latin typeface="Aptos"/>
                <a:ea typeface="Aptos"/>
                <a:cs typeface="Aptos"/>
              </a:defRPr>
            </a:pPr>
          </a:p>
        </c:txPr>
        <c:crossAx val="48672768"/>
      </c:catAx>
      <c:valAx>
        <c:axId val="48672768"/>
        <c:scaling>
          <c:orientation val="minMax"/>
          <c:max val="0.625"/>
          <c:min val="0.54"/>
        </c:scaling>
        <c:delete val="0"/>
        <c:axPos val="l"/>
        <c:majorGridlines>
          <c:spPr>
            <a:ln xmlns:a="http://schemas.openxmlformats.org/drawingml/2006/main" w="9525">
              <a:solidFill>
                <a:srgbClr val="D8D9D5"/>
              </a:solidFill>
              <a:prstDash val="solid"/>
            </a:ln>
          </c:spPr>
        </c:majorGridlines>
        <c:title>
          <c:tx>
            <c:rich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r>
                  <a:rPr>
                    <a:latin typeface="Aptos"/>
                    <a:ea typeface="Aptos"/>
                    <a:cs typeface="Aptos"/>
                  </a:rPr>
                  <a:t>Accuracy</a:t>
                </a:r>
              </a:p>
            </c:rich>
          </c:tx>
          <c:overlay val="0"/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>
                  <a:latin typeface="Aptos"/>
                  <a:ea typeface="Aptos"/>
                  <a:cs typeface="Aptos"/>
                </a:defRPr>
              </a:pPr>
            </a:p>
          </c:txPr>
        </c:title>
        <c:numFmt formatCode="0.00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66727E"/>
                </a:solidFill>
                <a:latin typeface="Aptos"/>
                <a:ea typeface="Aptos"/>
                <a:cs typeface="Aptos"/>
              </a:defRPr>
            </a:pPr>
          </a:p>
        </c:txPr>
        <c:crossAx val="48650112"/>
        <c:crossBetween val="between"/>
        <c:majorUnit val="0.02"/>
      </c:valAx>
      <c:spPr>
        <a:solidFill xmlns:a="http://schemas.openxmlformats.org/drawingml/2006/main">
          <a:srgbClr val="F7F5EF"/>
        </a:solidFill>
        <a:ln xmlns:a="http://schemas.openxmlformats.org/drawingml/2006/main" w="0">
          <a:noFill/>
        </a:ln>
      </c:spPr>
    </c:plotArea>
    <c:legend>
      <c:legendPos val="b"/>
      <c:overlay val="0"/>
      <c:txPr>
        <a:bodyPr xmlns:a="http://schemas.openxmlformats.org/drawingml/2006/main" anchorCtr="1"/>
        <a:lstStyle xmlns:a="http://schemas.openxmlformats.org/drawingml/2006/main"/>
        <a:p xmlns:a="http://schemas.openxmlformats.org/drawingml/2006/main">
          <a:pPr>
            <a:defRPr sz="1125">
              <a:solidFill>
                <a:srgbClr val="17212B"/>
              </a:solidFill>
              <a:latin typeface="Aptos"/>
              <a:ea typeface="Aptos"/>
              <a:cs typeface="Aptos"/>
            </a:defRPr>
          </a:pPr>
        </a:p>
      </c:txPr>
    </c:legend>
    <c:plotVisOnly val="1"/>
  </c:chart>
  <c:spPr>
    <a:solidFill xmlns:a="http://schemas.openxmlformats.org/drawingml/2006/main">
      <a:srgbClr val="F7F5EF"/>
    </a:solidFill>
    <a:ln xmlns:a="http://schemas.openxmlformats.org/drawingml/2006/main" w="0">
      <a:noFill/>
    </a:ln>
  </c:spPr>
  <c:externalData r:id="rIdChartSnapshot1">
    <c:autoUpdate val="0"/>
  </c:externalData>
</c:chartSpace>
</file>

<file path=ppt/slides/charts/chart3.xml><?xml version="1.0" encoding="utf-8"?>
<c:chartSpace xmlns:c="http://schemas.openxmlformats.org/drawingml/2006/chart" xmlns:r="http://schemas.openxmlformats.org/officeDocument/2006/relationships">
  <c:lang val="en-US"/>
  <c:chart>
    <c:title>
      <c:tx>
        <c:rich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>
                <a:latin typeface="Aptos"/>
                <a:ea typeface="Aptos"/>
                <a:cs typeface="Aptos"/>
              </a:rPr>
              <a:t>Accuracy change from earlier to later version</a:t>
            </a:r>
          </a:p>
        </c:rich>
      </c:tx>
      <c:txPr>
        <a:bodyPr xmlns:a="http://schemas.openxmlformats.org/drawingml/2006/main" anchorCtr="1"/>
        <a:lstStyle xmlns:a="http://schemas.openxmlformats.org/drawingml/2006/main"/>
        <a:p xmlns:a="http://schemas.openxmlformats.org/drawingml/2006/main">
          <a:pPr>
            <a:defRPr>
              <a:latin typeface="Aptos"/>
              <a:ea typeface="Aptos"/>
              <a:cs typeface="Aptos"/>
            </a:defRPr>
          </a:pPr>
        </a:p>
      </c:txPr>
    </c:title>
    <c:plotArea>
      <c:barChart>
        <c:barDir val="col"/>
        <c:grouping val="clustered"/>
        <c:varyColors val="0"/>
        <c:ser>
          <c:idx val="0"/>
          <c:order val="0"/>
          <c:tx>
            <c:v>Qwen</c:v>
          </c:tx>
          <c:spPr>
            <a:solidFill xmlns:a="http://schemas.openxmlformats.org/drawingml/2006/main">
              <a:srgbClr val="14856D"/>
            </a:solidFill>
          </c:spPr>
          <c:cat>
            <c:strRef>
              <c:f>'Chart Data'!$A$2:$A$4</c:f>
              <c:strCache>
                <c:ptCount val="3"/>
                <c:pt idx="0">
                  <c:v>Action</c:v>
                </c:pt>
                <c:pt idx="1">
                  <c:v>Typology</c:v>
                </c:pt>
                <c:pt idx="2">
                  <c:v>Factor</c:v>
                </c:pt>
              </c:strCache>
            </c:strRef>
          </c:cat>
          <c:val>
            <c:numRef>
              <c:f>'Chart Data'!$B$2:$B$4</c:f>
              <c:numCache>
                <c:formatCode>+0.000;-0.000;0.000</c:formatCode>
                <c:ptCount val="3"/>
                <c:pt idx="0">
                  <c:v>0.017873</c:v>
                </c:pt>
                <c:pt idx="1">
                  <c:v>0.042383</c:v>
                </c:pt>
                <c:pt idx="2">
                  <c:v>0.002005</c:v>
                </c:pt>
              </c:numCache>
            </c:numRef>
          </c:val>
        </c:ser>
        <c:ser>
          <c:idx val="1"/>
          <c:order val="1"/>
          <c:tx>
            <c:v>DeepSeek</c:v>
          </c:tx>
          <c:spPr>
            <a:solidFill xmlns:a="http://schemas.openxmlformats.org/drawingml/2006/main">
              <a:srgbClr val="6E5AA8"/>
            </a:solidFill>
          </c:spPr>
          <c:invertIfNegative val="0"/>
          <c:cat>
            <c:strRef>
              <c:f>'Chart Data'!$C$2:$C$4</c:f>
              <c:strCache>
                <c:ptCount val="3"/>
                <c:pt idx="0">
                  <c:v>Action</c:v>
                </c:pt>
                <c:pt idx="1">
                  <c:v>Typology</c:v>
                </c:pt>
                <c:pt idx="2">
                  <c:v>Factor</c:v>
                </c:pt>
              </c:strCache>
            </c:strRef>
          </c:cat>
          <c:val>
            <c:numRef>
              <c:f>'Chart Data'!$D$2:$D$4</c:f>
              <c:numCache>
                <c:formatCode>+0.000;-0.000;0.000</c:formatCode>
                <c:ptCount val="3"/>
                <c:pt idx="0">
                  <c:v>0.186589</c:v>
                </c:pt>
                <c:pt idx="1">
                  <c:v>-0.00315</c:v>
                </c:pt>
                <c:pt idx="2">
                  <c:v>-0.037514</c:v>
                </c:pt>
              </c:numCache>
            </c:numRef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1050" b="1">
                  <a:solidFill>
                    <a:srgbClr val="17212B"/>
                  </a:solidFill>
                  <a:latin typeface="Aptos"/>
                  <a:ea typeface="Aptos"/>
                  <a:cs typeface="Aptos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2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title>
          <c:tx>
            <c:rich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r>
                  <a:rPr>
                    <a:latin typeface="Aptos"/>
                    <a:ea typeface="Aptos"/>
                    <a:cs typeface="Aptos"/>
                  </a:rPr>
                  <a:t>UniMoral task</a:t>
                </a:r>
              </a:p>
            </c:rich>
          </c:tx>
          <c:overlay val="0"/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>
                  <a:latin typeface="Aptos"/>
                  <a:ea typeface="Aptos"/>
                  <a:cs typeface="Aptos"/>
                </a:defRPr>
              </a:pPr>
            </a:p>
          </c:txPr>
        </c:title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8D9D5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17212B"/>
                </a:solidFill>
                <a:latin typeface="Aptos"/>
                <a:ea typeface="Aptos"/>
                <a:cs typeface="Aptos"/>
              </a:defRPr>
            </a:pPr>
          </a:p>
        </c:txPr>
        <c:crossAx val="48672768"/>
      </c:catAx>
      <c:valAx>
        <c:axId val="48672768"/>
        <c:scaling>
          <c:orientation val="minMax"/>
          <c:max val="0.2"/>
          <c:min val="-0.05"/>
        </c:scaling>
        <c:delete val="0"/>
        <c:axPos val="l"/>
        <c:majorGridlines>
          <c:spPr>
            <a:ln xmlns:a="http://schemas.openxmlformats.org/drawingml/2006/main" w="9525">
              <a:solidFill>
                <a:srgbClr val="D8D9D5"/>
              </a:solidFill>
              <a:prstDash val="solid"/>
            </a:ln>
          </c:spPr>
        </c:majorGridlines>
        <c:title>
          <c:tx>
            <c:rich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r>
                  <a:rPr>
                    <a:latin typeface="Aptos"/>
                    <a:ea typeface="Aptos"/>
                    <a:cs typeface="Aptos"/>
                  </a:rPr>
                  <a:t>Change in accuracy</a:t>
                </a:r>
              </a:p>
            </c:rich>
          </c:tx>
          <c:overlay val="0"/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>
                  <a:latin typeface="Aptos"/>
                  <a:ea typeface="Aptos"/>
                  <a:cs typeface="Aptos"/>
                </a:defRPr>
              </a:pPr>
            </a:p>
          </c:txPr>
        </c:title>
        <c:numFmt formatCode="+0.00;-0.00;0.00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66727E"/>
                </a:solidFill>
                <a:latin typeface="Aptos"/>
                <a:ea typeface="Aptos"/>
                <a:cs typeface="Aptos"/>
              </a:defRPr>
            </a:pPr>
          </a:p>
        </c:txPr>
        <c:crossAx val="48650112"/>
        <c:crossBetween val="between"/>
        <c:majorUnit val="0.05"/>
      </c:valAx>
      <c:spPr>
        <a:solidFill xmlns:a="http://schemas.openxmlformats.org/drawingml/2006/main">
          <a:srgbClr val="F7F5EF"/>
        </a:solidFill>
        <a:ln xmlns:a="http://schemas.openxmlformats.org/drawingml/2006/main" w="0">
          <a:noFill/>
        </a:ln>
      </c:spPr>
    </c:plotArea>
    <c:legend>
      <c:legendPos val="b"/>
      <c:overlay val="0"/>
      <c:txPr>
        <a:bodyPr xmlns:a="http://schemas.openxmlformats.org/drawingml/2006/main" anchorCtr="1"/>
        <a:lstStyle xmlns:a="http://schemas.openxmlformats.org/drawingml/2006/main"/>
        <a:p xmlns:a="http://schemas.openxmlformats.org/drawingml/2006/main">
          <a:pPr>
            <a:defRPr sz="1125">
              <a:solidFill>
                <a:srgbClr val="17212B"/>
              </a:solidFill>
              <a:latin typeface="Aptos"/>
              <a:ea typeface="Aptos"/>
              <a:cs typeface="Aptos"/>
            </a:defRPr>
          </a:pPr>
        </a:p>
      </c:txPr>
    </c:legend>
    <c:plotVisOnly val="1"/>
  </c:chart>
  <c:spPr>
    <a:solidFill xmlns:a="http://schemas.openxmlformats.org/drawingml/2006/main">
      <a:srgbClr val="F7F5EF"/>
    </a:solidFill>
    <a:ln xmlns:a="http://schemas.openxmlformats.org/drawingml/2006/main" w="0">
      <a:noFill/>
    </a:ln>
  </c:spPr>
  <c:externalData r:id="rIdChartSnapshot1">
    <c:autoUpdate val="0"/>
  </c:externalData>
</c:chartSpace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7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cover-title">
            <a:extLst xmlns:a="http://schemas.openxmlformats.org/drawingml/2006/main">
              <a:ext uri="{FF2B5EF4-FFF2-40B4-BE49-F238E27FC236}">
                <a16:creationId xmlns:a16="http://schemas.microsoft.com/office/drawing/2014/main" id="{0D736628-41C3-45C8-8E40-1861E2EC33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952500"/>
            <a:ext cx="10287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96795"/>
          </a:bodyPr>
          <a:lstStyle xmlns:a="http://schemas.openxmlformats.org/drawingml/2006/main"/>
          <a:p xmlns:a="http://schemas.openxmlformats.org/drawingml/2006/main">
            <a:pPr algn="l">
              <a:defRPr sz="3900" b="1">
                <a:solidFill>
                  <a:srgbClr val="17212B"/>
                </a:solidFill>
                <a:latin typeface="Aptos"/>
                <a:ea typeface="Aptos"/>
                <a:cs typeface="Aptos"/>
              </a:defRPr>
            </a:pPr>
            <a:r>
              <a:rPr sz="3900" b="1">
                <a:solidFill>
                  <a:srgbClr val="17212B"/>
                </a:solidFill>
                <a:latin typeface="Aptos"/>
                <a:ea typeface="Aptos"/>
                <a:cs typeface="Aptos"/>
              </a:rPr>
              <a:t>MoralBench + UniMoral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2D439F8-AB77-4F4D-AB87-825241B95B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1905000"/>
            <a:ext cx="100012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4856D"/>
                </a:solidFill>
                <a:latin typeface="Aptos"/>
                <a:ea typeface="Aptos"/>
                <a:cs typeface="Aptos"/>
              </a:defRPr>
            </a:pPr>
            <a:r>
              <a:rPr sz="2550" b="1">
                <a:solidFill>
                  <a:srgbClr val="14856D"/>
                </a:solidFill>
                <a:latin typeface="Aptos"/>
                <a:ea typeface="Aptos"/>
                <a:cs typeface="Aptos"/>
              </a:rPr>
              <a:t>No model has the highest saved score on all 8 tasks.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A0F38EA-4B41-4FC7-9DDC-ECF2FA9CED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895600"/>
            <a:ext cx="9906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D8D9D5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5FE6ED8-7393-4D70-8D1C-47ECC86AAB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276600"/>
            <a:ext cx="3143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94444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66727E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66727E"/>
                </a:solidFill>
                <a:latin typeface="Aptos"/>
                <a:ea typeface="Aptos"/>
                <a:cs typeface="Aptos"/>
              </a:rPr>
              <a:t>MoralBench comparison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02EB5B7-EA93-481B-8443-B085346917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619500"/>
            <a:ext cx="96202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81777"/>
          </a:bodyPr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17212B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17212B"/>
                </a:solidFill>
                <a:latin typeface="Aptos"/>
                <a:ea typeface="Aptos"/>
                <a:cs typeface="Aptos"/>
              </a:rPr>
              <a:t>For every model pair, the two models' 95% score ranges overlap: 28 of 28 MFQ pairs and 45 of 45 vignette pairs.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6D7192B-0E3A-447F-AA74-D663BE77D6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438650"/>
            <a:ext cx="3905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94444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66727E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66727E"/>
                </a:solidFill>
                <a:latin typeface="Aptos"/>
                <a:ea typeface="Aptos"/>
                <a:cs typeface="Aptos"/>
              </a:rPr>
              <a:t>UniMoral model size and release date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565B216-83EE-4937-840B-77F17C3144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781550"/>
            <a:ext cx="96202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17212B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17212B"/>
                </a:solidFill>
                <a:latin typeface="Aptos"/>
                <a:ea typeface="Aptos"/>
                <a:cs typeface="Aptos"/>
              </a:rPr>
              <a:t>Scores move up and down across tasks. Bigger or newer is not consistently higher here.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63FB30F-AD89-4243-B6AA-36879DD160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5962650"/>
            <a:ext cx="7239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66727E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66727E"/>
                </a:solidFill>
                <a:latin typeface="Aptos"/>
                <a:ea typeface="Aptos"/>
                <a:cs typeface="Aptos"/>
              </a:rPr>
              <a:t>CEI research lead readout · 4 September 2026</a:t>
            </a:r>
          </a:p>
        </p:txBody>
      </p:sp>
    </p:spTree>
    <p:extLst>
      <p:ext uri="{BB962C8B-B14F-4D97-AF65-F5344CB8AC3E}">
        <p14:creationId xmlns:p14="http://schemas.microsoft.com/office/powerpoint/2010/main" val="174859470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7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slide-title">
            <a:extLst xmlns:a="http://schemas.openxmlformats.org/drawingml/2006/main">
              <a:ext uri="{FF2B5EF4-FFF2-40B4-BE49-F238E27FC236}">
                <a16:creationId xmlns:a16="http://schemas.microsoft.com/office/drawing/2014/main" id="{4B7C95B9-15FB-4A31-B477-9634D1EB2D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42900"/>
            <a:ext cx="108204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89937"/>
          </a:bodyPr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17212B"/>
                </a:solidFill>
                <a:latin typeface="Aptos"/>
                <a:ea typeface="Aptos"/>
                <a:cs typeface="Aptos"/>
              </a:defRPr>
            </a:pPr>
            <a:r>
              <a:rPr sz="2700" b="1">
                <a:solidFill>
                  <a:srgbClr val="17212B"/>
                </a:solidFill>
                <a:latin typeface="Aptos"/>
                <a:ea typeface="Aptos"/>
                <a:cs typeface="Aptos"/>
              </a:rPr>
              <a:t>MoralBench + UniMoral: no model has the top saved score on all 8 tasks</a:t>
            </a:r>
          </a:p>
        </p:txBody>
      </p:sp>
      <p:sp>
        <p:nvSpPr>
          <p:cNvPr id="2" name="slide-subtitle">
            <a:extLst xmlns:a="http://schemas.openxmlformats.org/drawingml/2006/main">
              <a:ext uri="{FF2B5EF4-FFF2-40B4-BE49-F238E27FC236}">
                <a16:creationId xmlns:a16="http://schemas.microsoft.com/office/drawing/2014/main" id="{A4FDBF21-2B26-4529-A5DF-ACC035874F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942975"/>
            <a:ext cx="10096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66727E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66727E"/>
                </a:solidFill>
                <a:latin typeface="Aptos"/>
                <a:ea typeface="Aptos"/>
                <a:cs typeface="Aptos"/>
              </a:rPr>
              <a:t>CEI local result. Same five models; each row keeps its own score type.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300AA86-FB8A-4439-A712-35F3ED7CDF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52550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D9D5"/>
            </a:solidFill>
            <a:prstDash val="solid"/>
          </a:ln>
        </p:spPr>
      </p:sp>
      <p:graphicFrame>
        <p:nvGraphicFramePr>
          <p:cNvPr id="10" name=""/>
          <p:cNvGraphicFramePr/>
          <p:nvPr/>
        </p:nvGraphicFramePr>
        <p:xfrm>
          <a:off xmlns:a="http://schemas.openxmlformats.org/drawingml/2006/main" x="914400" y="1619250"/>
          <a:ext xmlns:a="http://schemas.openxmlformats.org/drawingml/2006/main" cx="10363200" cy="409575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3810000"/>
                <a:gridCol w="1809750"/>
                <a:gridCol w="2000250"/>
                <a:gridCol w="2743200"/>
              </a:tblGrid>
              <a:tr h="455083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Task</a:t>
                      </a:r>
                    </a:p>
                  </a:txBody>
                  <a:tcPr marL="114300" marR="114300" marT="66675" marB="66675">
                    <a:solidFill>
                      <a:srgbClr val="17212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Highest saved score</a:t>
                      </a:r>
                    </a:p>
                  </a:txBody>
                  <a:tcPr marL="114300" marR="114300" marT="66675" marB="66675">
                    <a:solidFill>
                      <a:srgbClr val="17212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Score type</a:t>
                      </a:r>
                    </a:p>
                  </a:txBody>
                  <a:tcPr marL="114300" marR="114300" marT="66675" marB="66675">
                    <a:solidFill>
                      <a:srgbClr val="17212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Model</a:t>
                      </a:r>
                    </a:p>
                  </a:txBody>
                  <a:tcPr marL="114300" marR="114300" marT="66675" marB="66675">
                    <a:solidFill>
                      <a:srgbClr val="17212B"/>
                    </a:solidFill>
                  </a:tcPr>
                </a:tc>
              </a:tr>
              <a:tr h="455083"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7212B"/>
                          </a:solidFill>
                          <a:latin typeface="Aptos"/>
                          <a:ea typeface="Aptos"/>
                          <a:cs typeface="Aptos"/>
                        </a:rPr>
                        <a:t>MFQ agreement</a:t>
                      </a:r>
                    </a:p>
                    <a:p>
                      <a:r>
                        <a:rPr sz="975">
                          <a:solidFill>
                            <a:srgbClr val="17212B"/>
                          </a:solidFill>
                          <a:latin typeface="Aptos"/>
                          <a:ea typeface="Aptos"/>
                          <a:cs typeface="Aptos"/>
                        </a:rPr>
                        <a:t>Track benchmark human ratings of value statements</a:t>
                      </a:r>
                    </a:p>
                  </a:txBody>
                  <a:tcPr marL="114300" marR="1143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75">
                          <a:solidFill>
                            <a:srgbClr val="17212B"/>
                          </a:solidFill>
                          <a:latin typeface="Aptos"/>
                          <a:ea typeface="Aptos"/>
                          <a:cs typeface="Aptos"/>
                        </a:rPr>
                        <a:t>.884</a:t>
                      </a:r>
                    </a:p>
                  </a:txBody>
                  <a:tcPr marL="114300" marR="114300" marT="66675" marB="6667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75">
                          <a:solidFill>
                            <a:srgbClr val="17212B"/>
                          </a:solidFill>
                          <a:latin typeface="Aptos"/>
                          <a:ea typeface="Aptos"/>
                          <a:cs typeface="Aptos"/>
                        </a:rPr>
                        <a:t>Agreement score</a:t>
                      </a:r>
                    </a:p>
                  </a:txBody>
                  <a:tcPr marL="114300" marR="114300" marT="66675" marB="6667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75" b="1">
                          <a:solidFill>
                            <a:srgbClr val="17212B"/>
                          </a:solidFill>
                          <a:latin typeface="Aptos"/>
                          <a:ea typeface="Aptos"/>
                          <a:cs typeface="Aptos"/>
                        </a:rPr>
                        <a:t>GPT-5.4 mini</a:t>
                      </a:r>
                    </a:p>
                  </a:txBody>
                  <a:tcPr marL="114300" marR="114300" marT="66675" marB="66675">
                    <a:solidFill>
                      <a:srgbClr val="FFFFFF"/>
                    </a:solidFill>
                  </a:tcPr>
                </a:tc>
              </a:tr>
              <a:tr h="455083"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7212B"/>
                          </a:solidFill>
                          <a:latin typeface="Aptos"/>
                          <a:ea typeface="Aptos"/>
                          <a:cs typeface="Aptos"/>
                        </a:rPr>
                        <a:t>Vignette agreement</a:t>
                      </a:r>
                    </a:p>
                    <a:p>
                      <a:r>
                        <a:rPr sz="975">
                          <a:solidFill>
                            <a:srgbClr val="17212B"/>
                          </a:solidFill>
                          <a:latin typeface="Aptos"/>
                          <a:ea typeface="Aptos"/>
                          <a:cs typeface="Aptos"/>
                        </a:rPr>
                        <a:t>Track benchmark human ratings of moral stories</a:t>
                      </a:r>
                    </a:p>
                  </a:txBody>
                  <a:tcPr marL="114300" marR="1143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75">
                          <a:solidFill>
                            <a:srgbClr val="17212B"/>
                          </a:solidFill>
                          <a:latin typeface="Aptos"/>
                          <a:ea typeface="Aptos"/>
                          <a:cs typeface="Aptos"/>
                        </a:rPr>
                        <a:t>.920</a:t>
                      </a:r>
                    </a:p>
                  </a:txBody>
                  <a:tcPr marL="114300" marR="114300" marT="66675" marB="6667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75">
                          <a:solidFill>
                            <a:srgbClr val="17212B"/>
                          </a:solidFill>
                          <a:latin typeface="Aptos"/>
                          <a:ea typeface="Aptos"/>
                          <a:cs typeface="Aptos"/>
                        </a:rPr>
                        <a:t>Agreement score</a:t>
                      </a:r>
                    </a:p>
                  </a:txBody>
                  <a:tcPr marL="114300" marR="114300" marT="66675" marB="6667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75" b="1">
                          <a:solidFill>
                            <a:srgbClr val="17212B"/>
                          </a:solidFill>
                          <a:latin typeface="Aptos"/>
                          <a:ea typeface="Aptos"/>
                          <a:cs typeface="Aptos"/>
                        </a:rPr>
                        <a:t>GPT-5.4</a:t>
                      </a:r>
                    </a:p>
                  </a:txBody>
                  <a:tcPr marL="114300" marR="114300" marT="66675" marB="66675">
                    <a:solidFill>
                      <a:srgbClr val="FFFFFF"/>
                    </a:solidFill>
                  </a:tcPr>
                </a:tc>
              </a:tr>
              <a:tr h="455083"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7212B"/>
                          </a:solidFill>
                          <a:latin typeface="Aptos"/>
                          <a:ea typeface="Aptos"/>
                          <a:cs typeface="Aptos"/>
                        </a:rPr>
                        <a:t>MFQ compare</a:t>
                      </a:r>
                    </a:p>
                    <a:p>
                      <a:r>
                        <a:rPr sz="975">
                          <a:solidFill>
                            <a:srgbClr val="17212B"/>
                          </a:solidFill>
                          <a:latin typeface="Aptos"/>
                          <a:ea typeface="Aptos"/>
                          <a:cs typeface="Aptos"/>
                        </a:rPr>
                        <a:t>Pick the higher-rated value statement</a:t>
                      </a:r>
                    </a:p>
                  </a:txBody>
                  <a:tcPr marL="114300" marR="1143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75">
                          <a:solidFill>
                            <a:srgbClr val="17212B"/>
                          </a:solidFill>
                          <a:latin typeface="Aptos"/>
                          <a:ea typeface="Aptos"/>
                          <a:cs typeface="Aptos"/>
                        </a:rPr>
                        <a:t>.550</a:t>
                      </a:r>
                    </a:p>
                  </a:txBody>
                  <a:tcPr marL="114300" marR="114300" marT="66675" marB="6667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75">
                          <a:solidFill>
                            <a:srgbClr val="17212B"/>
                          </a:solidFill>
                          <a:latin typeface="Aptos"/>
                          <a:ea typeface="Aptos"/>
                          <a:cs typeface="Aptos"/>
                        </a:rPr>
                        <a:t>Accuracy</a:t>
                      </a:r>
                    </a:p>
                  </a:txBody>
                  <a:tcPr marL="114300" marR="114300" marT="66675" marB="6667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75" b="1">
                          <a:solidFill>
                            <a:srgbClr val="17212B"/>
                          </a:solidFill>
                          <a:latin typeface="Aptos"/>
                          <a:ea typeface="Aptos"/>
                          <a:cs typeface="Aptos"/>
                        </a:rPr>
                        <a:t>Haiku + Qwen tie†</a:t>
                      </a:r>
                    </a:p>
                  </a:txBody>
                  <a:tcPr marL="114300" marR="114300" marT="66675" marB="66675">
                    <a:solidFill>
                      <a:srgbClr val="FFFFFF"/>
                    </a:solidFill>
                  </a:tcPr>
                </a:tc>
              </a:tr>
              <a:tr h="455083"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7212B"/>
                          </a:solidFill>
                          <a:latin typeface="Aptos"/>
                          <a:ea typeface="Aptos"/>
                          <a:cs typeface="Aptos"/>
                        </a:rPr>
                        <a:t>Vignette compare</a:t>
                      </a:r>
                    </a:p>
                    <a:p>
                      <a:r>
                        <a:rPr sz="975">
                          <a:solidFill>
                            <a:srgbClr val="17212B"/>
                          </a:solidFill>
                          <a:latin typeface="Aptos"/>
                          <a:ea typeface="Aptos"/>
                          <a:cs typeface="Aptos"/>
                        </a:rPr>
                        <a:t>Pick the higher-rated moral story</a:t>
                      </a:r>
                    </a:p>
                  </a:txBody>
                  <a:tcPr marL="114300" marR="1143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75">
                          <a:solidFill>
                            <a:srgbClr val="17212B"/>
                          </a:solidFill>
                          <a:latin typeface="Aptos"/>
                          <a:ea typeface="Aptos"/>
                          <a:cs typeface="Aptos"/>
                        </a:rPr>
                        <a:t>.625</a:t>
                      </a:r>
                    </a:p>
                  </a:txBody>
                  <a:tcPr marL="114300" marR="114300" marT="66675" marB="6667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75">
                          <a:solidFill>
                            <a:srgbClr val="17212B"/>
                          </a:solidFill>
                          <a:latin typeface="Aptos"/>
                          <a:ea typeface="Aptos"/>
                          <a:cs typeface="Aptos"/>
                        </a:rPr>
                        <a:t>Accuracy</a:t>
                      </a:r>
                    </a:p>
                  </a:txBody>
                  <a:tcPr marL="114300" marR="114300" marT="66675" marB="6667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75" b="1">
                          <a:solidFill>
                            <a:srgbClr val="17212B"/>
                          </a:solidFill>
                          <a:latin typeface="Aptos"/>
                          <a:ea typeface="Aptos"/>
                          <a:cs typeface="Aptos"/>
                        </a:rPr>
                        <a:t>Haiku + GPT-5.4 tie†</a:t>
                      </a:r>
                    </a:p>
                  </a:txBody>
                  <a:tcPr marL="114300" marR="114300" marT="66675" marB="66675">
                    <a:solidFill>
                      <a:srgbClr val="FFFFFF"/>
                    </a:solidFill>
                  </a:tcPr>
                </a:tc>
              </a:tr>
              <a:tr h="455083"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7212B"/>
                          </a:solidFill>
                          <a:latin typeface="Aptos"/>
                          <a:ea typeface="Aptos"/>
                          <a:cs typeface="Aptos"/>
                        </a:rPr>
                        <a:t>UniMoral action</a:t>
                      </a:r>
                    </a:p>
                    <a:p>
                      <a:r>
                        <a:rPr sz="975">
                          <a:solidFill>
                            <a:srgbClr val="17212B"/>
                          </a:solidFill>
                          <a:latin typeface="Aptos"/>
                          <a:ea typeface="Aptos"/>
                          <a:cs typeface="Aptos"/>
                        </a:rPr>
                        <a:t>Match one recorded human choice</a:t>
                      </a:r>
                    </a:p>
                  </a:txBody>
                  <a:tcPr marL="114300" marR="1143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75">
                          <a:solidFill>
                            <a:srgbClr val="17212B"/>
                          </a:solidFill>
                          <a:latin typeface="Aptos"/>
                          <a:ea typeface="Aptos"/>
                          <a:cs typeface="Aptos"/>
                        </a:rPr>
                        <a:t>.668</a:t>
                      </a:r>
                    </a:p>
                  </a:txBody>
                  <a:tcPr marL="114300" marR="114300" marT="66675" marB="6667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75">
                          <a:solidFill>
                            <a:srgbClr val="17212B"/>
                          </a:solidFill>
                          <a:latin typeface="Aptos"/>
                          <a:ea typeface="Aptos"/>
                          <a:cs typeface="Aptos"/>
                        </a:rPr>
                        <a:t>Accuracy</a:t>
                      </a:r>
                    </a:p>
                  </a:txBody>
                  <a:tcPr marL="114300" marR="114300" marT="66675" marB="6667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75" b="1">
                          <a:solidFill>
                            <a:srgbClr val="17212B"/>
                          </a:solidFill>
                          <a:latin typeface="Aptos"/>
                          <a:ea typeface="Aptos"/>
                          <a:cs typeface="Aptos"/>
                        </a:rPr>
                        <a:t>Claude Haiku 4.5</a:t>
                      </a:r>
                    </a:p>
                  </a:txBody>
                  <a:tcPr marL="114300" marR="114300" marT="66675" marB="66675">
                    <a:solidFill>
                      <a:srgbClr val="FFFFFF"/>
                    </a:solidFill>
                  </a:tcPr>
                </a:tc>
              </a:tr>
              <a:tr h="455083"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7212B"/>
                          </a:solidFill>
                          <a:latin typeface="Aptos"/>
                          <a:ea typeface="Aptos"/>
                          <a:cs typeface="Aptos"/>
                        </a:rPr>
                        <a:t>UniMoral typology</a:t>
                      </a:r>
                    </a:p>
                    <a:p>
                      <a:r>
                        <a:rPr sz="975">
                          <a:solidFill>
                            <a:srgbClr val="17212B"/>
                          </a:solidFill>
                          <a:latin typeface="Aptos"/>
                          <a:ea typeface="Aptos"/>
                          <a:cs typeface="Aptos"/>
                        </a:rPr>
                        <a:t>Classify the recorded choice into one of four types</a:t>
                      </a:r>
                    </a:p>
                  </a:txBody>
                  <a:tcPr marL="114300" marR="1143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75">
                          <a:solidFill>
                            <a:srgbClr val="17212B"/>
                          </a:solidFill>
                          <a:latin typeface="Aptos"/>
                          <a:ea typeface="Aptos"/>
                          <a:cs typeface="Aptos"/>
                        </a:rPr>
                        <a:t>.651</a:t>
                      </a:r>
                    </a:p>
                  </a:txBody>
                  <a:tcPr marL="114300" marR="114300" marT="66675" marB="6667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75">
                          <a:solidFill>
                            <a:srgbClr val="17212B"/>
                          </a:solidFill>
                          <a:latin typeface="Aptos"/>
                          <a:ea typeface="Aptos"/>
                          <a:cs typeface="Aptos"/>
                        </a:rPr>
                        <a:t>Accuracy</a:t>
                      </a:r>
                    </a:p>
                  </a:txBody>
                  <a:tcPr marL="114300" marR="114300" marT="66675" marB="6667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75" b="1">
                          <a:solidFill>
                            <a:srgbClr val="17212B"/>
                          </a:solidFill>
                          <a:latin typeface="Aptos"/>
                          <a:ea typeface="Aptos"/>
                          <a:cs typeface="Aptos"/>
                        </a:rPr>
                        <a:t>Claude Opus 4.8</a:t>
                      </a:r>
                    </a:p>
                  </a:txBody>
                  <a:tcPr marL="114300" marR="114300" marT="66675" marB="66675">
                    <a:solidFill>
                      <a:srgbClr val="FFFFFF"/>
                    </a:solidFill>
                  </a:tcPr>
                </a:tc>
              </a:tr>
              <a:tr h="455083"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7212B"/>
                          </a:solidFill>
                          <a:latin typeface="Aptos"/>
                          <a:ea typeface="Aptos"/>
                          <a:cs typeface="Aptos"/>
                        </a:rPr>
                        <a:t>UniMoral factor</a:t>
                      </a:r>
                    </a:p>
                    <a:p>
                      <a:r>
                        <a:rPr sz="975">
                          <a:solidFill>
                            <a:srgbClr val="17212B"/>
                          </a:solidFill>
                          <a:latin typeface="Aptos"/>
                          <a:ea typeface="Aptos"/>
                          <a:cs typeface="Aptos"/>
                        </a:rPr>
                        <a:t>Pick a top-rated factor for the recorded choice</a:t>
                      </a:r>
                    </a:p>
                  </a:txBody>
                  <a:tcPr marL="114300" marR="1143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75">
                          <a:solidFill>
                            <a:srgbClr val="17212B"/>
                          </a:solidFill>
                          <a:latin typeface="Aptos"/>
                          <a:ea typeface="Aptos"/>
                          <a:cs typeface="Aptos"/>
                        </a:rPr>
                        <a:t>.609</a:t>
                      </a:r>
                    </a:p>
                  </a:txBody>
                  <a:tcPr marL="114300" marR="114300" marT="66675" marB="6667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75">
                          <a:solidFill>
                            <a:srgbClr val="17212B"/>
                          </a:solidFill>
                          <a:latin typeface="Aptos"/>
                          <a:ea typeface="Aptos"/>
                          <a:cs typeface="Aptos"/>
                        </a:rPr>
                        <a:t>Accuracy</a:t>
                      </a:r>
                    </a:p>
                  </a:txBody>
                  <a:tcPr marL="114300" marR="114300" marT="66675" marB="6667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75" b="1">
                          <a:solidFill>
                            <a:srgbClr val="17212B"/>
                          </a:solidFill>
                          <a:latin typeface="Aptos"/>
                          <a:ea typeface="Aptos"/>
                          <a:cs typeface="Aptos"/>
                        </a:rPr>
                        <a:t>Claude Haiku 4.5</a:t>
                      </a:r>
                    </a:p>
                  </a:txBody>
                  <a:tcPr marL="114300" marR="114300" marT="66675" marB="66675">
                    <a:solidFill>
                      <a:srgbClr val="FFFFFF"/>
                    </a:solidFill>
                  </a:tcPr>
                </a:tc>
              </a:tr>
              <a:tr h="455083"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7212B"/>
                          </a:solidFill>
                          <a:latin typeface="Aptos"/>
                          <a:ea typeface="Aptos"/>
                          <a:cs typeface="Aptos"/>
                        </a:rPr>
                        <a:t>UniMoral consequence</a:t>
                      </a:r>
                    </a:p>
                    <a:p>
                      <a:r>
                        <a:rPr sz="975">
                          <a:solidFill>
                            <a:srgbClr val="17212B"/>
                          </a:solidFill>
                          <a:latin typeface="Aptos"/>
                          <a:ea typeface="Aptos"/>
                          <a:cs typeface="Aptos"/>
                        </a:rPr>
                        <a:t>Write what could happen next</a:t>
                      </a:r>
                    </a:p>
                  </a:txBody>
                  <a:tcPr marL="114300" marR="1143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75">
                          <a:solidFill>
                            <a:srgbClr val="17212B"/>
                          </a:solidFill>
                          <a:latin typeface="Aptos"/>
                          <a:ea typeface="Aptos"/>
                          <a:cs typeface="Aptos"/>
                        </a:rPr>
                        <a:t>.152</a:t>
                      </a:r>
                    </a:p>
                  </a:txBody>
                  <a:tcPr marL="114300" marR="114300" marT="66675" marB="6667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75">
                          <a:solidFill>
                            <a:srgbClr val="17212B"/>
                          </a:solidFill>
                          <a:latin typeface="Aptos"/>
                          <a:ea typeface="Aptos"/>
                          <a:cs typeface="Aptos"/>
                        </a:rPr>
                        <a:t>Text-match score</a:t>
                      </a:r>
                    </a:p>
                  </a:txBody>
                  <a:tcPr marL="114300" marR="114300" marT="66675" marB="6667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75" b="1">
                          <a:solidFill>
                            <a:srgbClr val="17212B"/>
                          </a:solidFill>
                          <a:latin typeface="Aptos"/>
                          <a:ea typeface="Aptos"/>
                          <a:cs typeface="Aptos"/>
                        </a:rPr>
                        <a:t>Claude Opus 4.8</a:t>
                      </a:r>
                    </a:p>
                  </a:txBody>
                  <a:tcPr marL="114300" marR="114300" marT="66675" marB="66675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8DD7EDE-F52A-41E6-B2E1-5F35C6CB7E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5905500"/>
            <a:ext cx="10287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CF5D4A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CF5D4A"/>
                </a:solidFill>
                <a:latin typeface="Aptos"/>
                <a:ea typeface="Aptos"/>
                <a:cs typeface="Aptos"/>
              </a:rPr>
              <a:t>† Every 95% range overlaps on both MoralBench comparison tasks. The apparent leaders are unresolved.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7F97706-3849-4E85-95B4-44907F167D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6210300"/>
            <a:ext cx="10287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91111"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66727E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66727E"/>
                </a:solidFill>
                <a:latin typeface="Aptos"/>
                <a:ea typeface="Aptos"/>
                <a:cs typeface="Aptos"/>
              </a:rPr>
              <a:t>Each task uses its own score. Do not compare numbers from different rows.</a:t>
            </a:r>
          </a:p>
        </p:txBody>
      </p:sp>
    </p:spTree>
    <p:extLst>
      <p:ext uri="{BB962C8B-B14F-4D97-AF65-F5344CB8AC3E}">
        <p14:creationId xmlns:p14="http://schemas.microsoft.com/office/powerpoint/2010/main" val="1755956548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7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slide-title">
            <a:extLst xmlns:a="http://schemas.openxmlformats.org/drawingml/2006/main">
              <a:ext uri="{FF2B5EF4-FFF2-40B4-BE49-F238E27FC236}">
                <a16:creationId xmlns:a16="http://schemas.microsoft.com/office/drawing/2014/main" id="{2607AA0D-9E2E-4261-9530-FC0825E25E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42900"/>
            <a:ext cx="108204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95546"/>
          </a:bodyPr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17212B"/>
                </a:solidFill>
                <a:latin typeface="Aptos"/>
                <a:ea typeface="Aptos"/>
                <a:cs typeface="Aptos"/>
              </a:defRPr>
            </a:pPr>
            <a:r>
              <a:rPr sz="2700" b="1">
                <a:solidFill>
                  <a:srgbClr val="17212B"/>
                </a:solidFill>
                <a:latin typeface="Aptos"/>
                <a:ea typeface="Aptos"/>
                <a:cs typeface="Aptos"/>
              </a:rPr>
              <a:t>MoralBench: each pair of models has overlapping 95% score ranges</a:t>
            </a:r>
          </a:p>
        </p:txBody>
      </p:sp>
      <p:sp>
        <p:nvSpPr>
          <p:cNvPr id="2" name="slide-subtitle">
            <a:extLst xmlns:a="http://schemas.openxmlformats.org/drawingml/2006/main">
              <a:ext uri="{FF2B5EF4-FFF2-40B4-BE49-F238E27FC236}">
                <a16:creationId xmlns:a16="http://schemas.microsoft.com/office/drawing/2014/main" id="{85BA3555-5F82-4BC2-B96E-6E7EE4D855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942975"/>
            <a:ext cx="10096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66727E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66727E"/>
                </a:solidFill>
                <a:latin typeface="Aptos"/>
                <a:ea typeface="Aptos"/>
                <a:cs typeface="Aptos"/>
              </a:rPr>
              <a:t>CEI local result. MFQ uses 8 models and 20 questions. Vignettes use 10 models and 24 questions.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828ED08-D599-4894-9AC0-2768D8713F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52550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D9D5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3262D1B-8147-43B6-89BD-C89509D0B4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1905000"/>
            <a:ext cx="4381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88406"/>
          </a:bodyPr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17212B"/>
                </a:solidFill>
                <a:latin typeface="Aptos"/>
                <a:ea typeface="Aptos"/>
                <a:cs typeface="Aptos"/>
              </a:defRPr>
            </a:pPr>
            <a:r>
              <a:rPr sz="1725" b="1">
                <a:solidFill>
                  <a:srgbClr val="17212B"/>
                </a:solidFill>
                <a:latin typeface="Aptos"/>
                <a:ea typeface="Aptos"/>
                <a:cs typeface="Aptos"/>
              </a:rPr>
              <a:t>MFQ value statements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491B9BB-944C-4BDE-BE4F-6B6D80DCA8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400300"/>
            <a:ext cx="43815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4350" b="1">
                <a:solidFill>
                  <a:srgbClr val="CF5D4A"/>
                </a:solidFill>
                <a:latin typeface="Aptos"/>
                <a:ea typeface="Aptos"/>
                <a:cs typeface="Aptos"/>
              </a:defRPr>
            </a:pPr>
            <a:r>
              <a:rPr sz="4350" b="1">
                <a:solidFill>
                  <a:srgbClr val="CF5D4A"/>
                </a:solidFill>
                <a:latin typeface="Aptos"/>
                <a:ea typeface="Aptos"/>
                <a:cs typeface="Aptos"/>
              </a:rPr>
              <a:t>28 / 28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0766F2A-3E88-4AA5-A04A-FFD03B3B54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3257550"/>
            <a:ext cx="4381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17212B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7212B"/>
                </a:solidFill>
                <a:latin typeface="Aptos"/>
                <a:ea typeface="Aptos"/>
                <a:cs typeface="Aptos"/>
              </a:rPr>
              <a:t>model pairs have overlapping 95% score ranges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F72F27C-4F6B-4C5A-9116-416F6EAF9A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1905000"/>
            <a:ext cx="4381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88406"/>
          </a:bodyPr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17212B"/>
                </a:solidFill>
                <a:latin typeface="Aptos"/>
                <a:ea typeface="Aptos"/>
                <a:cs typeface="Aptos"/>
              </a:defRPr>
            </a:pPr>
            <a:r>
              <a:rPr sz="1725" b="1">
                <a:solidFill>
                  <a:srgbClr val="17212B"/>
                </a:solidFill>
                <a:latin typeface="Aptos"/>
                <a:ea typeface="Aptos"/>
                <a:cs typeface="Aptos"/>
              </a:rPr>
              <a:t>Moral vignettes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2D11D44-17E2-41F8-B0A4-C6F57EF85D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2400300"/>
            <a:ext cx="43815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4350" b="1">
                <a:solidFill>
                  <a:srgbClr val="CF5D4A"/>
                </a:solidFill>
                <a:latin typeface="Aptos"/>
                <a:ea typeface="Aptos"/>
                <a:cs typeface="Aptos"/>
              </a:defRPr>
            </a:pPr>
            <a:r>
              <a:rPr sz="4350" b="1">
                <a:solidFill>
                  <a:srgbClr val="CF5D4A"/>
                </a:solidFill>
                <a:latin typeface="Aptos"/>
                <a:ea typeface="Aptos"/>
                <a:cs typeface="Aptos"/>
              </a:rPr>
              <a:t>45 / 45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6DA6278-CFBA-41B7-B7A1-6431C11745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3257550"/>
            <a:ext cx="4381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17212B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7212B"/>
                </a:solidFill>
                <a:latin typeface="Aptos"/>
                <a:ea typeface="Aptos"/>
                <a:cs typeface="Aptos"/>
              </a:rPr>
              <a:t>model pairs have overlapping 95% score ranges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C45DAAF-6647-44F1-8487-24A5DBBC59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1952625"/>
            <a:ext cx="0" cy="166687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D8D9D5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14274BA-EACF-4D10-AAD2-2A46F9E241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4343400"/>
            <a:ext cx="9906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025" b="1">
                <a:solidFill>
                  <a:srgbClr val="17212B"/>
                </a:solidFill>
                <a:latin typeface="Aptos"/>
                <a:ea typeface="Aptos"/>
                <a:cs typeface="Aptos"/>
              </a:defRPr>
            </a:pPr>
            <a:r>
              <a:rPr sz="2025" b="1">
                <a:solidFill>
                  <a:srgbClr val="17212B"/>
                </a:solidFill>
                <a:latin typeface="Aptos"/>
                <a:ea typeface="Aptos"/>
                <a:cs typeface="Aptos"/>
              </a:rPr>
              <a:t>These saved results do not separate a leader.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B85B8C8-A80F-4148-91CF-15B59C1C9A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4972050"/>
            <a:ext cx="99060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00" b="0">
                <a:solidFill>
                  <a:srgbClr val="66727E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66727E"/>
                </a:solidFill>
                <a:latin typeface="Aptos"/>
                <a:ea typeface="Aptos"/>
                <a:cs typeface="Aptos"/>
              </a:rPr>
              <a:t>The ranges are not a direct model-pair test. Question-level scores and stronger uncertainty estimates are unavailable.</a:t>
            </a:r>
          </a:p>
        </p:txBody>
      </p:sp>
    </p:spTree>
    <p:extLst>
      <p:ext uri="{BB962C8B-B14F-4D97-AF65-F5344CB8AC3E}">
        <p14:creationId xmlns:p14="http://schemas.microsoft.com/office/powerpoint/2010/main" val="2095798075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7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slide-title">
            <a:extLst xmlns:a="http://schemas.openxmlformats.org/drawingml/2006/main">
              <a:ext uri="{FF2B5EF4-FFF2-40B4-BE49-F238E27FC236}">
                <a16:creationId xmlns:a16="http://schemas.microsoft.com/office/drawing/2014/main" id="{7904BB10-7F8C-4BF1-A4D6-3ACD80AF3E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42900"/>
            <a:ext cx="108204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17212B"/>
                </a:solidFill>
                <a:latin typeface="Aptos"/>
                <a:ea typeface="Aptos"/>
                <a:cs typeface="Aptos"/>
              </a:defRPr>
            </a:pPr>
            <a:r>
              <a:rPr sz="2700" b="1">
                <a:solidFill>
                  <a:srgbClr val="17212B"/>
                </a:solidFill>
                <a:latin typeface="Aptos"/>
                <a:ea typeface="Aptos"/>
                <a:cs typeface="Aptos"/>
              </a:rPr>
              <a:t>UniMoral: only 4 of 12 family and task comparisons rise twice</a:t>
            </a:r>
          </a:p>
        </p:txBody>
      </p:sp>
      <p:sp>
        <p:nvSpPr>
          <p:cNvPr id="2" name="slide-subtitle">
            <a:extLst xmlns:a="http://schemas.openxmlformats.org/drawingml/2006/main">
              <a:ext uri="{FF2B5EF4-FFF2-40B4-BE49-F238E27FC236}">
                <a16:creationId xmlns:a16="http://schemas.microsoft.com/office/drawing/2014/main" id="{75F57E81-46AE-4F96-B4DB-AA32AA51DE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942975"/>
            <a:ext cx="10096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66727E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66727E"/>
                </a:solidFill>
                <a:latin typeface="Aptos"/>
                <a:ea typeface="Aptos"/>
                <a:cs typeface="Aptos"/>
              </a:rPr>
              <a:t>Exploratory CEI result. Each comparison follows one model family on one task across three sizes.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15764BE-942B-461C-91DB-1C04D5CFCC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52550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D9D5"/>
            </a:solidFill>
            <a:prstDash val="solid"/>
          </a:ln>
        </p:spPr>
      </p:sp>
      <p:graphicFrame>
        <p:nvGraphicFramePr>
          <p:cNvPr id="11" name="Chart"/>
          <p:cNvGraphicFramePr/>
          <p:nvPr/>
        </p:nvGraphicFramePr>
        <p:xfrm>
          <a:off xmlns:a="http://schemas.openxmlformats.org/drawingml/2006/main" x="1428750" y="1809750"/>
          <a:ext xmlns:a="http://schemas.openxmlformats.org/drawingml/2006/main" cx="9334500" cy="31432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b531920521f94bde"/>
          </a:graphicData>
        </a:graphic>
      </p:graphicFrame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D02CD9C-3363-47FD-B17A-0F49707214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5010150"/>
            <a:ext cx="857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85714"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66727E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66727E"/>
                </a:solidFill>
                <a:latin typeface="Aptos"/>
                <a:ea typeface="Aptos"/>
                <a:cs typeface="Aptos"/>
              </a:rPr>
              <a:t>Each bar counts one model family on one task across three saved sizes.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DB7B3AF-8468-40CB-B6F7-13AF532ECD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5410200"/>
            <a:ext cx="8191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97436"/>
          </a:bodyPr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17212B"/>
                </a:solidFill>
                <a:latin typeface="Aptos"/>
                <a:ea typeface="Aptos"/>
                <a:cs typeface="Aptos"/>
              </a:defRPr>
            </a:pPr>
            <a:r>
              <a:rPr sz="1950" b="1">
                <a:solidFill>
                  <a:srgbClr val="17212B"/>
                </a:solidFill>
                <a:latin typeface="Aptos"/>
                <a:ea typeface="Aptos"/>
                <a:cs typeface="Aptos"/>
              </a:rPr>
              <a:t>4 rise twice · 7 change direction · 1 falls twice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06367B2-FC78-4D09-A8C7-75CEEBD61E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5886450"/>
            <a:ext cx="8763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66727E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66727E"/>
                </a:solidFill>
                <a:latin typeface="Aptos"/>
                <a:ea typeface="Aptos"/>
                <a:cs typeface="Aptos"/>
              </a:rPr>
              <a:t>This is exploratory. Model versions also differ in training and release, and no confidence ranges were saved.</a:t>
            </a:r>
          </a:p>
        </p:txBody>
      </p:sp>
    </p:spTree>
    <p:extLst>
      <p:ext uri="{BB962C8B-B14F-4D97-AF65-F5344CB8AC3E}">
        <p14:creationId xmlns:p14="http://schemas.microsoft.com/office/powerpoint/2010/main" val="78929185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7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slide-title">
            <a:extLst xmlns:a="http://schemas.openxmlformats.org/drawingml/2006/main">
              <a:ext uri="{FF2B5EF4-FFF2-40B4-BE49-F238E27FC236}">
                <a16:creationId xmlns:a16="http://schemas.microsoft.com/office/drawing/2014/main" id="{D3C3173E-9EB5-4005-BA66-C29AB1646E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42900"/>
            <a:ext cx="108204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17212B"/>
                </a:solidFill>
                <a:latin typeface="Aptos"/>
                <a:ea typeface="Aptos"/>
                <a:cs typeface="Aptos"/>
              </a:defRPr>
            </a:pPr>
            <a:r>
              <a:rPr sz="2700" b="1">
                <a:solidFill>
                  <a:srgbClr val="17212B"/>
                </a:solidFill>
                <a:latin typeface="Aptos"/>
                <a:ea typeface="Aptos"/>
                <a:cs typeface="Aptos"/>
              </a:rPr>
              <a:t>UniMoral Gemma: factor rises while typology falls</a:t>
            </a:r>
          </a:p>
        </p:txBody>
      </p:sp>
      <p:sp>
        <p:nvSpPr>
          <p:cNvPr id="2" name="slide-subtitle">
            <a:extLst xmlns:a="http://schemas.openxmlformats.org/drawingml/2006/main">
              <a:ext uri="{FF2B5EF4-FFF2-40B4-BE49-F238E27FC236}">
                <a16:creationId xmlns:a16="http://schemas.microsoft.com/office/drawing/2014/main" id="{2FED5523-95F7-4DFD-959F-4C645EF4EC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942975"/>
            <a:ext cx="10096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66727E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66727E"/>
                </a:solidFill>
                <a:latin typeface="Aptos"/>
                <a:ea typeface="Aptos"/>
                <a:cs typeface="Aptos"/>
              </a:rPr>
              <a:t>Exploratory CEI result. Gemma 3 at 4B, 12B, and 27B; the vertical axis is zoomed.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3630F9E-9906-41A1-BC2A-6F4F57E245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52550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D9D5"/>
            </a:solidFill>
            <a:prstDash val="solid"/>
          </a:ln>
        </p:spPr>
      </p:sp>
      <p:graphicFrame>
        <p:nvGraphicFramePr>
          <p:cNvPr id="10" name="Chart"/>
          <p:cNvGraphicFramePr/>
          <p:nvPr/>
        </p:nvGraphicFramePr>
        <p:xfrm>
          <a:off xmlns:a="http://schemas.openxmlformats.org/drawingml/2006/main" x="1000125" y="1714500"/>
          <a:ext xmlns:a="http://schemas.openxmlformats.org/drawingml/2006/main" cx="10191750" cy="39052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f80668fadf964e24"/>
          </a:graphicData>
        </a:graphic>
      </p:graphicFrame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3A6855A-702B-4A6F-A7AC-BDC8B83451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5829300"/>
            <a:ext cx="6953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96825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7212B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17212B"/>
                </a:solidFill>
                <a:latin typeface="Aptos"/>
                <a:ea typeface="Aptos"/>
                <a:cs typeface="Aptos"/>
              </a:rPr>
              <a:t>4B to 27B: factor accuracy +.034 · moral typology accuracy −.027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9F9C676-98FD-4569-AD93-C0BDE1A91F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6191250"/>
            <a:ext cx="8763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91111"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66727E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66727E"/>
                </a:solidFill>
                <a:latin typeface="Aptos"/>
                <a:ea typeface="Aptos"/>
                <a:cs typeface="Aptos"/>
              </a:rPr>
              <a:t>Each point is one saved task score. No uncertainty range or raw run archive is available.</a:t>
            </a:r>
          </a:p>
        </p:txBody>
      </p:sp>
    </p:spTree>
    <p:extLst>
      <p:ext uri="{BB962C8B-B14F-4D97-AF65-F5344CB8AC3E}">
        <p14:creationId xmlns:p14="http://schemas.microsoft.com/office/powerpoint/2010/main" val="130397183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7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slide-title">
            <a:extLst xmlns:a="http://schemas.openxmlformats.org/drawingml/2006/main">
              <a:ext uri="{FF2B5EF4-FFF2-40B4-BE49-F238E27FC236}">
                <a16:creationId xmlns:a16="http://schemas.microsoft.com/office/drawing/2014/main" id="{B5E11E43-188D-4FE3-B825-47E94818E6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42900"/>
            <a:ext cx="108204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17212B"/>
                </a:solidFill>
                <a:latin typeface="Aptos"/>
                <a:ea typeface="Aptos"/>
                <a:cs typeface="Aptos"/>
              </a:defRPr>
            </a:pPr>
            <a:r>
              <a:rPr sz="2700" b="1">
                <a:solidFill>
                  <a:srgbClr val="17212B"/>
                </a:solidFill>
                <a:latin typeface="Aptos"/>
                <a:ea typeface="Aptos"/>
                <a:cs typeface="Aptos"/>
              </a:rPr>
              <a:t>UniMoral releases: Qwen rises on 3 tasks, DeepSeek on 2</a:t>
            </a:r>
          </a:p>
        </p:txBody>
      </p:sp>
      <p:sp>
        <p:nvSpPr>
          <p:cNvPr id="2" name="slide-subtitle">
            <a:extLst xmlns:a="http://schemas.openxmlformats.org/drawingml/2006/main">
              <a:ext uri="{FF2B5EF4-FFF2-40B4-BE49-F238E27FC236}">
                <a16:creationId xmlns:a16="http://schemas.microsoft.com/office/drawing/2014/main" id="{E95607A9-D866-4015-8400-84B7AA5C08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942975"/>
            <a:ext cx="10096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66727E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66727E"/>
                </a:solidFill>
                <a:latin typeface="Aptos"/>
                <a:ea typeface="Aptos"/>
                <a:cs typeface="Aptos"/>
              </a:rPr>
              <a:t>Exploratory CEI result. Later score minus earlier score; consequence uses text match.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16D1F50-E693-4AE9-A27B-C12E10218B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52550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D9D5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DE85BB6-1191-4C3B-89B1-85AE145BBC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1504950"/>
            <a:ext cx="9525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97619"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4856D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4856D"/>
                </a:solidFill>
                <a:latin typeface="Aptos"/>
                <a:ea typeface="Aptos"/>
                <a:cs typeface="Aptos"/>
              </a:rPr>
              <a:t>Qwen: Qwen2.5 7B Instruct · 2024-09-19 · 7.61B total to Qwen3.5 9B · 2026-02-27 · 9B total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2A7A7D8-D7C1-4144-BC86-DE5546CD48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1771650"/>
            <a:ext cx="10096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97619"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6E5AA8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6E5AA8"/>
                </a:solidFill>
                <a:latin typeface="Aptos"/>
                <a:ea typeface="Aptos"/>
                <a:cs typeface="Aptos"/>
              </a:rPr>
              <a:t>DeepSeek: V3-0324 · 2025-03-24 · 671B main / 37B active to V4 Flash · 2026-04-22 · 284B main / 13B active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632F23B-0B22-4ECD-9208-F07DA9202F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019300"/>
            <a:ext cx="9334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72222"/>
          </a:bodyPr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66727E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66727E"/>
                </a:solidFill>
                <a:latin typeface="Aptos"/>
                <a:ea typeface="Aptos"/>
                <a:cs typeface="Aptos"/>
              </a:rPr>
              <a:t>DeepSeek labels show published main-model B and active B used per token.</a:t>
            </a:r>
          </a:p>
        </p:txBody>
      </p:sp>
      <p:graphicFrame>
        <p:nvGraphicFramePr>
          <p:cNvPr id="17" name="Chart"/>
          <p:cNvGraphicFramePr/>
          <p:nvPr/>
        </p:nvGraphicFramePr>
        <p:xfrm>
          <a:off xmlns:a="http://schemas.openxmlformats.org/drawingml/2006/main" x="1143000" y="2266950"/>
          <a:ext xmlns:a="http://schemas.openxmlformats.org/drawingml/2006/main" cx="9810750" cy="29527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bac13fd76fa54d71"/>
          </a:graphicData>
        </a:graphic>
      </p:graphicFrame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6674F48-3D20-4027-985B-E3FE99FE0D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5334000"/>
            <a:ext cx="9810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85185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7212B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17212B"/>
                </a:solidFill>
                <a:latin typeface="Aptos"/>
                <a:ea typeface="Aptos"/>
                <a:cs typeface="Aptos"/>
              </a:rPr>
              <a:t>Across all 4 tasks: Qwen is higher on 3 and lower on 1. DeepSeek is higher on 2 and lower on 2.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7258007-1DB2-4EDB-BFA7-064F12D9F4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5619750"/>
            <a:ext cx="9810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85417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CF5D4A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CF5D4A"/>
                </a:solidFill>
                <a:latin typeface="Aptos"/>
                <a:ea typeface="Aptos"/>
                <a:cs typeface="Aptos"/>
              </a:rPr>
              <a:t>Separate metric · Consequence text match (METEOR): Qwen −.027 · DeepSeek +.019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214439B-9CCE-4E26-96CC-641D0D6D1C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5981700"/>
            <a:ext cx="9810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66727E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66727E"/>
                </a:solidFill>
                <a:latin typeface="Aptos"/>
                <a:ea typeface="Aptos"/>
                <a:cs typeface="Aptos"/>
              </a:rPr>
              <a:t>All scores were tested 28–29 May 2026. Release date describes the model, not the test date. No uncertainty ranges were saved.</a:t>
            </a:r>
          </a:p>
        </p:txBody>
      </p:sp>
    </p:spTree>
    <p:extLst>
      <p:ext uri="{BB962C8B-B14F-4D97-AF65-F5344CB8AC3E}">
        <p14:creationId xmlns:p14="http://schemas.microsoft.com/office/powerpoint/2010/main" val="569376836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7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slide-title">
            <a:extLst xmlns:a="http://schemas.openxmlformats.org/drawingml/2006/main">
              <a:ext uri="{FF2B5EF4-FFF2-40B4-BE49-F238E27FC236}">
                <a16:creationId xmlns:a16="http://schemas.microsoft.com/office/drawing/2014/main" id="{DB10F2EB-6CF6-4B1B-9655-7D3641FE05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42900"/>
            <a:ext cx="108204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17212B"/>
                </a:solidFill>
                <a:latin typeface="Aptos"/>
                <a:ea typeface="Aptos"/>
                <a:cs typeface="Aptos"/>
              </a:defRPr>
            </a:pPr>
            <a:r>
              <a:rPr sz="2700" b="1">
                <a:solidFill>
                  <a:srgbClr val="17212B"/>
                </a:solidFill>
                <a:latin typeface="Aptos"/>
                <a:ea typeface="Aptos"/>
                <a:cs typeface="Aptos"/>
              </a:rPr>
              <a:t>How the local tests relate to five papers</a:t>
            </a:r>
          </a:p>
        </p:txBody>
      </p:sp>
      <p:sp>
        <p:nvSpPr>
          <p:cNvPr id="2" name="slide-subtitle">
            <a:extLst xmlns:a="http://schemas.openxmlformats.org/drawingml/2006/main">
              <a:ext uri="{FF2B5EF4-FFF2-40B4-BE49-F238E27FC236}">
                <a16:creationId xmlns:a16="http://schemas.microsoft.com/office/drawing/2014/main" id="{3F8257F8-879D-4FEA-9C10-3B648961EB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942975"/>
            <a:ext cx="10096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66727E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66727E"/>
                </a:solidFill>
                <a:latin typeface="Aptos"/>
                <a:ea typeface="Aptos"/>
                <a:cs typeface="Aptos"/>
              </a:rPr>
              <a:t>MoralBench, UniMoral, MoReBench, MoralLens, and Value Kaleidoscope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CF00064-7CE6-4798-AE1E-9EA189443E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52550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D9D5"/>
            </a:solidFill>
            <a:prstDash val="solid"/>
          </a:ln>
        </p:spPr>
      </p:sp>
      <p:graphicFrame>
        <p:nvGraphicFramePr>
          <p:cNvPr id="9" name=""/>
          <p:cNvGraphicFramePr/>
          <p:nvPr/>
        </p:nvGraphicFramePr>
        <p:xfrm>
          <a:off xmlns:a="http://schemas.openxmlformats.org/drawingml/2006/main" x="781050" y="1657350"/>
          <a:ext xmlns:a="http://schemas.openxmlformats.org/drawingml/2006/main" cx="10629900" cy="382905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2000250"/>
                <a:gridCol w="5619750"/>
                <a:gridCol w="3009900"/>
              </a:tblGrid>
              <a:tr h="638175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Paper</a:t>
                      </a:r>
                    </a:p>
                  </a:txBody>
                  <a:tcPr marL="114300" marR="114300" marT="66675" marB="66675">
                    <a:solidFill>
                      <a:srgbClr val="6E5AA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What it asks</a:t>
                      </a:r>
                    </a:p>
                  </a:txBody>
                  <a:tcPr marL="114300" marR="114300" marT="66675" marB="66675">
                    <a:solidFill>
                      <a:srgbClr val="6E5AA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Closest local evidence</a:t>
                      </a:r>
                    </a:p>
                  </a:txBody>
                  <a:tcPr marL="114300" marR="114300" marT="66675" marB="66675">
                    <a:solidFill>
                      <a:srgbClr val="6E5AA8"/>
                    </a:solidFill>
                  </a:tcPr>
                </a:tc>
              </a:tr>
              <a:tr h="638175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17212B"/>
                          </a:solidFill>
                          <a:latin typeface="Aptos"/>
                          <a:ea typeface="Aptos"/>
                          <a:cs typeface="Aptos"/>
                        </a:rPr>
                        <a:t>MoralBench</a:t>
                      </a:r>
                    </a:p>
                  </a:txBody>
                  <a:tcPr marL="114300" marR="114300" marT="66675" marB="6667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7212B"/>
                          </a:solidFill>
                          <a:latin typeface="Aptos"/>
                          <a:ea typeface="Aptos"/>
                          <a:cs typeface="Aptos"/>
                        </a:rPr>
                        <a:t>Do model choices match human ratings?</a:t>
                      </a:r>
                    </a:p>
                  </a:txBody>
                  <a:tcPr marL="114300" marR="114300" marT="66675" marB="6667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7212B"/>
                          </a:solidFill>
                          <a:latin typeface="Aptos"/>
                          <a:ea typeface="Aptos"/>
                          <a:cs typeface="Aptos"/>
                        </a:rPr>
                        <a:t>Related tasks, different setup</a:t>
                      </a:r>
                    </a:p>
                  </a:txBody>
                  <a:tcPr marL="114300" marR="114300" marT="66675" marB="66675">
                    <a:solidFill>
                      <a:srgbClr val="FFFFFF"/>
                    </a:solidFill>
                  </a:tcPr>
                </a:tc>
              </a:tr>
              <a:tr h="638175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17212B"/>
                          </a:solidFill>
                          <a:latin typeface="Aptos"/>
                          <a:ea typeface="Aptos"/>
                          <a:cs typeface="Aptos"/>
                        </a:rPr>
                        <a:t>UniMoral</a:t>
                      </a:r>
                    </a:p>
                  </a:txBody>
                  <a:tcPr marL="114300" marR="114300" marT="66675" marB="6667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7212B"/>
                          </a:solidFill>
                          <a:latin typeface="Aptos"/>
                          <a:ea typeface="Aptos"/>
                          <a:cs typeface="Aptos"/>
                        </a:rPr>
                        <a:t>Can models predict actions, types, factors, and consequences?</a:t>
                      </a:r>
                    </a:p>
                  </a:txBody>
                  <a:tcPr marL="114300" marR="114300" marT="66675" marB="6667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7212B"/>
                          </a:solidFill>
                          <a:latin typeface="Aptos"/>
                          <a:ea typeface="Aptos"/>
                          <a:cs typeface="Aptos"/>
                        </a:rPr>
                        <a:t>Narrower versions of four tasks</a:t>
                      </a:r>
                    </a:p>
                  </a:txBody>
                  <a:tcPr marL="114300" marR="114300" marT="66675" marB="66675">
                    <a:solidFill>
                      <a:srgbClr val="FFFFFF"/>
                    </a:solidFill>
                  </a:tcPr>
                </a:tc>
              </a:tr>
              <a:tr h="638175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17212B"/>
                          </a:solidFill>
                          <a:latin typeface="Aptos"/>
                          <a:ea typeface="Aptos"/>
                          <a:cs typeface="Aptos"/>
                        </a:rPr>
                        <a:t>MoReBench</a:t>
                      </a:r>
                    </a:p>
                  </a:txBody>
                  <a:tcPr marL="114300" marR="114300" marT="66675" marB="6667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7212B"/>
                          </a:solidFill>
                          <a:latin typeface="Aptos"/>
                          <a:ea typeface="Aptos"/>
                          <a:cs typeface="Aptos"/>
                        </a:rPr>
                        <a:t>Does reasoning meet expert criteria?</a:t>
                      </a:r>
                    </a:p>
                  </a:txBody>
                  <a:tcPr marL="114300" marR="114300" marT="66675" marB="6667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7212B"/>
                          </a:solidFill>
                          <a:latin typeface="Aptos"/>
                          <a:ea typeface="Aptos"/>
                          <a:cs typeface="Aptos"/>
                        </a:rPr>
                        <a:t>Keyword check only</a:t>
                      </a:r>
                    </a:p>
                  </a:txBody>
                  <a:tcPr marL="114300" marR="114300" marT="66675" marB="66675">
                    <a:solidFill>
                      <a:srgbClr val="FFFFFF"/>
                    </a:solidFill>
                  </a:tcPr>
                </a:tc>
              </a:tr>
              <a:tr h="638175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17212B"/>
                          </a:solidFill>
                          <a:latin typeface="Aptos"/>
                          <a:ea typeface="Aptos"/>
                          <a:cs typeface="Aptos"/>
                        </a:rPr>
                        <a:t>MoralLens</a:t>
                      </a:r>
                    </a:p>
                  </a:txBody>
                  <a:tcPr marL="114300" marR="114300" marT="66675" marB="6667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7212B"/>
                          </a:solidFill>
                          <a:latin typeface="Aptos"/>
                          <a:ea typeface="Aptos"/>
                          <a:cs typeface="Aptos"/>
                        </a:rPr>
                        <a:t>Does reasoning order change reasons and choices?</a:t>
                      </a:r>
                    </a:p>
                  </a:txBody>
                  <a:tcPr marL="114300" marR="114300" marT="66675" marB="6667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7212B"/>
                          </a:solidFill>
                          <a:latin typeface="Aptos"/>
                          <a:ea typeface="Aptos"/>
                          <a:cs typeface="Aptos"/>
                        </a:rPr>
                        <a:t>Keyword check only</a:t>
                      </a:r>
                    </a:p>
                  </a:txBody>
                  <a:tcPr marL="114300" marR="114300" marT="66675" marB="66675">
                    <a:solidFill>
                      <a:srgbClr val="FFFFFF"/>
                    </a:solidFill>
                  </a:tcPr>
                </a:tc>
              </a:tr>
              <a:tr h="638175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17212B"/>
                          </a:solidFill>
                          <a:latin typeface="Aptos"/>
                          <a:ea typeface="Aptos"/>
                          <a:cs typeface="Aptos"/>
                        </a:rPr>
                        <a:t>Value Kaleidoscope</a:t>
                      </a:r>
                    </a:p>
                  </a:txBody>
                  <a:tcPr marL="114300" marR="114300" marT="66675" marB="6667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7212B"/>
                          </a:solidFill>
                          <a:latin typeface="Aptos"/>
                          <a:ea typeface="Aptos"/>
                          <a:cs typeface="Aptos"/>
                        </a:rPr>
                        <a:t>How do value tasks change with model size?</a:t>
                      </a:r>
                    </a:p>
                  </a:txBody>
                  <a:tcPr marL="114300" marR="114300" marT="66675" marB="6667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7212B"/>
                          </a:solidFill>
                          <a:latin typeface="Aptos"/>
                          <a:ea typeface="Aptos"/>
                          <a:cs typeface="Aptos"/>
                        </a:rPr>
                        <a:t>Different models and scoring</a:t>
                      </a:r>
                    </a:p>
                  </a:txBody>
                  <a:tcPr marL="114300" marR="114300" marT="66675" marB="66675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53E4184-9E5A-4794-B031-6328E2A4F4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5810250"/>
            <a:ext cx="104394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17212B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17212B"/>
                </a:solidFill>
                <a:latin typeface="Aptos"/>
                <a:ea typeface="Aptos"/>
                <a:cs typeface="Aptos"/>
              </a:rPr>
              <a:t>None of the five is reproduced exactly. Paper scores and local scores stay separate.</a:t>
            </a:r>
          </a:p>
        </p:txBody>
      </p:sp>
    </p:spTree>
    <p:extLst>
      <p:ext uri="{BB962C8B-B14F-4D97-AF65-F5344CB8AC3E}">
        <p14:creationId xmlns:p14="http://schemas.microsoft.com/office/powerpoint/2010/main" val="303030376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7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slide-title">
            <a:extLst xmlns:a="http://schemas.openxmlformats.org/drawingml/2006/main">
              <a:ext uri="{FF2B5EF4-FFF2-40B4-BE49-F238E27FC236}">
                <a16:creationId xmlns:a16="http://schemas.microsoft.com/office/drawing/2014/main" id="{F2D1AE2A-EBDD-4270-BA54-D971CDC955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42900"/>
            <a:ext cx="108204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17212B"/>
                </a:solidFill>
                <a:latin typeface="Aptos"/>
                <a:ea typeface="Aptos"/>
                <a:cs typeface="Aptos"/>
              </a:defRPr>
            </a:pPr>
            <a:r>
              <a:rPr sz="2700" b="1">
                <a:solidFill>
                  <a:srgbClr val="17212B"/>
                </a:solidFill>
                <a:latin typeface="Aptos"/>
                <a:ea typeface="Aptos"/>
                <a:cs typeface="Aptos"/>
              </a:rPr>
              <a:t>MoralBench and UniMoral: what we can report now</a:t>
            </a:r>
          </a:p>
        </p:txBody>
      </p:sp>
      <p:sp>
        <p:nvSpPr>
          <p:cNvPr id="2" name="slide-subtitle">
            <a:extLst xmlns:a="http://schemas.openxmlformats.org/drawingml/2006/main">
              <a:ext uri="{FF2B5EF4-FFF2-40B4-BE49-F238E27FC236}">
                <a16:creationId xmlns:a16="http://schemas.microsoft.com/office/drawing/2014/main" id="{CAF61687-0441-481E-BA7D-205FBA5331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942975"/>
            <a:ext cx="10096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66727E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66727E"/>
                </a:solidFill>
                <a:latin typeface="Aptos"/>
                <a:ea typeface="Aptos"/>
                <a:cs typeface="Aptos"/>
              </a:rPr>
              <a:t>Report the 8 task results now. Do not publish one overall model rank.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E812F55-67A6-4E03-958F-1987BAF4C2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52550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D9D5"/>
            </a:solidFill>
            <a:prstDash val="solid"/>
          </a:ln>
        </p:spPr>
      </p:sp>
      <p:graphicFrame>
        <p:nvGraphicFramePr>
          <p:cNvPr id="9" name=""/>
          <p:cNvGraphicFramePr/>
          <p:nvPr/>
        </p:nvGraphicFramePr>
        <p:xfrm>
          <a:off xmlns:a="http://schemas.openxmlformats.org/drawingml/2006/main" x="876300" y="1762125"/>
          <a:ext xmlns:a="http://schemas.openxmlformats.org/drawingml/2006/main" cx="10439400" cy="342900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2000250"/>
                <a:gridCol w="4095750"/>
                <a:gridCol w="4343400"/>
              </a:tblGrid>
              <a:tr h="68580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When</a:t>
                      </a:r>
                    </a:p>
                  </a:txBody>
                  <a:tcPr marL="114300" marR="114300" marT="66675" marB="66675">
                    <a:solidFill>
                      <a:srgbClr val="CF5D4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Action</a:t>
                      </a:r>
                    </a:p>
                  </a:txBody>
                  <a:tcPr marL="114300" marR="114300" marT="66675" marB="66675">
                    <a:solidFill>
                      <a:srgbClr val="CF5D4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Reason</a:t>
                      </a:r>
                    </a:p>
                  </a:txBody>
                  <a:tcPr marL="114300" marR="114300" marT="66675" marB="66675">
                    <a:solidFill>
                      <a:srgbClr val="CF5D4A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r>
                        <a:rPr sz="1350" b="1">
                          <a:solidFill>
                            <a:srgbClr val="17212B"/>
                          </a:solidFill>
                          <a:latin typeface="Aptos"/>
                          <a:ea typeface="Aptos"/>
                          <a:cs typeface="Aptos"/>
                        </a:rPr>
                        <a:t>Now</a:t>
                      </a:r>
                    </a:p>
                  </a:txBody>
                  <a:tcPr marL="114300" marR="114300" marT="66675" marB="6667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>
                          <a:solidFill>
                            <a:srgbClr val="17212B"/>
                          </a:solidFill>
                          <a:latin typeface="Aptos"/>
                          <a:ea typeface="Aptos"/>
                          <a:cs typeface="Aptos"/>
                        </a:rPr>
                        <a:t>Share each task result with its limits</a:t>
                      </a:r>
                    </a:p>
                  </a:txBody>
                  <a:tcPr marL="114300" marR="114300" marT="66675" marB="6667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>
                          <a:solidFill>
                            <a:srgbClr val="17212B"/>
                          </a:solidFill>
                          <a:latin typeface="Aptos"/>
                          <a:ea typeface="Aptos"/>
                          <a:cs typeface="Aptos"/>
                        </a:rPr>
                        <a:t>The saved results answer one task at a time</a:t>
                      </a:r>
                    </a:p>
                  </a:txBody>
                  <a:tcPr marL="114300" marR="114300" marT="66675" marB="66675">
                    <a:solidFill>
                      <a:srgbClr val="FFFFFF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r>
                        <a:rPr sz="1350" b="1">
                          <a:solidFill>
                            <a:srgbClr val="17212B"/>
                          </a:solidFill>
                          <a:latin typeface="Aptos"/>
                          <a:ea typeface="Aptos"/>
                          <a:cs typeface="Aptos"/>
                        </a:rPr>
                        <a:t>Next</a:t>
                      </a:r>
                    </a:p>
                  </a:txBody>
                  <a:tcPr marL="114300" marR="114300" marT="66675" marB="6667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>
                          <a:solidFill>
                            <a:srgbClr val="17212B"/>
                          </a:solidFill>
                          <a:latin typeface="Aptos"/>
                          <a:ea typeface="Aptos"/>
                          <a:cs typeface="Aptos"/>
                        </a:rPr>
                        <a:t>Restore each model's answer and score for every question</a:t>
                      </a:r>
                    </a:p>
                  </a:txBody>
                  <a:tcPr marL="114300" marR="114300" marT="66675" marB="6667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>
                          <a:solidFill>
                            <a:srgbClr val="17212B"/>
                          </a:solidFill>
                          <a:latin typeface="Aptos"/>
                          <a:ea typeface="Aptos"/>
                          <a:cs typeface="Aptos"/>
                        </a:rPr>
                        <a:t>This lets us compare models on the same questions</a:t>
                      </a:r>
                    </a:p>
                  </a:txBody>
                  <a:tcPr marL="114300" marR="114300" marT="66675" marB="66675">
                    <a:solidFill>
                      <a:srgbClr val="FFFFFF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r>
                        <a:rPr sz="1350" b="1">
                          <a:solidFill>
                            <a:srgbClr val="17212B"/>
                          </a:solidFill>
                          <a:latin typeface="Aptos"/>
                          <a:ea typeface="Aptos"/>
                          <a:cs typeface="Aptos"/>
                        </a:rPr>
                        <a:t>Then</a:t>
                      </a:r>
                    </a:p>
                  </a:txBody>
                  <a:tcPr marL="114300" marR="114300" marT="66675" marB="6667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>
                          <a:solidFill>
                            <a:srgbClr val="17212B"/>
                          </a:solidFill>
                          <a:latin typeface="Aptos"/>
                          <a:ea typeface="Aptos"/>
                          <a:cs typeface="Aptos"/>
                        </a:rPr>
                        <a:t>Check scoring and labels; have people review the test</a:t>
                      </a:r>
                    </a:p>
                  </a:txBody>
                  <a:tcPr marL="114300" marR="114300" marT="66675" marB="6667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>
                          <a:solidFill>
                            <a:srgbClr val="17212B"/>
                          </a:solidFill>
                          <a:latin typeface="Aptos"/>
                          <a:ea typeface="Aptos"/>
                          <a:cs typeface="Aptos"/>
                        </a:rPr>
                        <a:t>A benchmark score alone does not prove the test matches human judgment</a:t>
                      </a:r>
                    </a:p>
                  </a:txBody>
                  <a:tcPr marL="114300" marR="114300" marT="66675" marB="66675">
                    <a:solidFill>
                      <a:srgbClr val="FFFFFF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r>
                        <a:rPr sz="1350" b="1">
                          <a:solidFill>
                            <a:srgbClr val="17212B"/>
                          </a:solidFill>
                          <a:latin typeface="Aptos"/>
                          <a:ea typeface="Aptos"/>
                          <a:cs typeface="Aptos"/>
                        </a:rPr>
                        <a:t>Only if still unclear</a:t>
                      </a:r>
                    </a:p>
                  </a:txBody>
                  <a:tcPr marL="114300" marR="114300" marT="66675" marB="6667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>
                          <a:solidFill>
                            <a:srgbClr val="17212B"/>
                          </a:solidFill>
                          <a:latin typeface="Aptos"/>
                          <a:ea typeface="Aptos"/>
                          <a:cs typeface="Aptos"/>
                        </a:rPr>
                        <a:t>Add more comparison questions</a:t>
                      </a:r>
                    </a:p>
                  </a:txBody>
                  <a:tcPr marL="114300" marR="114300" marT="66675" marB="6667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>
                          <a:solidFill>
                            <a:srgbClr val="17212B"/>
                          </a:solidFill>
                          <a:latin typeface="Aptos"/>
                          <a:ea typeface="Aptos"/>
                          <a:cs typeface="Aptos"/>
                        </a:rPr>
                        <a:t>New questions help after the scoring works correctly</a:t>
                      </a:r>
                    </a:p>
                  </a:txBody>
                  <a:tcPr marL="114300" marR="114300" marT="66675" marB="66675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28D2625-3B31-44B9-8D82-161980ED88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5715000"/>
            <a:ext cx="104394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7212B"/>
                </a:solidFill>
                <a:latin typeface="Aptos"/>
                <a:ea typeface="Aptos"/>
                <a:cs typeface="Aptos"/>
              </a:defRPr>
            </a:pPr>
            <a:r>
              <a:rPr sz="1800" b="1">
                <a:solidFill>
                  <a:srgbClr val="17212B"/>
                </a:solidFill>
                <a:latin typeface="Aptos"/>
                <a:ea typeface="Aptos"/>
                <a:cs typeface="Aptos"/>
              </a:rPr>
              <a:t>Next: restore answers and scores, check scoring, compare models, and get human review.</a:t>
            </a:r>
          </a:p>
        </p:txBody>
      </p:sp>
    </p:spTree>
    <p:extLst>
      <p:ext uri="{BB962C8B-B14F-4D97-AF65-F5344CB8AC3E}">
        <p14:creationId xmlns:p14="http://schemas.microsoft.com/office/powerpoint/2010/main" val="1852628922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2026-09-05T00:44:25.3410000Z</dcterms:created>
  <dcterms:modified xsi:type="dcterms:W3CDTF">2026-09-05T00:44:25.3410000Z</dcterms:modified>
</coreProperties>
</file>