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864f36133ca4924" /><Relationship Type="http://schemas.openxmlformats.org/officeDocument/2006/relationships/extended-properties" Target="/docProps/app.xml" Id="R599027f6ea7a449e" /><Relationship Type="http://schemas.openxmlformats.org/officeDocument/2006/relationships/officeDocument" Target="/ppt/presentation.xml" Id="R4645ea660cb84a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750c37d0e44a79"/>
  </p:sldMasterIdLst>
  <p:notesMasterIdLst>
    <p:notesMasterId xmlns:r="http://schemas.openxmlformats.org/officeDocument/2006/relationships" r:id="Rc60fa2dc173146de"/>
  </p:notesMasterIdLst>
  <p:sldIdLst>
    <p:sldId xmlns:r="http://schemas.openxmlformats.org/officeDocument/2006/relationships" id="256" r:id="Rda8936e4b15e4d8e"/>
    <p:sldId xmlns:r="http://schemas.openxmlformats.org/officeDocument/2006/relationships" id="257" r:id="Re43c5aab86614952"/>
    <p:sldId xmlns:r="http://schemas.openxmlformats.org/officeDocument/2006/relationships" id="258" r:id="R702af694b4734536"/>
    <p:sldId xmlns:r="http://schemas.openxmlformats.org/officeDocument/2006/relationships" id="259" r:id="R591c991e4ebf4416"/>
    <p:sldId xmlns:r="http://schemas.openxmlformats.org/officeDocument/2006/relationships" id="260" r:id="Rd9212e26a41a4350"/>
    <p:sldId xmlns:r="http://schemas.openxmlformats.org/officeDocument/2006/relationships" id="261" r:id="R09e3b459a5014ba0"/>
    <p:sldId xmlns:r="http://schemas.openxmlformats.org/officeDocument/2006/relationships" id="262" r:id="Rbcd6cbd722864403"/>
    <p:sldId xmlns:r="http://schemas.openxmlformats.org/officeDocument/2006/relationships" id="263" r:id="Re43127a565574d5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368b62287874005" /><Relationship Type="http://schemas.openxmlformats.org/officeDocument/2006/relationships/slideMaster" Target="/ppt/slideMasters/slideMaster1.xml" Id="Rac750c37d0e44a79" /><Relationship Type="http://schemas.openxmlformats.org/officeDocument/2006/relationships/notesMaster" Target="/ppt/notesMasters/notesMaster1.xml" Id="Rc60fa2dc173146de" /><Relationship Type="http://schemas.openxmlformats.org/officeDocument/2006/relationships/presProps" Target="/ppt/presProps.xml" Id="R2e6fa870334844b1" /><Relationship Type="http://schemas.openxmlformats.org/officeDocument/2006/relationships/tableStyles" Target="/ppt/tableStyles.xml" Id="Rcb10489d21114fd3" /><Relationship Type="http://schemas.openxmlformats.org/officeDocument/2006/relationships/slide" Target="/ppt/slides/slide1.xml" Id="Rda8936e4b15e4d8e" /><Relationship Type="http://schemas.openxmlformats.org/officeDocument/2006/relationships/slide" Target="/ppt/slides/slide2.xml" Id="Re43c5aab86614952" /><Relationship Type="http://schemas.openxmlformats.org/officeDocument/2006/relationships/slide" Target="/ppt/slides/slide3.xml" Id="R702af694b4734536" /><Relationship Type="http://schemas.openxmlformats.org/officeDocument/2006/relationships/slide" Target="/ppt/slides/slide4.xml" Id="R591c991e4ebf4416" /><Relationship Type="http://schemas.openxmlformats.org/officeDocument/2006/relationships/slide" Target="/ppt/slides/slide5.xml" Id="Rd9212e26a41a4350" /><Relationship Type="http://schemas.openxmlformats.org/officeDocument/2006/relationships/slide" Target="/ppt/slides/slide6.xml" Id="R09e3b459a5014ba0" /><Relationship Type="http://schemas.openxmlformats.org/officeDocument/2006/relationships/slide" Target="/ppt/slides/slide7.xml" Id="Rbcd6cbd722864403" /><Relationship Type="http://schemas.openxmlformats.org/officeDocument/2006/relationships/slide" Target="/ppt/slides/slide8.xml" Id="Re43127a565574d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84603d07c2241e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b0fd45cb8df40d3" /><Relationship Type="http://schemas.openxmlformats.org/officeDocument/2006/relationships/notesMaster" Target="/ppt/notesMasters/notesMaster1.xml" Id="Rf00f2e5b1e4d4c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2d7672942e4480e" /><Relationship Type="http://schemas.openxmlformats.org/officeDocument/2006/relationships/notesMaster" Target="/ppt/notesMasters/notesMaster1.xml" Id="R7416f1174d734f6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a49d5b7a7cf4a2a" /><Relationship Type="http://schemas.openxmlformats.org/officeDocument/2006/relationships/notesMaster" Target="/ppt/notesMasters/notesMaster1.xml" Id="Rc74ddbbd104e448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1d603c6156642c5" /><Relationship Type="http://schemas.openxmlformats.org/officeDocument/2006/relationships/notesMaster" Target="/ppt/notesMasters/notesMaster1.xml" Id="Rc159d9b1524945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9e8474bb93a45fc" /><Relationship Type="http://schemas.openxmlformats.org/officeDocument/2006/relationships/notesMaster" Target="/ppt/notesMasters/notesMaster1.xml" Id="Rf8a387bb820c469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cafb1aa6b6345e8" /><Relationship Type="http://schemas.openxmlformats.org/officeDocument/2006/relationships/notesMaster" Target="/ppt/notesMasters/notesMaster1.xml" Id="Rc027e2b809194ec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a6cb67978194b62" /><Relationship Type="http://schemas.openxmlformats.org/officeDocument/2006/relationships/notesMaster" Target="/ppt/notesMasters/notesMaster1.xml" Id="R1e14c3157c114ef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333595f01e64938" /><Relationship Type="http://schemas.openxmlformats.org/officeDocument/2006/relationships/notesMaster" Target="/ppt/notesMasters/notesMaster1.xml" Id="R088c36e21a4e4ff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CEI MoralBench and UniMoral summary for a research lead.</a:t>
            </a:r>
          </a:p>
          <a:p xmlns:a="http://schemas.openxmlformats.org/drawingml/2006/main">
            <a:r>
              <a:t>Sources: docs/RESEARCH_LEAD_BRIEF.md; data/results/research_question_takeaways.csv.</a:t>
            </a:r>
          </a:p>
          <a:p xmlns:a="http://schemas.openxmlformats.org/drawingml/2006/main">
            <a:r>
              <a:t>No model has the highest saved score on all eight tasks. The MoralBench comparison ranges do not identify a clear leader.</a:t>
            </a:r>
          </a:p>
          <a:p xmlns:a="http://schemas.openxmlformats.org/drawingml/2006/main">
            <a:r>
              <a:t>These tasks do not show that one model is morally better or support one overall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Each row shows the highest saved point estimate for that task among Claude Haiku 4.5, Claude Opus 4.8, GPT-5.4, GPT-5.4 mini, and Qwen3 8B.</a:t>
            </a:r>
          </a:p>
          <a:p xmlns:a="http://schemas.openxmlformats.org/drawingml/2006/main">
            <a:r>
              <a:t>Sources: data/results/common_roster_primary.csv; docs/PAPER_REVIEW.md protocol comparison; evidence/canonical-audit/CLAIM_BOUNDARIES.md.</a:t>
            </a:r>
          </a:p>
          <a:p xmlns:a="http://schemas.openxmlformats.org/drawingml/2006/main">
            <a:r>
              <a:t>The MFQ compare top value is shared by Claude Haiku 4.5 and Qwen3 8B. The vignette compare top value is shared by Claude Haiku 4.5 and GPT-5.4.</a:t>
            </a:r>
          </a:p>
          <a:p xmlns:a="http://schemas.openxmlformats.org/drawingml/2006/main">
            <a:r>
              <a:t>The UniMoral action, typology, and factor rows match saved annotator-specific labels under no-persona prompts; the consequence row matches generated text to saved human references. None infers a person's stable moral identity.</a:t>
            </a:r>
          </a:p>
          <a:p xmlns:a="http://schemas.openxmlformats.org/drawingml/2006/main">
            <a:r>
              <a:t>Values belong to different metrics. Agreement, accuracy, and text match stay separate and should not be averaged.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evidence/canonical-audit/figures/data/primary_confidence_intervals.csv.</a:t>
            </a:r>
          </a:p>
          <a:p xmlns:a="http://schemas.openxmlformats.org/drawingml/2006/main">
            <a:r>
              <a:t>The MFQ test has 8 models and 20 questions. The vignette test has 10 models and 24 questions.</a:t>
            </a:r>
          </a:p>
          <a:p xmlns:a="http://schemas.openxmlformats.org/drawingml/2006/main">
            <a:r>
              <a:t>For every model pair, the two models' saved 95% score ranges overlap. This covers all 28 MFQ pairs and all 45 vignette pairs.</a:t>
            </a:r>
          </a:p>
          <a:p xmlns:a="http://schemas.openxmlformats.org/drawingml/2006/main">
            <a:r>
              <a:t>This is not a paired model-difference test. Question-level scores and stronger uncertainty estimates are missing.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data/results/size_path_summary.csv; data/results/size_task_points.csv.</a:t>
            </a:r>
          </a:p>
          <a:p xmlns:a="http://schemas.openxmlformats.org/drawingml/2006/main">
            <a:r>
              <a:t>The 12 checks cover three model families and four UniMoral tasks. Each check follows three model sizes.</a:t>
            </a:r>
          </a:p>
          <a:p xmlns:a="http://schemas.openxmlformats.org/drawingml/2006/main">
            <a:r>
              <a:t>Four checks rise twice, seven change direction, and one falls twice.</a:t>
            </a:r>
          </a:p>
          <a:p xmlns:a="http://schemas.openxmlformats.org/drawingml/2006/main">
            <a:r>
              <a:t>Accuracy and METEOR stay separate. No saved uncertainty ranges or raw run archive are available.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data/results/size_path_summary.csv; data/results/size_task_points.csv; evidence/model-parameter-sources.csv.</a:t>
            </a:r>
          </a:p>
          <a:p xmlns:a="http://schemas.openxmlformats.org/drawingml/2006/main">
            <a:r>
              <a:t>Exact values: factor attribution .578 to .601 to .613; moral typology .597 to .579 to .570.</a:t>
            </a:r>
          </a:p>
          <a:p xmlns:a="http://schemas.openxmlformats.org/drawingml/2006/main">
            <a:r>
              <a:t>Factor accuracy rises while moral typology accuracy falls as the named Gemma variants get larger.</a:t>
            </a:r>
          </a:p>
          <a:p xmlns:a="http://schemas.openxmlformats.org/drawingml/2006/main">
            <a:r>
              <a:t>No saved uncertainty ranges or raw run archive are available. The versions also differ in training.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data/results/release_path_summary.csv; data/results/release_period_task_points.csv; data/model_release_periods.csv; evidence/model-parameter-sources.csv.</a:t>
            </a:r>
          </a:p>
          <a:p xmlns:a="http://schemas.openxmlformats.org/drawingml/2006/main">
            <a:r>
              <a:t>Classification accuracy deltas shown: Qwen action +.017873, typology +.042383, factor +.002005; DeepSeek action +.186589, typology -.003150, factor -.037514.</a:t>
            </a:r>
          </a:p>
          <a:p xmlns:a="http://schemas.openxmlformats.org/drawingml/2006/main">
            <a:r>
              <a:t>Consequence uses a separate text-match score. Its changes are Qwen -.026780 and DeepSeek +.018985.</a:t>
            </a:r>
          </a:p>
          <a:p xmlns:a="http://schemas.openxmlformats.org/drawingml/2006/main">
            <a:r>
              <a:t>Every shown score was tested on 28 or 29 May 2026. Release date describes the model and does not show a cause.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docs/PAPER_REVIEW.md; data/paper_protocol_map.csv.</a:t>
            </a:r>
          </a:p>
          <a:p xmlns:a="http://schemas.openxmlformats.org/drawingml/2006/main">
            <a:r>
              <a:t>The five papers ask different questions and use different models, data, prompts, or scores.</a:t>
            </a:r>
          </a:p>
          <a:p xmlns:a="http://schemas.openxmlformats.org/drawingml/2006/main">
            <a:r>
              <a:t>None is reproduced exactly by the CEI tests. Paper scores and CEI scores should stay separate.</a:t>
            </a:r>
          </a:p>
          <a:p xmlns:a="http://schemas.openxmlformats.org/drawingml/2006/main">
            <a:r>
              <a:t>The 37-row comparison in the full deck covers UniMoral and ValuePrism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docs/RESEARCH_LEAD_BRIEF.md; evidence/canonical-audit/RERUN_PRIORITY.md; evidence/canonical-audit/SELF_CRITIQUE.md.</a:t>
            </a:r>
          </a:p>
          <a:p xmlns:a="http://schemas.openxmlformats.org/drawingml/2006/main">
            <a:r>
              <a:t>The order shown is a decision recommendation, not a statistical theorem.</a:t>
            </a:r>
          </a:p>
          <a:p xmlns:a="http://schemas.openxmlformats.org/drawingml/2006/main">
            <a:r>
              <a:t>Benchmark agreement does not prove that the test matches human judgment.</a:t>
            </a:r>
          </a:p>
          <a:p xmlns:a="http://schemas.openxmlformats.org/drawingml/2006/main">
            <a:r>
              <a:t>We still need the original answers and scores, better uncertainty estimates, exact model and dataset records, leakage checks, and representative human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039c773d0b442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9081578cea9452b" /><Relationship Type="http://schemas.openxmlformats.org/officeDocument/2006/relationships/slideLayout" Target="/ppt/slideLayouts/slideLayout1.xml" Id="R576340c0df6643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6340c0df6643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4c9ea7e8324930" /><Relationship Type="http://schemas.openxmlformats.org/officeDocument/2006/relationships/notesSlide" Target="/ppt/notesSlides/notesSlide1.xml" Id="Ra20161a0cd18495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07202fccf140d4" /><Relationship Type="http://schemas.openxmlformats.org/officeDocument/2006/relationships/notesSlide" Target="/ppt/notesSlides/notesSlide2.xml" Id="R2874b5809be5429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1a92f20ce94d0b" /><Relationship Type="http://schemas.openxmlformats.org/officeDocument/2006/relationships/notesSlide" Target="/ppt/notesSlides/notesSlide3.xml" Id="R833dc16a73e641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105c8349144a39" /><Relationship Type="http://schemas.openxmlformats.org/officeDocument/2006/relationships/chart" Target="/ppt/slides/charts/chart1.xml" Id="R10966a37921c4798" /><Relationship Type="http://schemas.openxmlformats.org/officeDocument/2006/relationships/notesSlide" Target="/ppt/notesSlides/notesSlide4.xml" Id="R3fdd066e9ac4490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a2621048cb4d61" /><Relationship Type="http://schemas.openxmlformats.org/officeDocument/2006/relationships/chart" Target="/ppt/slides/charts/chart2.xml" Id="Rcfa12d0d4f244264" /><Relationship Type="http://schemas.openxmlformats.org/officeDocument/2006/relationships/notesSlide" Target="/ppt/notesSlides/notesSlide5.xml" Id="Raebc86ecd5d54c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f798f0428e4b5c" /><Relationship Type="http://schemas.openxmlformats.org/officeDocument/2006/relationships/chart" Target="/ppt/slides/charts/chart3.xml" Id="Rfdda370f4b384927" /><Relationship Type="http://schemas.openxmlformats.org/officeDocument/2006/relationships/notesSlide" Target="/ppt/notesSlides/notesSlide6.xml" Id="Rb9cd083f7caa4d4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7eff98333a4a5d" /><Relationship Type="http://schemas.openxmlformats.org/officeDocument/2006/relationships/notesSlide" Target="/ppt/notesSlides/notesSlide7.xml" Id="R5d8fe5532fcf4f2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560c153fe346db" /><Relationship Type="http://schemas.openxmlformats.org/officeDocument/2006/relationships/notesSlide" Target="/ppt/notesSlides/notesSlide8.xml" Id="R553cbfea03c54c2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What happens across three model versions?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Complete paths</c:v>
          </c:tx>
          <c:spPr>
            <a:solidFill xmlns:a="http://schemas.openxmlformats.org/drawingml/2006/main">
              <a:srgbClr val="14856D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1"/>
            <c:invertIfNegative val="0"/>
            <c:spPr>
              <a:solidFill xmlns:a="http://schemas.openxmlformats.org/drawingml/2006/main">
                <a:srgbClr val="D3971E"/>
              </a:solidFill>
              <a:ln xmlns:a="http://schemas.openxmlformats.org/drawingml/2006/main" w="0">
                <a:noFill/>
              </a:ln>
            </c:spPr>
          </c:dPt>
          <c:dPt>
            <c:idx val="2"/>
            <c:invertIfNegative val="0"/>
            <c:spPr>
              <a:solidFill xmlns:a="http://schemas.openxmlformats.org/drawingml/2006/main">
                <a:srgbClr val="6E5AA8"/>
              </a:solidFill>
              <a:ln xmlns:a="http://schemas.openxmlformats.org/drawingml/2006/main" w="0">
                <a:noFill/>
              </a:ln>
            </c:spPr>
          </c:dPt>
          <c:cat>
            <c:strRef>
              <c:f>'Chart Data'!$A$2:$A$4</c:f>
              <c:strCache>
                <c:ptCount val="3"/>
                <c:pt idx="0">
                  <c:v>Rise at both steps</c:v>
                </c:pt>
                <c:pt idx="1">
                  <c:v>Change direction</c:v>
                </c:pt>
                <c:pt idx="2">
                  <c:v>Fall at both steps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4</c:v>
                </c:pt>
                <c:pt idx="1">
                  <c:v>7</c:v>
                </c:pt>
                <c:pt idx="2">
                  <c:v>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Family and task combinations (12 total)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Gemma 3 accuracy by model size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 b="1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Factor attribution</c:v>
          </c:tx>
          <c:spPr>
            <a:ln xmlns:a="http://schemas.openxmlformats.org/drawingml/2006/main" w="38100">
              <a:solidFill>
                <a:srgbClr val="2B78B8"/>
              </a:solidFill>
              <a:prstDash val="solid"/>
            </a:ln>
          </c:spPr>
          <c:marker>
            <c:symbol val="circle"/>
            <c:size val="10"/>
            <c:spPr>
              <a:solidFill xmlns:a="http://schemas.openxmlformats.org/drawingml/2006/main">
                <a:srgbClr val="2B78B8"/>
              </a:solidFill>
            </c:spPr>
          </c:marker>
          <c:cat>
            <c:strRef>
              <c:f>'Chart Data'!$A$2:$A$4</c:f>
              <c:strCache>
                <c:ptCount val="3"/>
                <c:pt idx="0">
                  <c:v>Gemma 3-4B-IT
(4B total)</c:v>
                </c:pt>
                <c:pt idx="1">
                  <c:v>Gemma 3-12B-IT
(12B total)</c:v>
                </c:pt>
                <c:pt idx="2">
                  <c:v>Gemma 3-27B-IT
(27B total)</c:v>
                </c:pt>
              </c:strCache>
            </c:strRef>
          </c:cat>
          <c:val>
            <c:numRef>
              <c:f>'Chart Data'!$B$2:$B$4</c:f>
              <c:numCache>
                <c:formatCode>0.000</c:formatCode>
                <c:ptCount val="3"/>
                <c:pt idx="0">
                  <c:v>0.578</c:v>
                </c:pt>
                <c:pt idx="1">
                  <c:v>0.601</c:v>
                </c:pt>
                <c:pt idx="2">
                  <c:v>0.613</c:v>
                </c:pt>
              </c:numCache>
            </c:numRef>
          </c:val>
          <c:smooth val="0"/>
        </c:ser>
        <c:ser>
          <c:idx val="1"/>
          <c:order val="1"/>
          <c:tx>
            <c:v>Moral typology</c:v>
          </c:tx>
          <c:spPr>
            <a:ln xmlns:a="http://schemas.openxmlformats.org/drawingml/2006/main" w="38100">
              <a:solidFill>
                <a:srgbClr val="6E5AA8"/>
              </a:solidFill>
              <a:prstDash val="dash"/>
            </a:ln>
          </c:spPr>
          <c:marker>
            <c:symbol val="square"/>
            <c:size val="10"/>
            <c:spPr>
              <a:solidFill xmlns:a="http://schemas.openxmlformats.org/drawingml/2006/main">
                <a:srgbClr val="6E5AA8"/>
              </a:solidFill>
            </c:spPr>
          </c:marker>
          <c:cat>
            <c:strRef>
              <c:f>'Chart Data'!$C$2:$C$4</c:f>
              <c:strCache>
                <c:ptCount val="3"/>
                <c:pt idx="0">
                  <c:v>Gemma 3-4B-IT
(4B total)</c:v>
                </c:pt>
                <c:pt idx="1">
                  <c:v>Gemma 3-12B-IT
(12B total)</c:v>
                </c:pt>
                <c:pt idx="2">
                  <c:v>Gemma 3-27B-IT
(27B total)</c:v>
                </c:pt>
              </c:strCache>
            </c:strRef>
          </c:cat>
          <c:val>
            <c:numRef>
              <c:f>'Chart Data'!$D$2:$D$4</c:f>
              <c:numCache>
                <c:formatCode>0.000</c:formatCode>
                <c:ptCount val="3"/>
                <c:pt idx="0">
                  <c:v>0.597</c:v>
                </c:pt>
                <c:pt idx="1">
                  <c:v>0.579</c:v>
                </c:pt>
                <c:pt idx="2">
                  <c:v>0.57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Gemma variants ordered by published total parameters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9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0.625"/>
          <c:min val="0.54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02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Accuracy change from earlier to later version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Qwen</c:v>
          </c:tx>
          <c:spPr>
            <a:solidFill xmlns:a="http://schemas.openxmlformats.org/drawingml/2006/main">
              <a:srgbClr val="14856D"/>
            </a:solidFill>
          </c:spPr>
          <c:cat>
            <c:strRef>
              <c:f>'Chart Data'!$A$2:$A$4</c:f>
              <c:strCache>
                <c:ptCount val="3"/>
                <c:pt idx="0">
                  <c:v>Action</c:v>
                </c:pt>
                <c:pt idx="1">
                  <c:v>Typology</c:v>
                </c:pt>
                <c:pt idx="2">
                  <c:v>Factor</c:v>
                </c:pt>
              </c:strCache>
            </c:strRef>
          </c:cat>
          <c:val>
            <c:numRef>
              <c:f>'Chart Data'!$B$2:$B$4</c:f>
              <c:numCache>
                <c:formatCode>+0.000;-0.000;0.000</c:formatCode>
                <c:ptCount val="3"/>
                <c:pt idx="0">
                  <c:v>0.017873</c:v>
                </c:pt>
                <c:pt idx="1">
                  <c:v>0.042383</c:v>
                </c:pt>
                <c:pt idx="2">
                  <c:v>0.002005</c:v>
                </c:pt>
              </c:numCache>
            </c:numRef>
          </c:val>
        </c:ser>
        <c:ser>
          <c:idx val="1"/>
          <c:order val="1"/>
          <c:tx>
            <c:v>DeepSeek</c:v>
          </c:tx>
          <c:spPr>
            <a:solidFill xmlns:a="http://schemas.openxmlformats.org/drawingml/2006/main">
              <a:srgbClr val="6E5AA8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Action</c:v>
                </c:pt>
                <c:pt idx="1">
                  <c:v>Typology</c:v>
                </c:pt>
                <c:pt idx="2">
                  <c:v>Factor</c:v>
                </c:pt>
              </c:strCache>
            </c:strRef>
          </c:cat>
          <c:val>
            <c:numRef>
              <c:f>'Chart Data'!$D$2:$D$4</c:f>
              <c:numCache>
                <c:formatCode>+0.000;-0.000;0.000</c:formatCode>
                <c:ptCount val="3"/>
                <c:pt idx="0">
                  <c:v>0.186589</c:v>
                </c:pt>
                <c:pt idx="1">
                  <c:v>-0.00315</c:v>
                </c:pt>
                <c:pt idx="2">
                  <c:v>-0.037514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UniMoral task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9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0.2"/>
          <c:min val="-0.0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Change in 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+0.00;-0.00;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05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6C39593-561B-46AE-A728-F8A49AACC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795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MoralBench + UniMoral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9217C0-0062-464A-B316-14260293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05000"/>
            <a:ext cx="1000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No model has the highest saved score on all 8 tasks.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43BD4F-3504-44F3-B48C-8754AECFC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9D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3AD88E-1DDB-44CB-9C34-15276FF4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766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6727E"/>
                </a:solidFill>
                <a:latin typeface="Aptos"/>
                <a:ea typeface="Aptos"/>
                <a:cs typeface="Aptos"/>
              </a:rPr>
              <a:t>MoralBench comparison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1FDD5B-89E5-4A27-A87F-D2EC820FB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1777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7212B"/>
                </a:solidFill>
                <a:latin typeface="Aptos"/>
                <a:ea typeface="Aptos"/>
                <a:cs typeface="Aptos"/>
              </a:rPr>
              <a:t>For every model pair, the two models' 95% score ranges overlap: 28 of 28 MFQ pairs and 45 of 45 vignette pairs.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8DF272-6C49-46B4-B6CC-5FEF04A9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6727E"/>
                </a:solidFill>
                <a:latin typeface="Aptos"/>
                <a:ea typeface="Aptos"/>
                <a:cs typeface="Aptos"/>
              </a:rPr>
              <a:t>UniMoral model size and release 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A8E010-0A1F-49BA-9516-8D8DE3937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8155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7212B"/>
                </a:solidFill>
                <a:latin typeface="Aptos"/>
                <a:ea typeface="Aptos"/>
                <a:cs typeface="Aptos"/>
              </a:rPr>
              <a:t>Scores move up and down across tasks. Bigger or newer is not consistently higher here.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A64797-096A-4D6F-928A-8CDD415AB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626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CEI research lead readout · 4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6866779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5CA00F6-67D7-4148-BF5D-D79C3A03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937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MoralBench + UniMoral: no model has the top saved score on all 8 tasks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147F5EC-C825-47C7-AF20-B77AD096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CEI local result. Same five models; each row keeps its own score type.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2953DF-E0DE-4E37-8540-A521763B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914400" y="1619250"/>
          <a:ext xmlns:a="http://schemas.openxmlformats.org/drawingml/2006/main" cx="103632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1809750"/>
                <a:gridCol w="2000250"/>
                <a:gridCol w="2743200"/>
              </a:tblGrid>
              <a:tr h="45508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Task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Highest saved score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Score type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Model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MFQ agreement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Track benchmark human ratings of value statements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.884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Agreement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GPT-5.4 mini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Vignette agreement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Track benchmark human ratings of moral stories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.920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Agreement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GPT-5.4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MFQ compare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Pick the higher-rated value statement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.550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Haiku + Qwen tie†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Vignette compare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Pick the higher-rated moral story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.625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Haiku + GPT-5.4 tie†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action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Match one recorded human choice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.668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Claude Haiku 4.5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typology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Classify the recorded choice into one of four types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.651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Claude Opus 4.8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factor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Pick a top-rated factor for the recorded choice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.609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Claude Haiku 4.5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consequence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Write what could happen next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.152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Text-match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Claude Opus 4.8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530EDC-59F2-4187-A0BC-BBB1220B3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F5D4A"/>
                </a:solidFill>
                <a:latin typeface="Aptos"/>
                <a:ea typeface="Aptos"/>
                <a:cs typeface="Aptos"/>
              </a:rPr>
              <a:t>† Every 95% range overlaps on both MoralBench comparison tasks. The apparent leaders are unresolved.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465B95-7F6D-4296-90FF-A7EB875F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2103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task uses its own score. Do not compare numbers from different rows.</a:t>
            </a:r>
          </a:p>
        </p:txBody>
      </p:sp>
    </p:spTree>
    <p:extLst>
      <p:ext uri="{BB962C8B-B14F-4D97-AF65-F5344CB8AC3E}">
        <p14:creationId xmlns:p14="http://schemas.microsoft.com/office/powerpoint/2010/main" val="11800802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FBC9B6A-618F-4805-81C5-ABA1448E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546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MoralBench: each pair of models has overlapping 95% score ranges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6466415-85A2-4926-93E7-EBD631ABE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CEI local result. MFQ uses 8 models and 20 questions. Vignettes use 10 models and 24 questions.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EB54DB-B730-46A2-9180-ABAF3CBD2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2F6B2B-C852-447C-BFE2-E70E6E7B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MFQ value statements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869D67-DE77-408B-A803-826966BDC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4381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28 / 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F02E64-6EDD-429C-A1AA-8FBB61BD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5755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12B"/>
                </a:solidFill>
                <a:latin typeface="Aptos"/>
                <a:ea typeface="Aptos"/>
                <a:cs typeface="Aptos"/>
              </a:rPr>
              <a:t>model pairs have overlapping 95% score ranges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6D5A5B-506E-4F74-9661-7C30324D2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0500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Moral vignettes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80027A-79BD-497E-AD1B-1C63937E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00300"/>
            <a:ext cx="4381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45 / 45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BA4522-DD9B-4588-B8E2-38356957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5755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12B"/>
                </a:solidFill>
                <a:latin typeface="Aptos"/>
                <a:ea typeface="Aptos"/>
                <a:cs typeface="Aptos"/>
              </a:rPr>
              <a:t>model pairs have overlapping 95% score ranges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4F51FA-6E9E-4D99-928F-2A62EA224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1666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9D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F3F211-0C73-432C-B44C-64D6CF88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4340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These saved results do not separate a leader.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CAE1D1-4260-4374-B094-BE002727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72050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The ranges are not a direct model-pair test. Question-level scores and stronger uncertainty estimates are unavailable.</a:t>
            </a:r>
          </a:p>
        </p:txBody>
      </p:sp>
    </p:spTree>
    <p:extLst>
      <p:ext uri="{BB962C8B-B14F-4D97-AF65-F5344CB8AC3E}">
        <p14:creationId xmlns:p14="http://schemas.microsoft.com/office/powerpoint/2010/main" val="2071538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B9B15CD-8EAC-4A30-A94D-35A90726B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UniMoral: only 4 of 12 family and task comparisons rise twice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417EE3D-948E-46BF-9CDF-3035D4906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Exploratory CEI result. Each comparison follows one model family on one task across three sizes.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A58F87-A1A5-4830-A032-F8798C9F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1428750" y="1809750"/>
          <a:ext xmlns:a="http://schemas.openxmlformats.org/drawingml/2006/main" cx="93345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0966a37921c4798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F51B59-9AAF-442E-9B24-5B6F160F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bar counts one model family on one task across three saved sizes.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2A1362-59F3-4F99-B6F8-4D1D0902D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10200"/>
            <a:ext cx="819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4 rise twice · 7 change direction · 1 falls twice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6A0FB0-9572-40FF-A833-AFF2238E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864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This is exploratory. Model versions also differ in training and release, and no confidence ranges were saved.</a:t>
            </a:r>
          </a:p>
        </p:txBody>
      </p:sp>
    </p:spTree>
    <p:extLst>
      <p:ext uri="{BB962C8B-B14F-4D97-AF65-F5344CB8AC3E}">
        <p14:creationId xmlns:p14="http://schemas.microsoft.com/office/powerpoint/2010/main" val="8789785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C3957C9-CE36-471E-81C9-FFCDF23D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UniMoral Gemma: factor rises while typology falls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03518FE-ECF8-4916-B89E-78AB666A7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Exploratory CEI result. Gemma 3 at 4B, 12B, and 27B; the vertical axis is zoomed.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C5C997-4902-447A-9318-64476C944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1000125" y="1714500"/>
          <a:ext xmlns:a="http://schemas.openxmlformats.org/drawingml/2006/main" cx="10191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fa12d0d4f244264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2B055D-8924-48DD-91D3-F9E868FC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29300"/>
            <a:ext cx="695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4B to 27B: factor accuracy +.034 · moral typology accuracy −.027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9B6255-B2B2-44DC-9EC1-F89BC60A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191250"/>
            <a:ext cx="876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point is one saved task score. No uncertainty range or raw run archive is available.</a:t>
            </a:r>
          </a:p>
        </p:txBody>
      </p:sp>
    </p:spTree>
    <p:extLst>
      <p:ext uri="{BB962C8B-B14F-4D97-AF65-F5344CB8AC3E}">
        <p14:creationId xmlns:p14="http://schemas.microsoft.com/office/powerpoint/2010/main" val="7001510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7B43494-66A8-48E1-B68E-B79B3E5FD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UniMoral releases: Qwen rises on 3 tasks, DeepSeek on 2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226D9A2-CBDC-43BF-BAA2-592D3E77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Exploratory CEI result. Later score minus earlier score; consequence uses text match.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5577E8-619A-4F83-87E1-14F1CBA71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09061-E82E-4E6C-AC1D-9390CCA14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049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Qwen: Qwen2.5 7B Instruct · 2024-09-19 · 7.61B total to Qwen3.5 9B · 2026-02-27 · 9B total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9F0766-64DE-4CDD-AE3B-0DEE053E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71650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DeepSeek: V3-0324 · 2025-03-24 · 671B main / 37B active to V4 Flash · 2026-04-22 · 284B main / 13B active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FA83E-A977-48F5-8245-885335276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193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DeepSeek labels show published main-model B and active B used per token.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1143000" y="2266950"/>
          <a:ext xmlns:a="http://schemas.openxmlformats.org/drawingml/2006/main" cx="98107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dda370f4b38492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D61A0A-49E5-41C5-BD18-DC05FACC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Across all 4 tasks: Qwen is higher on 3 and lower on 1. DeepSeek is higher on 2 and lower on 2.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E36356-CE73-4FEC-8F18-F6EC44BEC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1975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Separate metric · Consequence text match (METEOR): Qwen −.027 · DeepSeek +.019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22B9D0-BA6D-410A-9580-0CE97E471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81700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All scores were tested 28–29 May 2026. Release date describes the model, not the test date. No uncertainty ranges were saved.</a:t>
            </a:r>
          </a:p>
        </p:txBody>
      </p:sp>
    </p:spTree>
    <p:extLst>
      <p:ext uri="{BB962C8B-B14F-4D97-AF65-F5344CB8AC3E}">
        <p14:creationId xmlns:p14="http://schemas.microsoft.com/office/powerpoint/2010/main" val="5400111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C0C0871-53BB-4429-A832-1A21110E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How the local tests relate to five papers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2E44D98-BC6D-4A05-A5E1-3165BA8D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MoralBench, UniMoral, MoReBench, MoralLens, and Value Kaleidoscope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C1D459-23DB-4C57-A5B5-4A4900C8B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781050" y="1657350"/>
          <a:ext xmlns:a="http://schemas.openxmlformats.org/drawingml/2006/main" cx="10629900" cy="3829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5619750"/>
                <a:gridCol w="3009900"/>
              </a:tblGrid>
              <a:tr h="63817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Paper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asks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Closest local evidence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MoralBench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 model choices match human ratings?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Related tasks, different setup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Can models predict actions, types, factors, and consequences?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Narrower versions of four tasks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MoReBench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Does reasoning meet expert criteria?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Keyword check only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MoralLens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Does reasoning order change reasons and choices?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Keyword check only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Value Kaleidoscope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How do value tasks change with model size?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Different models and scoring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F707F2-12F1-408D-A55C-02B1B47C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0250"/>
            <a:ext cx="1043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None of the five is reproduced exactly. Paper scores and local scores stay separate.</a:t>
            </a:r>
          </a:p>
        </p:txBody>
      </p:sp>
    </p:spTree>
    <p:extLst>
      <p:ext uri="{BB962C8B-B14F-4D97-AF65-F5344CB8AC3E}">
        <p14:creationId xmlns:p14="http://schemas.microsoft.com/office/powerpoint/2010/main" val="3056236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0891787-D0AE-44E8-ABEC-B0E524340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MoralBench and UniMoral: what we can report now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89ACE09-8D44-4795-AFF8-D555DF695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Report the 8 task results now. Do not publish one overall model rank.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262B76-9456-4C54-8680-C70E5FE68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76300" y="1762125"/>
          <a:ext xmlns:a="http://schemas.openxmlformats.org/drawingml/2006/main" cx="104394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4095750"/>
                <a:gridCol w="434340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When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Reason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Now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Share each task result with its limits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The saved results answer one task at a time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Next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Restore each model's answer and score for every question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This lets us compare models on the same questions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Then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Check scoring and labels; have people review the test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 benchmark score alone does not prove the test matches human judgment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Only if still unclear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Add more comparison questions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New questions help after the scoring works correctly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8B910A-EBD8-4C2A-843A-6433B4E7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0"/>
            <a:ext cx="10439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Next: restore answers and scores, check scoring, compare models, and get human review.</a:t>
            </a:r>
          </a:p>
        </p:txBody>
      </p:sp>
    </p:spTree>
    <p:extLst>
      <p:ext uri="{BB962C8B-B14F-4D97-AF65-F5344CB8AC3E}">
        <p14:creationId xmlns:p14="http://schemas.microsoft.com/office/powerpoint/2010/main" val="12108277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2026-09-05T02:36:12.7700000Z</dcterms:created>
  <dcterms:modified xsi:type="dcterms:W3CDTF">2026-09-05T02:36:12.7700000Z</dcterms:modified>
</coreProperties>
</file>