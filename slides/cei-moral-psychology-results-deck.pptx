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98903d7931428b" /><Relationship Type="http://schemas.openxmlformats.org/officeDocument/2006/relationships/extended-properties" Target="/docProps/app.xml" Id="R916a11a4e7c34b7b" /><Relationship Type="http://schemas.openxmlformats.org/officeDocument/2006/relationships/officeDocument" Target="/ppt/presentation.xml" Id="Rfa02045832a143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e29b5aa7f94cd9"/>
  </p:sldMasterIdLst>
  <p:notesMasterIdLst>
    <p:notesMasterId xmlns:r="http://schemas.openxmlformats.org/officeDocument/2006/relationships" r:id="R512f087401764493"/>
  </p:notesMasterIdLst>
  <p:sldIdLst>
    <p:sldId xmlns:r="http://schemas.openxmlformats.org/officeDocument/2006/relationships" id="256" r:id="R87a7f88a23ef40fd"/>
    <p:sldId xmlns:r="http://schemas.openxmlformats.org/officeDocument/2006/relationships" id="257" r:id="Rcb9733c5a1ee4448"/>
    <p:sldId xmlns:r="http://schemas.openxmlformats.org/officeDocument/2006/relationships" id="258" r:id="R9fca0caf7e4349a8"/>
    <p:sldId xmlns:r="http://schemas.openxmlformats.org/officeDocument/2006/relationships" id="259" r:id="Ra9ff337725b94676"/>
    <p:sldId xmlns:r="http://schemas.openxmlformats.org/officeDocument/2006/relationships" id="260" r:id="R5741a13d69ed4c01"/>
    <p:sldId xmlns:r="http://schemas.openxmlformats.org/officeDocument/2006/relationships" id="261" r:id="Rf317f53fbb664613"/>
    <p:sldId xmlns:r="http://schemas.openxmlformats.org/officeDocument/2006/relationships" id="262" r:id="Ra74ae4ab63cf4c0a"/>
    <p:sldId xmlns:r="http://schemas.openxmlformats.org/officeDocument/2006/relationships" id="263" r:id="Rf5ee5d906a7c46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4df432eeaa4384" /><Relationship Type="http://schemas.openxmlformats.org/officeDocument/2006/relationships/slideMaster" Target="/ppt/slideMasters/slideMaster1.xml" Id="R03e29b5aa7f94cd9" /><Relationship Type="http://schemas.openxmlformats.org/officeDocument/2006/relationships/notesMaster" Target="/ppt/notesMasters/notesMaster1.xml" Id="R512f087401764493" /><Relationship Type="http://schemas.openxmlformats.org/officeDocument/2006/relationships/presProps" Target="/ppt/presProps.xml" Id="R98c00cb51fe040dd" /><Relationship Type="http://schemas.openxmlformats.org/officeDocument/2006/relationships/tableStyles" Target="/ppt/tableStyles.xml" Id="Ra46593ec56fd44e9" /><Relationship Type="http://schemas.openxmlformats.org/officeDocument/2006/relationships/slide" Target="/ppt/slides/slide1.xml" Id="R87a7f88a23ef40fd" /><Relationship Type="http://schemas.openxmlformats.org/officeDocument/2006/relationships/slide" Target="/ppt/slides/slide2.xml" Id="Rcb9733c5a1ee4448" /><Relationship Type="http://schemas.openxmlformats.org/officeDocument/2006/relationships/slide" Target="/ppt/slides/slide3.xml" Id="R9fca0caf7e4349a8" /><Relationship Type="http://schemas.openxmlformats.org/officeDocument/2006/relationships/slide" Target="/ppt/slides/slide4.xml" Id="Ra9ff337725b94676" /><Relationship Type="http://schemas.openxmlformats.org/officeDocument/2006/relationships/slide" Target="/ppt/slides/slide5.xml" Id="R5741a13d69ed4c01" /><Relationship Type="http://schemas.openxmlformats.org/officeDocument/2006/relationships/slide" Target="/ppt/slides/slide6.xml" Id="Rf317f53fbb664613" /><Relationship Type="http://schemas.openxmlformats.org/officeDocument/2006/relationships/slide" Target="/ppt/slides/slide7.xml" Id="Ra74ae4ab63cf4c0a" /><Relationship Type="http://schemas.openxmlformats.org/officeDocument/2006/relationships/slide" Target="/ppt/slides/slide8.xml" Id="Rf5ee5d906a7c46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674900d2e14c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78527ad4134815" /><Relationship Type="http://schemas.openxmlformats.org/officeDocument/2006/relationships/notesMaster" Target="/ppt/notesMasters/notesMaster1.xml" Id="R04a3366cf77245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6db917995a4354" /><Relationship Type="http://schemas.openxmlformats.org/officeDocument/2006/relationships/notesMaster" Target="/ppt/notesMasters/notesMaster1.xml" Id="R49deafbde93846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866da4f4db4cd5" /><Relationship Type="http://schemas.openxmlformats.org/officeDocument/2006/relationships/notesMaster" Target="/ppt/notesMasters/notesMaster1.xml" Id="R00ea35f560db4d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f6784e5d35416b" /><Relationship Type="http://schemas.openxmlformats.org/officeDocument/2006/relationships/notesMaster" Target="/ppt/notesMasters/notesMaster1.xml" Id="Rec91941ca77047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d8e4318bcc4691" /><Relationship Type="http://schemas.openxmlformats.org/officeDocument/2006/relationships/notesMaster" Target="/ppt/notesMasters/notesMaster1.xml" Id="Ra866f3f9ac5145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9fd74a1ed44af6" /><Relationship Type="http://schemas.openxmlformats.org/officeDocument/2006/relationships/notesMaster" Target="/ppt/notesMasters/notesMaster1.xml" Id="R5542a370dbe74d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f214dfb68f4cb2" /><Relationship Type="http://schemas.openxmlformats.org/officeDocument/2006/relationships/notesMaster" Target="/ppt/notesMasters/notesMaster1.xml" Id="R518cd0424faa43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414ca4c0a345cf" /><Relationship Type="http://schemas.openxmlformats.org/officeDocument/2006/relationships/notesMaster" Target="/ppt/notesMasters/notesMaster1.xml" Id="Rd0d48841e60f42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Claim: publish task-level results, but do not create an overall model ranking.</a:t>
            </a:r>
          </a:p>
          <a:p xmlns:a="http://schemas.openxmlformats.org/drawingml/2006/main">
            <a:r>
              <a:t>Sources: docs/RESEARCH_LEAD_BRIEF.md; data/results/research_question_takeaways.csv.</a:t>
            </a:r>
          </a:p>
          <a:p xmlns:a="http://schemas.openxmlformats.org/drawingml/2006/main">
            <a:r>
              <a:t>Boundary: current task aggregates and saved uncertainty do not establish human validity, causal effects, or one cross-metric moral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row shows the highest saved point estimate for that task among Claude Haiku 4.5, Claude Opus 4.8, GPT-5.4, GPT-5.4 mini, and Qwen3 8B.</a:t>
            </a:r>
          </a:p>
          <a:p xmlns:a="http://schemas.openxmlformats.org/drawingml/2006/main">
            <a:r>
              <a:t>Sources: data/results/common_roster_primary.csv; docs/RESULTS_READOUT.md section 1.</a:t>
            </a:r>
          </a:p>
          <a:p xmlns:a="http://schemas.openxmlformats.org/drawingml/2006/main">
            <a:r>
              <a:t>The MFQ compare top value is shared by Claude Haiku 4.5 and Qwen3 8B. The vignette compare top value is shared by Claude Haiku 4.5 and GPT-5.4.</a:t>
            </a:r>
          </a:p>
          <a:p xmlns:a="http://schemas.openxmlformats.org/drawingml/2006/main">
            <a:r>
              <a:t>Do not average preference, accuracy, and METEOR or treat this table as a moral leaderboard.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data/results/task_precision.csv.</a:t>
            </a:r>
          </a:p>
          <a:p xmlns:a="http://schemas.openxmlformats.org/drawingml/2006/main">
            <a:r>
              <a:t>All 18 individual intervals wider than .30 occur in the two MoralBench comparison tasks.</a:t>
            </a:r>
          </a:p>
          <a:p xmlns:a="http://schemas.openxmlformats.org/drawingml/2006/main">
            <a:r>
              <a:t>Within each comparison task, every model pair has overlapping marginal intervals: 28 of 28 MFQ pairs and 45 of 45 vignette pairs.</a:t>
            </a:r>
          </a:p>
          <a:p xmlns:a="http://schemas.openxmlformats.org/drawingml/2006/main">
            <a:r>
              <a:t>This is not a paired model-difference test. The narrow UniMoral intervals are nominal row-level estimates and do not establish cluster-aware uncertainty or human validity.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data/results/size_path_summary.csv; data/results/size_task_points.csv.</a:t>
            </a:r>
          </a:p>
          <a:p xmlns:a="http://schemas.openxmlformats.org/drawingml/2006/main">
            <a:r>
              <a:t>Denominator: 12 complete paths equals three model families times four UniMoral tasks. Each path contains three named variants.</a:t>
            </a:r>
          </a:p>
          <a:p xmlns:a="http://schemas.openxmlformats.org/drawingml/2006/main">
            <a:r>
              <a:t>Counts: 4 rise at both steps, 7 change direction, and 1 falls at both steps.</a:t>
            </a:r>
          </a:p>
          <a:p xmlns:a="http://schemas.openxmlformats.org/drawingml/2006/main">
            <a:r>
              <a:t>This slide counts within-task direction only. It does not average accuracy and METEOR. The selected grid has no saved confidence intervals or raw-log replay.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data/results/size_path_summary.csv; data/results/size_task_points.csv; evidence/model-parameter-sources.csv.</a:t>
            </a:r>
          </a:p>
          <a:p xmlns:a="http://schemas.openxmlformats.org/drawingml/2006/main">
            <a:r>
              <a:t>Exact values: factor attribution .578 to .601 to .613; moral typology .597 to .579 to .570.</a:t>
            </a:r>
          </a:p>
          <a:p xmlns:a="http://schemas.openxmlformats.org/drawingml/2006/main">
            <a:r>
              <a:t>Across Qwen, Gemma, and Llama on four UniMoral tasks, 4 of 12 complete paths rise twice, 7 change direction, and 1 falls twice.</a:t>
            </a:r>
          </a:p>
          <a:p xmlns:a="http://schemas.openxmlformats.org/drawingml/2006/main">
            <a:r>
              <a:t>This is exploratory selected-grid evidence. Parameter tier is descriptive metadata, not a controlled intervention. Qwen and Llama paths also change model generation or release period.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data/results/release_path_summary.csv; data/results/release_period_task_points.csv; evidence/model-parameter-sources.csv.</a:t>
            </a:r>
          </a:p>
          <a:p xmlns:a="http://schemas.openxmlformats.org/drawingml/2006/main">
            <a:r>
              <a:t>Classification accuracy deltas shown: Qwen action +.017873, typology +.042383, factor +.002005; DeepSeek action +.186589, typology -.003150, factor -.037514.</a:t>
            </a:r>
          </a:p>
          <a:p xmlns:a="http://schemas.openxmlformats.org/drawingml/2006/main">
            <a:r>
              <a:t>Consequence generation is omitted from this chart because it uses METEOR, not accuracy. Its endpoint deltas are Qwen -.026780 and DeepSeek +.018985.</a:t>
            </a:r>
          </a:p>
          <a:p xmlns:a="http://schemas.openxmlformats.org/drawingml/2006/main">
            <a:r>
              <a:t>Every plotted selected-grid score was evaluated on 28 or 29 May 2026. Release quarter is descriptive model metadata, not observation time or a causal intervention.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docs/PAPER_REVIEW.md; data/paper_protocol_map.csv.</a:t>
            </a:r>
          </a:p>
          <a:p xmlns:a="http://schemas.openxmlformats.org/drawingml/2006/main">
            <a:r>
              <a:t>MoralBench and UniMoral share approximate task families with the local evaluator, but model, data, prompt, metric, scorer, or aggregation identities differ.</a:t>
            </a:r>
          </a:p>
          <a:p xmlns:a="http://schemas.openxmlformats.org/drawingml/2006/main">
            <a:r>
              <a:t>MoReBench and MoralLens local performance surfaces are proxy-only. Their paper metrics and judges are not reproduced.</a:t>
            </a:r>
          </a:p>
          <a:p xmlns:a="http://schemas.openxmlformats.org/drawingml/2006/main">
            <a:r>
              <a:t>Do not use the canonical 37-row UniMoral and ValuePrism crosswalk as the denominator for all four papers. That ledger covers a different evidence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docs/RESEARCH_LEAD_BRIEF.md; evidence/canonical-audit/RERUN_PRIORITY.md; evidence/canonical-audit/SELF_CRITIQUE.md.</a:t>
            </a:r>
          </a:p>
          <a:p xmlns:a="http://schemas.openxmlformats.org/drawingml/2006/main">
            <a:r>
              <a:t>The order shown is a decision recommendation, not a statistical theorem.</a:t>
            </a:r>
          </a:p>
          <a:p xmlns:a="http://schemas.openxmlformats.org/drawingml/2006/main">
            <a:r>
              <a:t>The saved evidence still lacks canonical raw archives, clustered uncertainty, complete model and dataset identity, contamination testing, and representative human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736dc1dab448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9c9730b21141f1" /><Relationship Type="http://schemas.openxmlformats.org/officeDocument/2006/relationships/slideLayout" Target="/ppt/slideLayouts/slideLayout1.xml" Id="Rb653a46e336e4f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53a46e336e4f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b4f7c2b2548ca" /><Relationship Type="http://schemas.openxmlformats.org/officeDocument/2006/relationships/notesSlide" Target="/ppt/notesSlides/notesSlide1.xml" Id="R46d094a93c3c4b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1044c263e4ecc" /><Relationship Type="http://schemas.openxmlformats.org/officeDocument/2006/relationships/notesSlide" Target="/ppt/notesSlides/notesSlide2.xml" Id="R4ac619f43a9b4a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c9508bf37424d" /><Relationship Type="http://schemas.openxmlformats.org/officeDocument/2006/relationships/chart" Target="/ppt/slides/charts/chart1.xml" Id="R654baa54b96a4eb7" /><Relationship Type="http://schemas.openxmlformats.org/officeDocument/2006/relationships/notesSlide" Target="/ppt/notesSlides/notesSlide3.xml" Id="R843b19185d834d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43dcc66e140bf" /><Relationship Type="http://schemas.openxmlformats.org/officeDocument/2006/relationships/chart" Target="/ppt/slides/charts/chart2.xml" Id="R2bc4357103ac464f" /><Relationship Type="http://schemas.openxmlformats.org/officeDocument/2006/relationships/notesSlide" Target="/ppt/notesSlides/notesSlide4.xml" Id="Ra1449d4dc0404a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dac3d3b1e424b" /><Relationship Type="http://schemas.openxmlformats.org/officeDocument/2006/relationships/chart" Target="/ppt/slides/charts/chart3.xml" Id="R479071be3eb2481a" /><Relationship Type="http://schemas.openxmlformats.org/officeDocument/2006/relationships/notesSlide" Target="/ppt/notesSlides/notesSlide5.xml" Id="Rd423e74020bb49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3efdb73a4424f" /><Relationship Type="http://schemas.openxmlformats.org/officeDocument/2006/relationships/chart" Target="/ppt/slides/charts/chart4.xml" Id="Ra480d91deff141eb" /><Relationship Type="http://schemas.openxmlformats.org/officeDocument/2006/relationships/notesSlide" Target="/ppt/notesSlides/notesSlide6.xml" Id="R8f13d1cd488843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b5a5338164e6a" /><Relationship Type="http://schemas.openxmlformats.org/officeDocument/2006/relationships/notesSlide" Target="/ppt/notesSlides/notesSlide7.xml" Id="Rfc55a7e20dd64d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e129ec5624f2d" /><Relationship Type="http://schemas.openxmlformats.org/officeDocument/2006/relationships/notesSlide" Target="/ppt/notesSlides/notesSlide8.xml" Id="R2333c17a70c243e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ptos"/>
                <a:ea typeface="Aptos"/>
                <a:cs typeface="Aptos"/>
              </a:rPr>
              <a:t>Median full width of the saved 95% interval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Interval width</c:v>
          </c:tx>
          <c:spPr>
            <a:solidFill xmlns:a="http://schemas.openxmlformats.org/drawingml/2006/main">
              <a:srgbClr val="14856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F5D4A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CF5D4A"/>
              </a:solidFill>
              <a:ln xmlns:a="http://schemas.openxmlformats.org/drawingml/2006/main" w="0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D3971E"/>
              </a:solidFill>
              <a:ln xmlns:a="http://schemas.openxmlformats.org/drawingml/2006/main" w="0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D3971E"/>
              </a:solidFill>
              <a:ln xmlns:a="http://schemas.openxmlformats.org/drawingml/2006/main" w="0">
                <a:noFill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14856D"/>
              </a:solidFill>
              <a:ln xmlns:a="http://schemas.openxmlformats.org/drawingml/2006/main" w="0">
                <a:noFill/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14856D"/>
              </a:solidFill>
              <a:ln xmlns:a="http://schemas.openxmlformats.org/drawingml/2006/main" w="0">
                <a:noFill/>
              </a:ln>
            </c:spPr>
          </c:dPt>
          <c:dPt>
            <c:idx val="6"/>
            <c:invertIfNegative val="0"/>
            <c:spPr>
              <a:solidFill xmlns:a="http://schemas.openxmlformats.org/drawingml/2006/main">
                <a:srgbClr val="14856D"/>
              </a:solidFill>
              <a:ln xmlns:a="http://schemas.openxmlformats.org/drawingml/2006/main" w="0">
                <a:noFill/>
              </a:ln>
            </c:spPr>
          </c:dPt>
          <c:dPt>
            <c:idx val="7"/>
            <c:invertIfNegative val="0"/>
            <c:spPr>
              <a:solidFill xmlns:a="http://schemas.openxmlformats.org/drawingml/2006/main">
                <a:srgbClr val="14856D"/>
              </a:solidFill>
              <a:ln xmlns:a="http://schemas.openxmlformats.org/drawingml/2006/main" w="0">
                <a:noFill/>
              </a:ln>
            </c:spPr>
          </c:dPt>
          <c:cat>
            <c:strRef>
              <c:f>'Chart Data'!$A$2:$A$9</c:f>
              <c:strCache>
                <c:ptCount val="8"/>
                <c:pt idx="0">
                  <c:v>MFQ compare</c:v>
                </c:pt>
                <c:pt idx="1">
                  <c:v>Vignette compare</c:v>
                </c:pt>
                <c:pt idx="2">
                  <c:v>MFQ agreement</c:v>
                </c:pt>
                <c:pt idx="3">
                  <c:v>Vignette agreement</c:v>
                </c:pt>
                <c:pt idx="4">
                  <c:v>UniMoral factor</c:v>
                </c:pt>
                <c:pt idx="5">
                  <c:v>UniMoral typology</c:v>
                </c:pt>
                <c:pt idx="6">
                  <c:v>UniMoral action</c:v>
                </c:pt>
                <c:pt idx="7">
                  <c:v>UniMoral consequence</c:v>
                </c:pt>
              </c:strCache>
            </c:strRef>
          </c:cat>
          <c:val>
            <c:numRef>
              <c:f>'Chart Data'!$B$2:$B$9</c:f>
              <c:numCache>
                <c:formatCode>0.000</c:formatCode>
                <c:ptCount val="8"/>
                <c:pt idx="0">
                  <c:v>0.395</c:v>
                </c:pt>
                <c:pt idx="1">
                  <c:v>0.37</c:v>
                </c:pt>
                <c:pt idx="2">
                  <c:v>0.22</c:v>
                </c:pt>
                <c:pt idx="3">
                  <c:v>0.124</c:v>
                </c:pt>
                <c:pt idx="4">
                  <c:v>0.033</c:v>
                </c:pt>
                <c:pt idx="5">
                  <c:v>0.032</c:v>
                </c:pt>
                <c:pt idx="6">
                  <c:v>0.02</c:v>
                </c:pt>
                <c:pt idx="7">
                  <c:v>0.012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12B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9D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Median width of saved 95% interval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E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ptos"/>
                <a:ea typeface="Aptos"/>
                <a:cs typeface="Aptos"/>
              </a:rPr>
              <a:t>What happens across the three named variants?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Complete paths</c:v>
          </c:tx>
          <c:spPr>
            <a:solidFill xmlns:a="http://schemas.openxmlformats.org/drawingml/2006/main">
              <a:srgbClr val="14856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4856D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D3971E"/>
              </a:solidFill>
              <a:ln xmlns:a="http://schemas.openxmlformats.org/drawingml/2006/main" w="0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6E5AA8"/>
              </a:solidFill>
              <a:ln xmlns:a="http://schemas.openxmlformats.org/drawingml/2006/main" w="0">
                <a:noFill/>
              </a:ln>
            </c:spPr>
          </c:dPt>
          <c:cat>
            <c:strRef>
              <c:f>'Chart Data'!$A$2:$A$4</c:f>
              <c:strCache>
                <c:ptCount val="3"/>
                <c:pt idx="0">
                  <c:v>Rise at both steps</c:v>
                </c:pt>
                <c:pt idx="1">
                  <c:v>Change direction</c:v>
                </c:pt>
                <c:pt idx="2">
                  <c:v>Fall at both steps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4</c:v>
                </c:pt>
                <c:pt idx="1">
                  <c:v>7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7212B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9D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Complete family and task paths, n = 12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E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Gemma 3 accuracy by model size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212B"/>
              </a:solidFill>
              <a:latin typeface="Aptos"/>
              <a:ea typeface="Aptos"/>
              <a:cs typeface="Aptos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Factor attribution</c:v>
          </c:tx>
          <c:spPr>
            <a:ln xmlns:a="http://schemas.openxmlformats.org/drawingml/2006/main" w="38100">
              <a:solidFill>
                <a:srgbClr val="2B78B8"/>
              </a:solidFill>
              <a:prstDash val="solid"/>
            </a:ln>
          </c:spPr>
          <c:marker>
            <c:symbol val="circle"/>
            <c:size val="10"/>
            <c:spPr>
              <a:solidFill xmlns:a="http://schemas.openxmlformats.org/drawingml/2006/main">
                <a:srgbClr val="2B78B8"/>
              </a:solidFill>
            </c:spPr>
          </c:marker>
          <c:cat>
            <c:strRef>
              <c:f>'Chart Data'!$A$2:$A$4</c:f>
              <c:strCache>
                <c:ptCount val="3"/>
                <c:pt idx="0">
                  <c:v>Gemma 3-4B-IT
(4B total)</c:v>
                </c:pt>
                <c:pt idx="1">
                  <c:v>Gemma 3-12B-IT
(12B total)</c:v>
                </c:pt>
                <c:pt idx="2">
                  <c:v>Gemma 3-27B-IT
(27B total)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0.578</c:v>
                </c:pt>
                <c:pt idx="1">
                  <c:v>0.601</c:v>
                </c:pt>
                <c:pt idx="2">
                  <c:v>0.613</c:v>
                </c:pt>
              </c:numCache>
            </c:numRef>
          </c:val>
          <c:smooth val="0"/>
        </c:ser>
        <c:ser>
          <c:idx val="1"/>
          <c:order val="1"/>
          <c:tx>
            <c:v>Moral typology</c:v>
          </c:tx>
          <c:spPr>
            <a:ln xmlns:a="http://schemas.openxmlformats.org/drawingml/2006/main" w="38100">
              <a:solidFill>
                <a:srgbClr val="6E5AA8"/>
              </a:solidFill>
              <a:prstDash val="dash"/>
            </a:ln>
          </c:spPr>
          <c:marker>
            <c:symbol val="square"/>
            <c:size val="10"/>
            <c:spPr>
              <a:solidFill xmlns:a="http://schemas.openxmlformats.org/drawingml/2006/main">
                <a:srgbClr val="6E5AA8"/>
              </a:solidFill>
            </c:spPr>
          </c:marker>
          <c:cat>
            <c:strRef>
              <c:f>'Chart Data'!$C$2:$C$4</c:f>
              <c:strCache>
                <c:ptCount val="3"/>
                <c:pt idx="0">
                  <c:v>Gemma 3-4B-IT
(4B total)</c:v>
                </c:pt>
                <c:pt idx="1">
                  <c:v>Gemma 3-12B-IT
(12B total)</c:v>
                </c:pt>
                <c:pt idx="2">
                  <c:v>Gemma 3-27B-IT
(27B total)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0.597</c:v>
                </c:pt>
                <c:pt idx="1">
                  <c:v>0.579</c:v>
                </c:pt>
                <c:pt idx="2">
                  <c:v>0.57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12B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Published total parameter count within the Gemma 3 family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9D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625"/>
          <c:min val="0.5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9D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Accuracy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F7F5E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212B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ptos"/>
                <a:ea typeface="Aptos"/>
                <a:cs typeface="Aptos"/>
              </a:rPr>
              <a:t>Score change from earlier to later version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Qwen</c:v>
          </c:tx>
          <c:spPr>
            <a:solidFill xmlns:a="http://schemas.openxmlformats.org/drawingml/2006/main">
              <a:srgbClr val="14856D"/>
            </a:solidFill>
          </c:spPr>
          <c:cat>
            <c:strRef>
              <c:f>'Chart Data'!$A$2:$A$4</c:f>
              <c:strCache>
                <c:ptCount val="3"/>
                <c:pt idx="0">
                  <c:v>Action</c:v>
                </c:pt>
                <c:pt idx="1">
                  <c:v>Typology</c:v>
                </c:pt>
                <c:pt idx="2">
                  <c:v>Factor</c:v>
                </c:pt>
              </c:strCache>
            </c:strRef>
          </c:cat>
          <c:val>
            <c:numRef>
              <c:f>'Chart Data'!$B$2:$B$4</c:f>
              <c:numCache>
                <c:formatCode>+0.000;-0.000;0.000</c:formatCode>
                <c:ptCount val="3"/>
                <c:pt idx="0">
                  <c:v>0.017873</c:v>
                </c:pt>
                <c:pt idx="1">
                  <c:v>0.042383</c:v>
                </c:pt>
                <c:pt idx="2">
                  <c:v>0.002005</c:v>
                </c:pt>
              </c:numCache>
            </c:numRef>
          </c:val>
        </c:ser>
        <c:ser>
          <c:idx val="1"/>
          <c:order val="1"/>
          <c:tx>
            <c:v>DeepSeek</c:v>
          </c:tx>
          <c:spPr>
            <a:solidFill xmlns:a="http://schemas.openxmlformats.org/drawingml/2006/main">
              <a:srgbClr val="6E5AA8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Action</c:v>
                </c:pt>
                <c:pt idx="1">
                  <c:v>Typology</c:v>
                </c:pt>
                <c:pt idx="2">
                  <c:v>Factor</c:v>
                </c:pt>
              </c:strCache>
            </c:strRef>
          </c:cat>
          <c:val>
            <c:numRef>
              <c:f>'Chart Data'!$D$2:$D$4</c:f>
              <c:numCache>
                <c:formatCode>+0.000;-0.000;0.000</c:formatCode>
                <c:ptCount val="3"/>
                <c:pt idx="0">
                  <c:v>0.186589</c:v>
                </c:pt>
                <c:pt idx="1">
                  <c:v>-0.00315</c:v>
                </c:pt>
                <c:pt idx="2">
                  <c:v>-0.037514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12B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UniMoral task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9D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-0.0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9D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Change in accuracy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+0.00;-0.00;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7F5E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212B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41036EE-F3BB-424B-B061-8AF56A8F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8858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Publish task results.</a:t>
            </a:r>
          </a:p>
          <a:p xmlns:a="http://schemas.openxmlformats.org/drawingml/2006/main">
            <a:pPr algn="l">
              <a:defRPr sz="4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Do not rank the models.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38745-211F-41C0-9841-3F2E07EC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856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856D"/>
                </a:solidFill>
                <a:latin typeface="Aptos"/>
                <a:ea typeface="Aptos"/>
                <a:cs typeface="Aptos"/>
              </a:rPr>
              <a:t>CEI moral psychology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919C3-1C6C-41AB-966E-E3164C52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7E"/>
                </a:solidFill>
                <a:latin typeface="Aptos"/>
                <a:ea typeface="Aptos"/>
                <a:cs typeface="Aptos"/>
              </a:rPr>
              <a:t>Research lead readout · 4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FC1E7-3824-4DF2-88FC-AAE772EB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9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08D53-D3A2-43C6-AE33-81957EB2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919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Why: the point leader changes by task, and two comparison tests are still too uncertain for a reliable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EACA0-94A7-4934-9200-1281DFA7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E"/>
                </a:solidFill>
                <a:latin typeface="Aptos"/>
                <a:ea typeface="Aptos"/>
                <a:cs typeface="Aptos"/>
              </a:rPr>
              <a:t>Current task results are publishable with limits. Size and release views remain exploratory.</a:t>
            </a:r>
          </a:p>
        </p:txBody>
      </p:sp>
    </p:spTree>
    <p:extLst>
      <p:ext uri="{BB962C8B-B14F-4D97-AF65-F5344CB8AC3E}">
        <p14:creationId xmlns:p14="http://schemas.microsoft.com/office/powerpoint/2010/main" val="1290586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DB8D8C-A2D0-4AEE-A567-A1758423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No model leads all eight tasks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199F9D1-5FFA-4320-B578-2A4799EE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7E"/>
                </a:solidFill>
                <a:latin typeface="Aptos"/>
                <a:ea typeface="Aptos"/>
                <a:cs typeface="Aptos"/>
              </a:rPr>
              <a:t>Top saved values among the five models with complete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C561B-B5F9-48DB-877A-A425FEB6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1000"/>
            <a:ext cx="1752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F0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7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85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856D"/>
                </a:solidFill>
                <a:latin typeface="Aptos"/>
                <a:ea typeface="Aptos"/>
                <a:cs typeface="Aptos"/>
              </a:rPr>
              <a:t>MAIN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FC61D-411F-4B50-881E-DC748C54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9D5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914400" y="1619250"/>
          <a:ext xmlns:a="http://schemas.openxmlformats.org/drawingml/2006/main" cx="103632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809750"/>
                <a:gridCol w="2143125"/>
                <a:gridCol w="3267075"/>
              </a:tblGrid>
              <a:tr h="4550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Task</a:t>
                      </a:r>
                    </a:p>
                  </a:txBody>
                  <a:tcPr marL="114300" marR="114300" marT="66675" marB="66675"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Top saved value</a:t>
                      </a:r>
                    </a:p>
                  </a:txBody>
                  <a:tcPr marL="114300" marR="114300" marT="66675" marB="66675"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Metric</a:t>
                      </a:r>
                    </a:p>
                  </a:txBody>
                  <a:tcPr marL="114300" marR="114300" marT="66675" marB="66675"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Model</a:t>
                      </a:r>
                    </a:p>
                  </a:txBody>
                  <a:tcPr marL="114300" marR="114300" marT="66675" marB="66675">
                    <a:solidFill>
                      <a:srgbClr val="17212B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MFQ agreement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.884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Normalized preference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GPT-5.4 mini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Vignette agreement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.920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Normalized preference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GPT-5.4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MFQ compare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.550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Accuracy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Haiku + Qwen tie†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Vignette compare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.625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Accuracy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Haiku + GPT-5.4 tie†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UniMoral action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.668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Accuracy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Claude Haiku 4.5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UniMoral typology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.651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Accuracy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Claude Opus 4.8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UniMoral factor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.609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Accuracy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Claude Haiku 4.5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UniMoral consequence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.152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METEOR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Claude Opus 4.8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45583-9E77-49E9-9600-9B6EDA36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5D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F5D4A"/>
                </a:solidFill>
                <a:latin typeface="Aptos"/>
                <a:ea typeface="Aptos"/>
                <a:cs typeface="Aptos"/>
              </a:rPr>
              <a:t>† The saved intervals do not resolve an order on the two comparison tasks.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5F74E-726E-4C12-985C-D7B997A8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103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7E"/>
                </a:solidFill>
                <a:latin typeface="Aptos"/>
                <a:ea typeface="Aptos"/>
                <a:cs typeface="Aptos"/>
              </a:rPr>
              <a:t>Values belong to different metrics. Do not compare their size across rows.</a:t>
            </a:r>
          </a:p>
        </p:txBody>
      </p:sp>
    </p:spTree>
    <p:extLst>
      <p:ext uri="{BB962C8B-B14F-4D97-AF65-F5344CB8AC3E}">
        <p14:creationId xmlns:p14="http://schemas.microsoft.com/office/powerpoint/2010/main" val="11271145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9E3DDC-3D0D-4AE7-B58B-17213AA4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Two comparison tests cannot rank models yet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F57E05-BA32-48D8-B7EB-54124956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7E"/>
                </a:solidFill>
                <a:latin typeface="Aptos"/>
                <a:ea typeface="Aptos"/>
                <a:cs typeface="Aptos"/>
              </a:rPr>
              <a:t>Longer bar means less certainty. The comparison tests have 20 and 24 items per model.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0CA8E-2D50-4C53-992E-CA14485A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1000"/>
            <a:ext cx="1752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F0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7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85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856D"/>
                </a:solidFill>
                <a:latin typeface="Aptos"/>
                <a:ea typeface="Aptos"/>
                <a:cs typeface="Aptos"/>
              </a:rPr>
              <a:t>MAIN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C1C84-236C-43D3-AD27-5108B8CB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9D5"/>
            </a:solidFill>
            <a:prstDash val="solid"/>
          </a:ln>
        </p:spPr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1143000" y="1619250"/>
          <a:ext xmlns:a="http://schemas.openxmlformats.org/drawingml/2006/main" cx="9810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4baa54b96a4eb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F8945-5AE2-4FBE-AA2D-E05DA48B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F5D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F5D4A"/>
                </a:solidFill>
                <a:latin typeface="Aptos"/>
                <a:ea typeface="Aptos"/>
                <a:cs typeface="Aptos"/>
              </a:rPr>
              <a:t>Action: recover each item's result for every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58242-5A99-428A-A7AE-ED840CA2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19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E"/>
                </a:solidFill>
                <a:latin typeface="Aptos"/>
                <a:ea typeface="Aptos"/>
                <a:cs typeface="Aptos"/>
              </a:rPr>
              <a:t>If the order is still unclear, then expand the item banks.</a:t>
            </a:r>
          </a:p>
        </p:txBody>
      </p:sp>
    </p:spTree>
    <p:extLst>
      <p:ext uri="{BB962C8B-B14F-4D97-AF65-F5344CB8AC3E}">
        <p14:creationId xmlns:p14="http://schemas.microsoft.com/office/powerpoint/2010/main" val="21309030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154BCC-A5A4-4E61-9D65-96E4FAF1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Only 4 of 12 selected size paths rise twice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40E6B75-7134-43CC-92B9-A415C301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7E"/>
                </a:solidFill>
                <a:latin typeface="Aptos"/>
                <a:ea typeface="Aptos"/>
                <a:cs typeface="Aptos"/>
              </a:rPr>
              <a:t>Three model families × four UniMoral tasks; variants differ in more than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3B219-D89A-4D8D-BE37-52459C00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1000"/>
            <a:ext cx="1752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A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7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5F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B5F00"/>
                </a:solidFill>
                <a:latin typeface="Aptos"/>
                <a:ea typeface="Aptos"/>
                <a:cs typeface="Aptos"/>
              </a:rPr>
              <a:t>EXPLORATORY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634AE-8FCB-42DE-AE86-186AF663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9D5"/>
            </a:solidFill>
            <a:prstDash val="solid"/>
          </a:ln>
        </p:spPr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1428750" y="1809750"/>
          <a:ext xmlns:a="http://schemas.openxmlformats.org/drawingml/2006/main" cx="9334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c4357103ac464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FCEB7-1EC7-46E5-9462-C0731234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02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Size is one clue, not a general rule.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E201B-5574-437D-953A-49E7BB5F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864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E"/>
                </a:solidFill>
                <a:latin typeface="Aptos"/>
                <a:ea typeface="Aptos"/>
                <a:cs typeface="Aptos"/>
              </a:rPr>
              <a:t>Each case follows one family on one task. Accuracy and METEOR stay separate.</a:t>
            </a:r>
          </a:p>
        </p:txBody>
      </p:sp>
    </p:spTree>
    <p:extLst>
      <p:ext uri="{BB962C8B-B14F-4D97-AF65-F5344CB8AC3E}">
        <p14:creationId xmlns:p14="http://schemas.microsoft.com/office/powerpoint/2010/main" val="952085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675649-FF40-48BA-9032-E3E37F57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6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same Gemma models move in opposite directions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AA19D-8673-4322-BB1D-E7F0AC62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1000"/>
            <a:ext cx="1752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A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7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5F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B5F00"/>
                </a:solidFill>
                <a:latin typeface="Aptos"/>
                <a:ea typeface="Aptos"/>
                <a:cs typeface="Aptos"/>
              </a:rPr>
              <a:t>EXPLORATORY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7522E-A72C-4DBD-AC78-F2B1CE9D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9D5"/>
            </a:solidFill>
            <a:prstDash val="solid"/>
          </a:ln>
        </p:spPr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1000125" y="1714500"/>
          <a:ext xmlns:a="http://schemas.openxmlformats.org/drawingml/2006/main" cx="10191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9071be3eb2481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F6C1A-5EFC-4F24-9497-91097F35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E5AA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E5AA8"/>
                </a:solidFill>
                <a:latin typeface="Aptos"/>
                <a:ea typeface="Aptos"/>
                <a:cs typeface="Aptos"/>
              </a:rPr>
              <a:t>The larger named variants do not score higher on both tasks.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64EA9-4610-4008-89C4-5E7125EF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19125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7E"/>
                </a:solidFill>
                <a:latin typeface="Aptos"/>
                <a:ea typeface="Aptos"/>
                <a:cs typeface="Aptos"/>
              </a:rPr>
              <a:t>Each point is one saved task score. No saved intervals or raw-log replay.</a:t>
            </a:r>
          </a:p>
        </p:txBody>
      </p:sp>
    </p:spTree>
    <p:extLst>
      <p:ext uri="{BB962C8B-B14F-4D97-AF65-F5344CB8AC3E}">
        <p14:creationId xmlns:p14="http://schemas.microsoft.com/office/powerpoint/2010/main" val="5773449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BE9AFD-3849-42B2-8118-0DBB1251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349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Later model versions score higher on some tasks and lower on others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A9E7EA0-CC96-4055-B415-17AE562B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7E"/>
                </a:solidFill>
                <a:latin typeface="Aptos"/>
                <a:ea typeface="Aptos"/>
                <a:cs typeface="Aptos"/>
              </a:rPr>
              <a:t>Accuracy change for three UniMoral classification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CDD35-33BC-468B-8417-17A14BB4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1000"/>
            <a:ext cx="1752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A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7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5F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B5F00"/>
                </a:solidFill>
                <a:latin typeface="Aptos"/>
                <a:ea typeface="Aptos"/>
                <a:cs typeface="Aptos"/>
              </a:rPr>
              <a:t>EXPLORATORY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C44AA-576C-48E6-B503-5ACF93CC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9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461CF-3FBD-455C-AEEF-82BB311B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04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85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856D"/>
                </a:solidFill>
                <a:latin typeface="Aptos"/>
                <a:ea typeface="Aptos"/>
                <a:cs typeface="Aptos"/>
              </a:rPr>
              <a:t>Qwen: Qwen2.5 7B Instruct (7.61B) to Qwen3.5 9B (9B)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D0F69-241F-4B21-BD1F-A0D91967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716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5A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E5AA8"/>
                </a:solidFill>
                <a:latin typeface="Aptos"/>
                <a:ea typeface="Aptos"/>
                <a:cs typeface="Aptos"/>
              </a:rPr>
              <a:t>DeepSeek: V3-0324 (671B main, 37B active) to V4 Flash (284B main, 13B active)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1143000" y="2133600"/>
          <a:ext xmlns:a="http://schemas.openxmlformats.org/drawingml/2006/main" cx="98107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80d91deff141e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5215F-7DA9-4EBB-9802-311B47B4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578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All endpoint runs were evaluated on 28–29 May 2026.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48EC3-E761-4574-8358-A26640AA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007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E"/>
                </a:solidFill>
                <a:latin typeface="Aptos"/>
                <a:ea typeface="Aptos"/>
                <a:cs typeface="Aptos"/>
              </a:rPr>
              <a:t>Release period describes the model. It is not a progress timeline.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ABEA8-D5CF-424E-8EDB-82224394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9602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27E"/>
                </a:solidFill>
                <a:latin typeface="Aptos"/>
                <a:ea typeface="Aptos"/>
                <a:cs typeface="Aptos"/>
              </a:rPr>
              <a:t>Consequence uses METEOR and is not mixed into this accuracy chart.</a:t>
            </a:r>
          </a:p>
        </p:txBody>
      </p:sp>
    </p:spTree>
    <p:extLst>
      <p:ext uri="{BB962C8B-B14F-4D97-AF65-F5344CB8AC3E}">
        <p14:creationId xmlns:p14="http://schemas.microsoft.com/office/powerpoint/2010/main" val="7204719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5038DD-40C8-4021-B357-E267EB1A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We did not exactly repeat any paper's experiment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9BE85A6-A261-45F2-8BD8-CA6D01C9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7E"/>
                </a:solidFill>
                <a:latin typeface="Aptos"/>
                <a:ea typeface="Aptos"/>
                <a:cs typeface="Aptos"/>
              </a:rPr>
              <a:t>The papers explain the questions and methods. They are not direct score baselines.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6F417-917A-45CF-BD4C-593FAEC7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1000"/>
            <a:ext cx="1752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BE6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7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5A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5AA8"/>
                </a:solidFill>
                <a:latin typeface="Aptos"/>
                <a:ea typeface="Aptos"/>
                <a:cs typeface="Aptos"/>
              </a:rPr>
              <a:t>PAPER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2A931-7C19-4E34-990C-D29DEA96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9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337A1-4D0B-4B56-9E63-49FF230E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CF5D4A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CF5D4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6B023-E375-490C-934F-D03BCE0D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exact local</a:t>
            </a:r>
          </a:p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replications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3381375" y="1714500"/>
          <a:ext xmlns:a="http://schemas.openxmlformats.org/drawingml/2006/main" cx="8048625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4476750"/>
                <a:gridCol w="190500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Paper</a:t>
                      </a:r>
                    </a:p>
                  </a:txBody>
                  <a:tcPr marL="114300" marR="114300" marT="66675" marB="66675">
                    <a:solidFill>
                      <a:srgbClr val="6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Plain-language question</a:t>
                      </a:r>
                    </a:p>
                  </a:txBody>
                  <a:tcPr marL="114300" marR="114300" marT="66675" marB="66675">
                    <a:solidFill>
                      <a:srgbClr val="6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How close is our test?</a:t>
                      </a:r>
                    </a:p>
                  </a:txBody>
                  <a:tcPr marL="114300" marR="114300" marT="66675" marB="66675">
                    <a:solidFill>
                      <a:srgbClr val="6E5AA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MoralBench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Do model choices match human ratings?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Similar, not exact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UniMoral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Can models predict labels and consequences?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Some similar tasks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MoReBench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Does reasoning cover expert criteria?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Stand-in only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MoralLens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Which reasons appear before and after a choice?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Stand-in only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FBE39-5D22-4319-8817-B6E11E76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429250"/>
            <a:ext cx="804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E5AA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E5AA8"/>
                </a:solidFill>
                <a:latin typeface="Aptos"/>
                <a:ea typeface="Aptos"/>
                <a:cs typeface="Aptos"/>
              </a:rPr>
              <a:t>Use the papers to interpret the tasks, not to claim a score replication.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2956F-53EE-4E4F-95CC-D5E66728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886450"/>
            <a:ext cx="804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7E"/>
                </a:solidFill>
                <a:latin typeface="Aptos"/>
                <a:ea typeface="Aptos"/>
                <a:cs typeface="Aptos"/>
              </a:rPr>
              <a:t>UniMoral cue, language, and scenario-source claims are not available in the local run.</a:t>
            </a:r>
          </a:p>
        </p:txBody>
      </p:sp>
    </p:spTree>
    <p:extLst>
      <p:ext uri="{BB962C8B-B14F-4D97-AF65-F5344CB8AC3E}">
        <p14:creationId xmlns:p14="http://schemas.microsoft.com/office/powerpoint/2010/main" val="9971495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F2C606-CFC7-4F8D-82DB-72F0F409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Fix the measurement before adding more models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98CB176-7479-48FC-AF6D-8753EE8D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7E"/>
                </a:solidFill>
                <a:latin typeface="Aptos"/>
                <a:ea typeface="Aptos"/>
                <a:cs typeface="Aptos"/>
              </a:rPr>
              <a:t>Better evidence makes the current results more useful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A911F-0853-4CB2-B23D-05133CD5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1000"/>
            <a:ext cx="1752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5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7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F5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F5D4A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022D4-04E8-4D84-ACAD-7E2D19B2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9D5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76300" y="1762125"/>
          <a:ext xmlns:a="http://schemas.openxmlformats.org/drawingml/2006/main" cx="10439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095750"/>
                <a:gridCol w="434340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When</a:t>
                      </a:r>
                    </a:p>
                  </a:txBody>
                  <a:tcPr marL="114300" marR="114300" marT="66675" marB="66675">
                    <a:solidFill>
                      <a:srgbClr val="CF5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Action</a:t>
                      </a:r>
                    </a:p>
                  </a:txBody>
                  <a:tcPr marL="114300" marR="114300" marT="66675" marB="66675">
                    <a:solidFill>
                      <a:srgbClr val="CF5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Reason</a:t>
                      </a:r>
                    </a:p>
                  </a:txBody>
                  <a:tcPr marL="114300" marR="114300" marT="66675" marB="66675">
                    <a:solidFill>
                      <a:srgbClr val="CF5D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Now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Publish task panels with their limits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The current aggregates answer task-level questions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Next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Recover same-item results; check parsing and labels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This targets the main precision and measurement gaps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Next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Run the planned human review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Benchmark agreement is not human validity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Only if still unclear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Expand the comparison item banks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New items help only after the measurement is stable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2ECB5-38D4-4C29-A51E-E64E9512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27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6727E"/>
                </a:solidFill>
                <a:latin typeface="Aptos"/>
                <a:ea typeface="Aptos"/>
                <a:cs typeface="Aptos"/>
              </a:rPr>
              <a:t>Best next move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5BED2-B613-4D32-A152-0E919B43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83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Compare models on the same items, then complete human validation.</a:t>
            </a:r>
          </a:p>
        </p:txBody>
      </p:sp>
    </p:spTree>
    <p:extLst>
      <p:ext uri="{BB962C8B-B14F-4D97-AF65-F5344CB8AC3E}">
        <p14:creationId xmlns:p14="http://schemas.microsoft.com/office/powerpoint/2010/main" val="572413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2026-09-04T05:32:28.0320000Z</dcterms:created>
  <dcterms:modified xsi:type="dcterms:W3CDTF">2026-09-04T05:32:28.0320000Z</dcterms:modified>
</coreProperties>
</file>