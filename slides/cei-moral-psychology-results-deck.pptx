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1c0a4ccb47420d" /><Relationship Type="http://schemas.openxmlformats.org/officeDocument/2006/relationships/extended-properties" Target="/docProps/app.xml" Id="R81a8888cf2e143d7" /><Relationship Type="http://schemas.openxmlformats.org/officeDocument/2006/relationships/officeDocument" Target="/ppt/presentation.xml" Id="R1ff45965a99b42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bf78f4860e4570"/>
  </p:sldMasterIdLst>
  <p:notesMasterIdLst>
    <p:notesMasterId xmlns:r="http://schemas.openxmlformats.org/officeDocument/2006/relationships" r:id="R359fcbef56f2473f"/>
  </p:notesMasterIdLst>
  <p:sldIdLst>
    <p:sldId xmlns:r="http://schemas.openxmlformats.org/officeDocument/2006/relationships" id="256" r:id="Rb0ad8be8fafa47b7"/>
    <p:sldId xmlns:r="http://schemas.openxmlformats.org/officeDocument/2006/relationships" id="257" r:id="R8e291d4e955745f8"/>
    <p:sldId xmlns:r="http://schemas.openxmlformats.org/officeDocument/2006/relationships" id="258" r:id="R02d7515f1d484e96"/>
    <p:sldId xmlns:r="http://schemas.openxmlformats.org/officeDocument/2006/relationships" id="259" r:id="R548e48cc0f1a46d4"/>
    <p:sldId xmlns:r="http://schemas.openxmlformats.org/officeDocument/2006/relationships" id="260" r:id="R5ef55b18ace443ff"/>
    <p:sldId xmlns:r="http://schemas.openxmlformats.org/officeDocument/2006/relationships" id="261" r:id="R82ef7f98e8094022"/>
    <p:sldId xmlns:r="http://schemas.openxmlformats.org/officeDocument/2006/relationships" id="262" r:id="R55df7994b796414e"/>
    <p:sldId xmlns:r="http://schemas.openxmlformats.org/officeDocument/2006/relationships" id="263" r:id="R8bb1a88be7684af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bb4d7a63074056" /><Relationship Type="http://schemas.openxmlformats.org/officeDocument/2006/relationships/slideMaster" Target="/ppt/slideMasters/slideMaster1.xml" Id="R08bf78f4860e4570" /><Relationship Type="http://schemas.openxmlformats.org/officeDocument/2006/relationships/notesMaster" Target="/ppt/notesMasters/notesMaster1.xml" Id="R359fcbef56f2473f" /><Relationship Type="http://schemas.openxmlformats.org/officeDocument/2006/relationships/presProps" Target="/ppt/presProps.xml" Id="R19f72fc86db948b8" /><Relationship Type="http://schemas.openxmlformats.org/officeDocument/2006/relationships/tableStyles" Target="/ppt/tableStyles.xml" Id="R5e4c92462b934381" /><Relationship Type="http://schemas.openxmlformats.org/officeDocument/2006/relationships/slide" Target="/ppt/slides/slide1.xml" Id="Rb0ad8be8fafa47b7" /><Relationship Type="http://schemas.openxmlformats.org/officeDocument/2006/relationships/slide" Target="/ppt/slides/slide2.xml" Id="R8e291d4e955745f8" /><Relationship Type="http://schemas.openxmlformats.org/officeDocument/2006/relationships/slide" Target="/ppt/slides/slide3.xml" Id="R02d7515f1d484e96" /><Relationship Type="http://schemas.openxmlformats.org/officeDocument/2006/relationships/slide" Target="/ppt/slides/slide4.xml" Id="R548e48cc0f1a46d4" /><Relationship Type="http://schemas.openxmlformats.org/officeDocument/2006/relationships/slide" Target="/ppt/slides/slide5.xml" Id="R5ef55b18ace443ff" /><Relationship Type="http://schemas.openxmlformats.org/officeDocument/2006/relationships/slide" Target="/ppt/slides/slide6.xml" Id="R82ef7f98e8094022" /><Relationship Type="http://schemas.openxmlformats.org/officeDocument/2006/relationships/slide" Target="/ppt/slides/slide7.xml" Id="R55df7994b796414e" /><Relationship Type="http://schemas.openxmlformats.org/officeDocument/2006/relationships/slide" Target="/ppt/slides/slide8.xml" Id="R8bb1a88be7684a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f8ab662fbd4b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6ced9050cc42d3" /><Relationship Type="http://schemas.openxmlformats.org/officeDocument/2006/relationships/notesMaster" Target="/ppt/notesMasters/notesMaster1.xml" Id="R7b173418a07744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ef72694d284e39" /><Relationship Type="http://schemas.openxmlformats.org/officeDocument/2006/relationships/notesMaster" Target="/ppt/notesMasters/notesMaster1.xml" Id="Re9e8e6322aa346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029e9833d5b427f" /><Relationship Type="http://schemas.openxmlformats.org/officeDocument/2006/relationships/notesMaster" Target="/ppt/notesMasters/notesMaster1.xml" Id="R2c2d9e4aa9d34f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8c6b11415a4c44" /><Relationship Type="http://schemas.openxmlformats.org/officeDocument/2006/relationships/notesMaster" Target="/ppt/notesMasters/notesMaster1.xml" Id="Re63f1ae27c3944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1ac603f65949d2" /><Relationship Type="http://schemas.openxmlformats.org/officeDocument/2006/relationships/notesMaster" Target="/ppt/notesMasters/notesMaster1.xml" Id="R1a36c13300a642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aabca44a9e4f0d" /><Relationship Type="http://schemas.openxmlformats.org/officeDocument/2006/relationships/notesMaster" Target="/ppt/notesMasters/notesMaster1.xml" Id="R8de63e6cadb043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68c6e5c4d149cd" /><Relationship Type="http://schemas.openxmlformats.org/officeDocument/2006/relationships/notesMaster" Target="/ppt/notesMasters/notesMaster1.xml" Id="R6d2f2a1f742c4f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ee9030148645f7" /><Relationship Type="http://schemas.openxmlformats.org/officeDocument/2006/relationships/notesMaster" Target="/ppt/notesMasters/notesMaster1.xml" Id="R83745b8fa3344a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Claim: publish task-level results, but do not create an overall model ranking.</a:t>
            </a:r>
          </a:p>
          <a:p xmlns:a="http://schemas.openxmlformats.org/drawingml/2006/main">
            <a:r>
              <a:t>Sources: docs/RESEARCH_LEAD_BRIEF.md; data/results/research_question_takeaways.csv.</a:t>
            </a:r>
          </a:p>
          <a:p xmlns:a="http://schemas.openxmlformats.org/drawingml/2006/main">
            <a:r>
              <a:t>Boundary: current task aggregates and saved uncertainty do not establish human validity, causal effects, or one cross-metric moral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row shows the highest saved point estimate for that task among Claude Haiku 4.5, Claude Opus 4.8, GPT-5.4, GPT-5.4 mini, and Qwen3 8B.</a:t>
            </a:r>
          </a:p>
          <a:p xmlns:a="http://schemas.openxmlformats.org/drawingml/2006/main">
            <a:r>
              <a:t>Sources: data/results/common_roster_primary.csv; docs/RESULTS_READOUT.md section 1.</a:t>
            </a:r>
          </a:p>
          <a:p xmlns:a="http://schemas.openxmlformats.org/drawingml/2006/main">
            <a:r>
              <a:t>The MFQ compare top value is shared by Claude Haiku 4.5 and Qwen3 8B. The vignette compare top value is shared by Claude Haiku 4.5 and GPT-5.4.</a:t>
            </a:r>
          </a:p>
          <a:p xmlns:a="http://schemas.openxmlformats.org/drawingml/2006/main">
            <a:r>
              <a:t>Values belong to different metrics. The visible labels translate normalized preference and METEOR into plain language.</a:t>
            </a:r>
          </a:p>
          <a:p xmlns:a="http://schemas.openxmlformats.org/drawingml/2006/main">
            <a:r>
              <a:t>Do not average preference, accuracy, and METEOR or treat this table as a moral leaderboard.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data/results/task_precision.csv.</a:t>
            </a:r>
          </a:p>
          <a:p xmlns:a="http://schemas.openxmlformats.org/drawingml/2006/main">
            <a:r>
              <a:t>All 18 individual intervals wider than .30 occur in the two MoralBench comparison tasks.</a:t>
            </a:r>
          </a:p>
          <a:p xmlns:a="http://schemas.openxmlformats.org/drawingml/2006/main">
            <a:r>
              <a:t>Denominator: all available primary models—8 on MFQ compare and 10 on vignette compare—not the five-model common roster.</a:t>
            </a:r>
          </a:p>
          <a:p xmlns:a="http://schemas.openxmlformats.org/drawingml/2006/main">
            <a:r>
              <a:t>Within each comparison task, every model pair has overlapping marginal intervals: 28 of 28 MFQ pairs and 45 of 45 vignette pairs.</a:t>
            </a:r>
          </a:p>
          <a:p xmlns:a="http://schemas.openxmlformats.org/drawingml/2006/main">
            <a:r>
              <a:t>This is not a paired model-difference test. The narrow UniMoral intervals are nominal row-level estimates and do not establish cluster-aware uncertainty or human validity.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data/results/size_task_points.csv.</a:t>
            </a:r>
          </a:p>
          <a:p xmlns:a="http://schemas.openxmlformats.org/drawingml/2006/main">
            <a:r>
              <a:t>Denominator: 12 complete paths equals three model families times four UniMoral tasks. Each path contains three named variants.</a:t>
            </a:r>
          </a:p>
          <a:p xmlns:a="http://schemas.openxmlformats.org/drawingml/2006/main">
            <a:r>
              <a:t>Counts: 4 rise at both steps, 7 change direction, and 1 falls at both steps.</a:t>
            </a:r>
          </a:p>
          <a:p xmlns:a="http://schemas.openxmlformats.org/drawingml/2006/main">
            <a:r>
              <a:t>Accuracy and METEOR stay separate.</a:t>
            </a:r>
          </a:p>
          <a:p xmlns:a="http://schemas.openxmlformats.org/drawingml/2006/main">
            <a:r>
              <a:t>This slide counts within-task direction only. It does not average accuracy and METEOR. The selected grid has no saved confidence intervals or raw-log replay.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data/results/size_task_points.csv; evidence/model-parameter-sources.csv.</a:t>
            </a:r>
          </a:p>
          <a:p xmlns:a="http://schemas.openxmlformats.org/drawingml/2006/main">
            <a:r>
              <a:t>Exact values: factor attribution .578 to .601 to .613; moral typology .597 to .579 to .570.</a:t>
            </a:r>
          </a:p>
          <a:p xmlns:a="http://schemas.openxmlformats.org/drawingml/2006/main">
            <a:r>
              <a:t>Across Qwen, Gemma, and Llama on four UniMoral tasks, 4 of 12 complete paths rise twice, 7 change direction, and 1 falls twice.</a:t>
            </a:r>
          </a:p>
          <a:p xmlns:a="http://schemas.openxmlformats.org/drawingml/2006/main">
            <a:r>
              <a:t>No saved intervals or raw-log replay are available for this selected grid.</a:t>
            </a:r>
          </a:p>
          <a:p xmlns:a="http://schemas.openxmlformats.org/drawingml/2006/main">
            <a:r>
              <a:t>This is exploratory selected-grid evidence. Parameter tier is descriptive metadata, not a controlled intervention. Qwen and Llama paths also change model generation or release period.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data/results/release_path_summary.csv; data/results/release_period_task_points.csv; data/model_release_periods.csv; evidence/model-parameter-sources.csv.</a:t>
            </a:r>
          </a:p>
          <a:p xmlns:a="http://schemas.openxmlformats.org/drawingml/2006/main">
            <a:r>
              <a:t>Classification accuracy deltas shown: Qwen action +.017873, typology +.042383, factor +.002005; DeepSeek action +.186589, typology -.003150, factor -.037514.</a:t>
            </a:r>
          </a:p>
          <a:p xmlns:a="http://schemas.openxmlformats.org/drawingml/2006/main">
            <a:r>
              <a:t>Consequence uses METEOR and is not mixed into this accuracy chart. Its endpoint deltas are Qwen -.026780 and DeepSeek +.018985.</a:t>
            </a:r>
          </a:p>
          <a:p xmlns:a="http://schemas.openxmlformats.org/drawingml/2006/main">
            <a:r>
              <a:t>Every plotted selected-grid score was evaluated on 28 or 29 May 2026. Release quarter is descriptive model metadata, not observation time or a causal intervention.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docs/PAPER_REVIEW.md; data/paper_protocol_map.csv.</a:t>
            </a:r>
          </a:p>
          <a:p xmlns:a="http://schemas.openxmlformats.org/drawingml/2006/main">
            <a:r>
              <a:t>MoralBench and UniMoral share approximate task families with the local evaluator, but model, data, prompt, metric, scorer, or aggregation identities differ.</a:t>
            </a:r>
          </a:p>
          <a:p xmlns:a="http://schemas.openxmlformats.org/drawingml/2006/main">
            <a:r>
              <a:t>MoReBench and MoralLens local performance surfaces are proxy-only. Their paper metrics and judges are not reproduced.</a:t>
            </a:r>
          </a:p>
          <a:p xmlns:a="http://schemas.openxmlformats.org/drawingml/2006/main">
            <a:r>
              <a:t>They are not direct score baselines. The visible status labels translate the protocol evidence into plain language.</a:t>
            </a:r>
          </a:p>
          <a:p xmlns:a="http://schemas.openxmlformats.org/drawingml/2006/main">
            <a:r>
              <a:t>Do not use the canonical 37-row UniMoral and ValuePrism crosswalk as the denominator for all four papers. That ledger covers a different evidence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docs/RESEARCH_LEAD_BRIEF.md; evidence/canonical-audit/RERUN_PRIORITY.md; evidence/canonical-audit/SELF_CRITIQUE.md.</a:t>
            </a:r>
          </a:p>
          <a:p xmlns:a="http://schemas.openxmlformats.org/drawingml/2006/main">
            <a:r>
              <a:t>The order shown is a decision recommendation, not a statistical theorem.</a:t>
            </a:r>
          </a:p>
          <a:p xmlns:a="http://schemas.openxmlformats.org/drawingml/2006/main">
            <a:r>
              <a:t>Benchmark agreement is not human validity. The visible wording translates that evidence boundary into plain language.</a:t>
            </a:r>
          </a:p>
          <a:p xmlns:a="http://schemas.openxmlformats.org/drawingml/2006/main">
            <a:r>
              <a:t>The saved evidence still lacks canonical raw archives, clustered uncertainty, complete model and dataset identity, contamination testing, and representative human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844ed8d33b48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eaec0793fb4150" /><Relationship Type="http://schemas.openxmlformats.org/officeDocument/2006/relationships/slideLayout" Target="/ppt/slideLayouts/slideLayout1.xml" Id="R47c4c3dd19b24d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c4c3dd19b24d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6119a6aab45e1" /><Relationship Type="http://schemas.openxmlformats.org/officeDocument/2006/relationships/notesSlide" Target="/ppt/notesSlides/notesSlide1.xml" Id="R1598accf49de4d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08db38b624870" /><Relationship Type="http://schemas.openxmlformats.org/officeDocument/2006/relationships/notesSlide" Target="/ppt/notesSlides/notesSlide2.xml" Id="R89bb58bf19814f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3fe4ba052c49e1" /><Relationship Type="http://schemas.openxmlformats.org/officeDocument/2006/relationships/chart" Target="/ppt/slides/charts/chart1.xml" Id="R3390438968ec45da" /><Relationship Type="http://schemas.openxmlformats.org/officeDocument/2006/relationships/notesSlide" Target="/ppt/notesSlides/notesSlide3.xml" Id="Re20fd223a38749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2e15b661344c13" /><Relationship Type="http://schemas.openxmlformats.org/officeDocument/2006/relationships/chart" Target="/ppt/slides/charts/chart2.xml" Id="Rdb49c5426f5b4c7c" /><Relationship Type="http://schemas.openxmlformats.org/officeDocument/2006/relationships/notesSlide" Target="/ppt/notesSlides/notesSlide4.xml" Id="R1c640cc81d3c42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35e2880044b5d" /><Relationship Type="http://schemas.openxmlformats.org/officeDocument/2006/relationships/chart" Target="/ppt/slides/charts/chart3.xml" Id="R0f5c0d8562b74e4f" /><Relationship Type="http://schemas.openxmlformats.org/officeDocument/2006/relationships/notesSlide" Target="/ppt/notesSlides/notesSlide5.xml" Id="R2e34ad61c9d247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dcc3304134b70" /><Relationship Type="http://schemas.openxmlformats.org/officeDocument/2006/relationships/chart" Target="/ppt/slides/charts/chart4.xml" Id="R4586caa7cb99409e" /><Relationship Type="http://schemas.openxmlformats.org/officeDocument/2006/relationships/notesSlide" Target="/ppt/notesSlides/notesSlide6.xml" Id="Rd58df9d0086e4b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563dc0d7f429b" /><Relationship Type="http://schemas.openxmlformats.org/officeDocument/2006/relationships/notesSlide" Target="/ppt/notesSlides/notesSlide7.xml" Id="R6cc07532875f4f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3816dec3424bd2" /><Relationship Type="http://schemas.openxmlformats.org/officeDocument/2006/relationships/notesSlide" Target="/ppt/notesSlides/notesSlide8.xml" Id="R0672e385e95840e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Median width of saved 95% ranges — wider means less sure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Interval width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3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4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5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6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7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Data'!$A$2:$A$9</c:f>
              <c:strCache>
                <c:ptCount val="8"/>
                <c:pt idx="0">
                  <c:v>MFQ compare</c:v>
                </c:pt>
                <c:pt idx="1">
                  <c:v>Vignette compare</c:v>
                </c:pt>
                <c:pt idx="2">
                  <c:v>MFQ agreement</c:v>
                </c:pt>
                <c:pt idx="3">
                  <c:v>Vignette agreement</c:v>
                </c:pt>
                <c:pt idx="4">
                  <c:v>UniMoral factor</c:v>
                </c:pt>
                <c:pt idx="5">
                  <c:v>UniMoral typology</c:v>
                </c:pt>
                <c:pt idx="6">
                  <c:v>UniMoral action</c:v>
                </c:pt>
                <c:pt idx="7">
                  <c:v>UniMoral consequence</c:v>
                </c:pt>
              </c:strCache>
            </c:strRef>
          </c:cat>
          <c:val>
            <c:numRef>
              <c:f>'Chart Data'!$B$2:$B$9</c:f>
              <c:numCache>
                <c:formatCode>0.000</c:formatCode>
                <c:ptCount val="8"/>
                <c:pt idx="0">
                  <c:v>0.395</c:v>
                </c:pt>
                <c:pt idx="1">
                  <c:v>0.37</c:v>
                </c:pt>
                <c:pt idx="2">
                  <c:v>0.22</c:v>
                </c:pt>
                <c:pt idx="3">
                  <c:v>0.124</c:v>
                </c:pt>
                <c:pt idx="4">
                  <c:v>0.033</c:v>
                </c:pt>
                <c:pt idx="5">
                  <c:v>0.032</c:v>
                </c:pt>
                <c:pt idx="6">
                  <c:v>0.02</c:v>
                </c:pt>
                <c:pt idx="7">
                  <c:v>0.012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Median full width of saved 95% interval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What happens across three model versions?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Complete paths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6E5AA8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Data'!$A$2:$A$4</c:f>
              <c:strCache>
                <c:ptCount val="3"/>
                <c:pt idx="0">
                  <c:v>Rise at both steps</c:v>
                </c:pt>
                <c:pt idx="1">
                  <c:v>Change direction</c:v>
                </c:pt>
                <c:pt idx="2">
                  <c:v>Fall at both steps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7</c:v>
                </c:pt>
                <c:pt idx="2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Model-family and task cases (12 total)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3 accuracy by model size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 b="1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Factor attribution</c:v>
          </c:tx>
          <c:spPr>
            <a:ln xmlns:a="http://schemas.openxmlformats.org/drawingml/2006/main" w="38100">
              <a:solidFill>
                <a:srgbClr val="2B78B8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2B78B8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Data'!$B$2:$B$4</c:f>
              <c:numCache>
                <c:formatCode>0.000</c:formatCode>
                <c:ptCount val="3"/>
                <c:pt idx="0">
                  <c:v>0.578</c:v>
                </c:pt>
                <c:pt idx="1">
                  <c:v>0.601</c:v>
                </c:pt>
                <c:pt idx="2">
                  <c:v>0.613</c:v>
                </c:pt>
              </c:numCache>
            </c:numRef>
          </c:val>
          <c:smooth val="0"/>
        </c:ser>
        <c:ser>
          <c:idx val="1"/>
          <c:order val="1"/>
          <c:tx>
            <c:v>Moral typology</c:v>
          </c:tx>
          <c:spPr>
            <a:ln xmlns:a="http://schemas.openxmlformats.org/drawingml/2006/main" w="38100">
              <a:solidFill>
                <a:srgbClr val="6E5AA8"/>
              </a:solidFill>
              <a:prstDash val="dash"/>
            </a:ln>
          </c:spPr>
          <c:marker>
            <c:symbol val="square"/>
            <c:size val="10"/>
            <c:spPr>
              <a:solidFill xmlns:a="http://schemas.openxmlformats.org/drawingml/2006/main">
                <a:srgbClr val="6E5AA8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Data'!$D$2:$D$4</c:f>
              <c:numCache>
                <c:formatCode>0.000</c:formatCode>
                <c:ptCount val="3"/>
                <c:pt idx="0">
                  <c:v>0.597</c:v>
                </c:pt>
                <c:pt idx="1">
                  <c:v>0.579</c:v>
                </c:pt>
                <c:pt idx="2">
                  <c:v>0.57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Gemma variants ordered by published total parameters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625"/>
          <c:min val="0.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Score change from earlier to later version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Qwen</c:v>
          </c:tx>
          <c:spPr>
            <a:solidFill xmlns:a="http://schemas.openxmlformats.org/drawingml/2006/main">
              <a:srgbClr val="14856D"/>
            </a:solidFill>
          </c:spPr>
          <c:cat>
            <c:strRef>
              <c:f>'Chart Data'!$A$2:$A$4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Data'!$B$2:$B$4</c:f>
              <c:numCache>
                <c:formatCode>+0.000;-0.000;0.000</c:formatCode>
                <c:ptCount val="3"/>
                <c:pt idx="0">
                  <c:v>0.017873</c:v>
                </c:pt>
                <c:pt idx="1">
                  <c:v>0.042383</c:v>
                </c:pt>
                <c:pt idx="2">
                  <c:v>0.002005</c:v>
                </c:pt>
              </c:numCache>
            </c:numRef>
          </c:val>
        </c:ser>
        <c:ser>
          <c:idx val="1"/>
          <c:order val="1"/>
          <c:tx>
            <c:v>DeepSeek</c:v>
          </c:tx>
          <c:spPr>
            <a:solidFill xmlns:a="http://schemas.openxmlformats.org/drawingml/2006/main">
              <a:srgbClr val="6E5AA8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Data'!$D$2:$D$4</c:f>
              <c:numCache>
                <c:formatCode>+0.000;-0.000;0.000</c:formatCode>
                <c:ptCount val="3"/>
                <c:pt idx="0">
                  <c:v>0.186589</c:v>
                </c:pt>
                <c:pt idx="1">
                  <c:v>-0.00315</c:v>
                </c:pt>
                <c:pt idx="2">
                  <c:v>-0.037514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UniMoral task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-0.0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Change in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+0.00;-0.00;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5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867D34F-0CCE-493A-8257-9A6115FB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8858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Publish task results.</a:t>
            </a:r>
          </a:p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Do not rank the models.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D5646C-9E9B-4A25-B3C9-6754D344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CEI moral psychology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A19375-27D9-4477-97D0-BFDC4316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Research lead readout · 4 September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E6B9D3-98BD-47AC-8DE8-4F567101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D375B-AC9C-4AF8-9006-8DC9DF83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191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Why: the highest saved score changes by task, and saved ranges overlap on both comparison tests.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B5A675-844B-41E5-AB80-6EBCFCD8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Share the task results with their limits. Size and release slides are early clues, not final answers.</a:t>
            </a:r>
          </a:p>
        </p:txBody>
      </p:sp>
    </p:spTree>
    <p:extLst>
      <p:ext uri="{BB962C8B-B14F-4D97-AF65-F5344CB8AC3E}">
        <p14:creationId xmlns:p14="http://schemas.microsoft.com/office/powerpoint/2010/main" val="16511033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B141AE-0A87-4452-9A8E-E4B0E623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121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No model has the highest saved score on all eight tasks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37759E4-A2F9-4AD3-BBB3-C7FE200C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Highest saved score for each task, using the same five models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DC73D-79D2-4BCA-A1AD-F62E423A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927C9F-0598-41AE-8B26-EEBF79BB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914400" y="1619250"/>
          <a:ext xmlns:a="http://schemas.openxmlformats.org/drawingml/2006/main" cx="10363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809750"/>
                <a:gridCol w="2143125"/>
                <a:gridCol w="3267075"/>
              </a:tblGrid>
              <a:tr h="45508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Task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Highest saved score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Score type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agreement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.884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 mini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agreement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.920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compare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.550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Qwen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compare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.625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GPT-5.4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action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.668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typology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.651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factor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.609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consequence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.152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Text-match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82ED4B-1CDF-49DA-8A18-73E33F00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F5D4A"/>
                </a:solidFill>
                <a:latin typeface="Aptos"/>
                <a:ea typeface="Aptos"/>
                <a:cs typeface="Aptos"/>
              </a:rPr>
              <a:t>† Marginal ranges overlap on both comparison tasks; paired question results are unavailable, so no leader is resolved.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A34357-74CC-46AE-A3A5-D49E51BD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task uses its own score. Do not compare numbers from different rows.</a:t>
            </a:r>
          </a:p>
        </p:txBody>
      </p:sp>
    </p:spTree>
    <p:extLst>
      <p:ext uri="{BB962C8B-B14F-4D97-AF65-F5344CB8AC3E}">
        <p14:creationId xmlns:p14="http://schemas.microsoft.com/office/powerpoint/2010/main" val="10856493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596B0F-238C-4C99-9684-F5A797CD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62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Every model pair has overlapping score ranges on both tests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49C5352-1CB5-4C30-8A5B-5684DCF3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Full primary panels: MFQ = 8 models × 20 questions; Vignette = 10 × 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8B5E80-366C-4695-926B-6EA6D522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5E3913-97A7-49F3-A70F-7B2B0DAC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D1840F-E9E7-4E43-BC6D-B6DA42C4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19225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bar = the median full width of saved 95% intervals across available models.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1143000" y="1685925"/>
          <a:ext xmlns:a="http://schemas.openxmlformats.org/drawingml/2006/main" cx="9810750" cy="3209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90438968ec45da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72E2FF-0D09-4065-9A17-2E9117DD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Marginal ranges overlap for all 28 MFQ and all 45 Vignette model pairs.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A7612D-60FF-4543-8470-05BA3C84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24475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These ranges look at one model at a time; paired question results are unavailable.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8E407D-E6A6-4490-8A57-7E280E97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Next: restore every model's answer and score for each question.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17A31B-C74D-4743-8D1D-2B4461F4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817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Check scoring and labels. Then compare models and have people review the test.</a:t>
            </a:r>
          </a:p>
        </p:txBody>
      </p:sp>
    </p:spTree>
    <p:extLst>
      <p:ext uri="{BB962C8B-B14F-4D97-AF65-F5344CB8AC3E}">
        <p14:creationId xmlns:p14="http://schemas.microsoft.com/office/powerpoint/2010/main" val="19621216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09F1C1-4F8F-4A3B-8CDD-AA21577B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Only 4 of 12 model-and-task cases rise twice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E143E08-F909-4358-A840-60829782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Qwen, Gemma, and Llama × four tasks; model versions differ in more than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C0684F-F33C-4E99-B0E0-6A5B7970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BBBDC-2C02-466B-8F5F-46F9930C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428750" y="1809750"/>
          <a:ext xmlns:a="http://schemas.openxmlformats.org/drawingml/2006/main" cx="9334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49c5426f5b4c7c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49A6A6-053E-4AB9-8299-2238B717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bar counts model-family × task cases (12 total).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DDAEE7-1E6E-4FE9-9338-46939C23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Size is one clue, not a general rule.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ACAE09-87A7-45CD-9749-59DAA6C5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864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case follows one model family on one task. Different score types stay separate.</a:t>
            </a:r>
          </a:p>
        </p:txBody>
      </p:sp>
    </p:spTree>
    <p:extLst>
      <p:ext uri="{BB962C8B-B14F-4D97-AF65-F5344CB8AC3E}">
        <p14:creationId xmlns:p14="http://schemas.microsoft.com/office/powerpoint/2010/main" val="17199886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FAFFA0-A64E-415C-B5F6-949AAA80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scores rise on one task and fall on another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89AC9-6FC6-4144-A1C0-3589B789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A8A548-6E13-4478-985E-F080CD48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1000125" y="1714500"/>
          <a:ext xmlns:a="http://schemas.openxmlformats.org/drawingml/2006/main" cx="10191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5c0d8562b74e4f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1BD23-0419-4E28-AA23-F56B3261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The larger named variants do not score higher on both tasks.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E7FE8-E6FE-41A9-9BCC-1E82B00C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19125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point is one stored task score. Its uncertainty range and raw run archive are unavailable.</a:t>
            </a:r>
          </a:p>
        </p:txBody>
      </p:sp>
    </p:spTree>
    <p:extLst>
      <p:ext uri="{BB962C8B-B14F-4D97-AF65-F5344CB8AC3E}">
        <p14:creationId xmlns:p14="http://schemas.microsoft.com/office/powerpoint/2010/main" val="6652460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69A397-58B0-4412-BC32-FE33A4EF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434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Later model versions score higher on some tasks and lower on others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C89ABE0-4D46-4A8F-BC45-BEF296E2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Score change on three UniMoral tasks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990744-32C9-43BB-93B5-6CD07D79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A23C9B-C157-40AE-B281-D3F40771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8DDD29-1DFB-448F-A854-D9EDBE3F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049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Qwen: 2024-Q3 · Qwen2.5 7B Instruct (7.61B) → 2026-Q1 · Qwen3.5 9B (9B)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AA15B-8BCC-414D-805B-3B5A5219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71650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DeepSeek: 2025-Q1 · V3-0324 (671B main, 37B active) → 2026-Q2 · V4 Flash (284B main, 13B active)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78EBD-6E9B-499E-BA57-780F0655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main = published main-model parameters (auxiliary/MTP excluded); active = parameters used per token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1143000" y="2266950"/>
          <a:ext xmlns:a="http://schemas.openxmlformats.org/drawingml/2006/main" cx="9810750" cy="31527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86caa7cb99409e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D41F9A-01B7-4DEE-A1EE-8E2B1803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578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All endpoint runs were evaluated on 28–29 May 2026.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C2277B-6899-4D3D-B019-A4C73AE1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0075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Release period is model metadata, not a progress timeline; 28–29 May is the evaluation time.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69BA7A-F92C-44BF-A0D8-2FFBA634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96025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Exploratory: saved uncertainty is unavailable. Consequence uses a different score and is not shown.</a:t>
            </a:r>
          </a:p>
        </p:txBody>
      </p:sp>
    </p:spTree>
    <p:extLst>
      <p:ext uri="{BB962C8B-B14F-4D97-AF65-F5344CB8AC3E}">
        <p14:creationId xmlns:p14="http://schemas.microsoft.com/office/powerpoint/2010/main" val="18691188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8EF986-60A5-491B-8E75-4A64CC8E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We did not exactly repeat any paper's experiment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B2E87B2-4F96-4B49-BD5C-2F621D4F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papers help explain our questions. Their scores cannot be compared with ours.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6FEC1D-1378-4471-842A-4AE38158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E6F4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PAPER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132BE-8B52-4E37-84E9-D9C3FFE0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7CC4AD-9CE1-4894-9977-112FAFA3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219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450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0 of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FAA9FB-B113-430A-8868-E613E7CB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papers repeated</a:t>
            </a:r>
          </a:p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exactly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3381375" y="1714500"/>
          <a:ext xmlns:a="http://schemas.openxmlformats.org/drawingml/2006/main" cx="804862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4476750"/>
                <a:gridCol w="19050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Paper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Plain-language question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How close is our test?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model choices match human ratings?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Similar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Can models predict choices, moral categories, influences, and what happens next?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Some similar tasks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MoReBench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Does reasoning cover expert criteria?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Related question, different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MoralLens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reasons change when a model explains before or after choosing?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Related question, different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66924-6B79-4CEC-8E03-62A82483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429250"/>
            <a:ext cx="804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Use the papers to explain our questions—not to compare scores.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0DEB4-4674-4DB2-953D-0EF9B1A4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886450"/>
            <a:ext cx="804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Our UniMoral run does not test prompt hints, language differences, or where the stories came from.</a:t>
            </a:r>
          </a:p>
        </p:txBody>
      </p:sp>
    </p:spTree>
    <p:extLst>
      <p:ext uri="{BB962C8B-B14F-4D97-AF65-F5344CB8AC3E}">
        <p14:creationId xmlns:p14="http://schemas.microsoft.com/office/powerpoint/2010/main" val="17531249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111C9C7-9477-4B0A-92BB-D919AC9D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Share task results now. Strengthen the test next.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9B1364C-F982-4537-ACFC-B75EC34D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Better evidence makes the current results more useful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898C2-7E73-4A88-B525-35D6EFA8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E5E0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41F8A4-7823-45B6-9F56-C98A9052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876300" y="1762125"/>
          <a:ext xmlns:a="http://schemas.openxmlformats.org/drawingml/2006/main" cx="10439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95750"/>
                <a:gridCol w="43434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When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Reason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Now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Share each task result with its limits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 saved results answer one task at a time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Next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Restore each model's answer and score for every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This lets us compare models on the same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Check scoring and labels; have people review the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 benchmark score alone does not prove the test matches human judgment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Only if still unclear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Add more comparison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New questions help after the scoring works correctly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717C60-F55E-4E7E-A92E-442F5E93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6727E"/>
                </a:solidFill>
                <a:latin typeface="Aptos"/>
                <a:ea typeface="Aptos"/>
                <a:cs typeface="Aptos"/>
              </a:rPr>
              <a:t>Best research next move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B4DEE-DC38-40BD-A2E1-7912B0A5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48350"/>
            <a:ext cx="10439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244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Restore answers and scores. Check scoring and labels. Compare models. Then have people review the test.</a:t>
            </a:r>
          </a:p>
        </p:txBody>
      </p:sp>
    </p:spTree>
    <p:extLst>
      <p:ext uri="{BB962C8B-B14F-4D97-AF65-F5344CB8AC3E}">
        <p14:creationId xmlns:p14="http://schemas.microsoft.com/office/powerpoint/2010/main" val="14514244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2026-09-04T08:22:15.8780000Z</dcterms:created>
  <dcterms:modified xsi:type="dcterms:W3CDTF">2026-09-04T08:22:15.8780000Z</dcterms:modified>
</coreProperties>
</file>