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1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2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3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4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dd2e5dd5c4849f5" /><Relationship Type="http://schemas.openxmlformats.org/officeDocument/2006/relationships/extended-properties" Target="/docProps/app.xml" Id="R07e3aa6af9b540c4" /><Relationship Type="http://schemas.openxmlformats.org/officeDocument/2006/relationships/officeDocument" Target="/ppt/presentation.xml" Id="R9e2c05ef53734de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743908979ba41cd"/>
  </p:sldMasterIdLst>
  <p:notesMasterIdLst>
    <p:notesMasterId xmlns:r="http://schemas.openxmlformats.org/officeDocument/2006/relationships" r:id="Rfef57cda9edc477b"/>
  </p:notesMasterIdLst>
  <p:sldIdLst>
    <p:sldId xmlns:r="http://schemas.openxmlformats.org/officeDocument/2006/relationships" id="256" r:id="R0b47971cee7540d9"/>
    <p:sldId xmlns:r="http://schemas.openxmlformats.org/officeDocument/2006/relationships" id="257" r:id="Rd9725a86a6534f7a"/>
    <p:sldId xmlns:r="http://schemas.openxmlformats.org/officeDocument/2006/relationships" id="258" r:id="Re1690afcb4824cd3"/>
    <p:sldId xmlns:r="http://schemas.openxmlformats.org/officeDocument/2006/relationships" id="259" r:id="Re2b157b5c1ee4e74"/>
    <p:sldId xmlns:r="http://schemas.openxmlformats.org/officeDocument/2006/relationships" id="260" r:id="Rdf1cc101613443bd"/>
    <p:sldId xmlns:r="http://schemas.openxmlformats.org/officeDocument/2006/relationships" id="261" r:id="R25c7a59078124659"/>
    <p:sldId xmlns:r="http://schemas.openxmlformats.org/officeDocument/2006/relationships" id="262" r:id="R7c13019639f04394"/>
    <p:sldId xmlns:r="http://schemas.openxmlformats.org/officeDocument/2006/relationships" id="263" r:id="Rffbfea72a9a74e0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3cd3d2fb6a24fd4" /><Relationship Type="http://schemas.openxmlformats.org/officeDocument/2006/relationships/slideMaster" Target="/ppt/slideMasters/slideMaster1.xml" Id="Rd743908979ba41cd" /><Relationship Type="http://schemas.openxmlformats.org/officeDocument/2006/relationships/notesMaster" Target="/ppt/notesMasters/notesMaster1.xml" Id="Rfef57cda9edc477b" /><Relationship Type="http://schemas.openxmlformats.org/officeDocument/2006/relationships/presProps" Target="/ppt/presProps.xml" Id="R79d8f859b708490b" /><Relationship Type="http://schemas.openxmlformats.org/officeDocument/2006/relationships/tableStyles" Target="/ppt/tableStyles.xml" Id="R2d1e116f2cf34fe8" /><Relationship Type="http://schemas.openxmlformats.org/officeDocument/2006/relationships/slide" Target="/ppt/slides/slide1.xml" Id="R0b47971cee7540d9" /><Relationship Type="http://schemas.openxmlformats.org/officeDocument/2006/relationships/slide" Target="/ppt/slides/slide2.xml" Id="Rd9725a86a6534f7a" /><Relationship Type="http://schemas.openxmlformats.org/officeDocument/2006/relationships/slide" Target="/ppt/slides/slide3.xml" Id="Re1690afcb4824cd3" /><Relationship Type="http://schemas.openxmlformats.org/officeDocument/2006/relationships/slide" Target="/ppt/slides/slide4.xml" Id="Re2b157b5c1ee4e74" /><Relationship Type="http://schemas.openxmlformats.org/officeDocument/2006/relationships/slide" Target="/ppt/slides/slide5.xml" Id="Rdf1cc101613443bd" /><Relationship Type="http://schemas.openxmlformats.org/officeDocument/2006/relationships/slide" Target="/ppt/slides/slide6.xml" Id="R25c7a59078124659" /><Relationship Type="http://schemas.openxmlformats.org/officeDocument/2006/relationships/slide" Target="/ppt/slides/slide7.xml" Id="R7c13019639f04394" /><Relationship Type="http://schemas.openxmlformats.org/officeDocument/2006/relationships/slide" Target="/ppt/slides/slide8.xml" Id="Rffbfea72a9a74e0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ed11af9dbab47c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77f4ddd7df74b8b" /><Relationship Type="http://schemas.openxmlformats.org/officeDocument/2006/relationships/notesMaster" Target="/ppt/notesMasters/notesMaster1.xml" Id="R784c0ffe415643f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5bf06b121224865" /><Relationship Type="http://schemas.openxmlformats.org/officeDocument/2006/relationships/notesMaster" Target="/ppt/notesMasters/notesMaster1.xml" Id="Rf57e44fad171403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cb5a0d7687c4c15" /><Relationship Type="http://schemas.openxmlformats.org/officeDocument/2006/relationships/notesMaster" Target="/ppt/notesMasters/notesMaster1.xml" Id="R2752747fb637455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7174937b8d6441b" /><Relationship Type="http://schemas.openxmlformats.org/officeDocument/2006/relationships/notesMaster" Target="/ppt/notesMasters/notesMaster1.xml" Id="Re5316c77dfd245f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dc8b7168cd64692" /><Relationship Type="http://schemas.openxmlformats.org/officeDocument/2006/relationships/notesMaster" Target="/ppt/notesMasters/notesMaster1.xml" Id="Rbf0033f268f84ba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47209302a124c86" /><Relationship Type="http://schemas.openxmlformats.org/officeDocument/2006/relationships/notesMaster" Target="/ppt/notesMasters/notesMaster1.xml" Id="Rb6201c282bff4bf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c4d6a5af4924100" /><Relationship Type="http://schemas.openxmlformats.org/officeDocument/2006/relationships/notesMaster" Target="/ppt/notesMasters/notesMaster1.xml" Id="Rc4667f46b93041f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0217e0e42cc476e" /><Relationship Type="http://schemas.openxmlformats.org/officeDocument/2006/relationships/notesMaster" Target="/ppt/notesMasters/notesMaster1.xml" Id="R81dc5a768f62432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Claim: publish task-level results, but do not create an overall model ranking.</a:t>
            </a:r>
          </a:p>
          <a:p xmlns:a="http://schemas.openxmlformats.org/drawingml/2006/main">
            <a:r>
              <a:t>Sources: docs/RESEARCH_LEAD_BRIEF.md; data/results/research_question_takeaways.csv.</a:t>
            </a:r>
          </a:p>
          <a:p xmlns:a="http://schemas.openxmlformats.org/drawingml/2006/main">
            <a:r>
              <a:t>Boundary: current task aggregates and saved uncertainty do not establish human validity, causal effects, or one cross-metric moral score.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Each row shows the highest saved point estimate for that task among Claude Haiku 4.5, Claude Opus 4.8, GPT-5.4, GPT-5.4 mini, and Qwen3 8B.</a:t>
            </a:r>
          </a:p>
          <a:p xmlns:a="http://schemas.openxmlformats.org/drawingml/2006/main">
            <a:r>
              <a:t>Sources: data/results/common_roster_primary.csv; docs/RESULTS_READOUT.md section 1.</a:t>
            </a:r>
          </a:p>
          <a:p xmlns:a="http://schemas.openxmlformats.org/drawingml/2006/main">
            <a:r>
              <a:t>The MFQ compare top value is shared by Claude Haiku 4.5 and Qwen3 8B. The vignette compare top value is shared by Claude Haiku 4.5 and GPT-5.4.</a:t>
            </a:r>
          </a:p>
          <a:p xmlns:a="http://schemas.openxmlformats.org/drawingml/2006/main">
            <a:r>
              <a:t>Values belong to different metrics. The visible labels translate normalized preference and METEOR into plain language.</a:t>
            </a:r>
          </a:p>
          <a:p xmlns:a="http://schemas.openxmlformats.org/drawingml/2006/main">
            <a:r>
              <a:t>Do not average preference, accuracy, and METEOR or treat this table as a moral leaderboard.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data/results/task_precision.csv.</a:t>
            </a:r>
          </a:p>
          <a:p xmlns:a="http://schemas.openxmlformats.org/drawingml/2006/main">
            <a:r>
              <a:t>All 18 individual intervals wider than .30 occur in the two MoralBench comparison tasks.</a:t>
            </a:r>
          </a:p>
          <a:p xmlns:a="http://schemas.openxmlformats.org/drawingml/2006/main">
            <a:r>
              <a:t>Within each comparison task, every model pair has overlapping marginal intervals: 28 of 28 MFQ pairs and 45 of 45 vignette pairs.</a:t>
            </a:r>
          </a:p>
          <a:p xmlns:a="http://schemas.openxmlformats.org/drawingml/2006/main">
            <a:r>
              <a:t>This is not a paired model-difference test. The narrow UniMoral intervals are nominal row-level estimates and do not establish cluster-aware uncertainty or human validity.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data/results/size_path_summary.csv; data/results/size_task_points.csv.</a:t>
            </a:r>
          </a:p>
          <a:p xmlns:a="http://schemas.openxmlformats.org/drawingml/2006/main">
            <a:r>
              <a:t>Denominator: 12 complete paths equals three model families times four UniMoral tasks. Each path contains three named variants.</a:t>
            </a:r>
          </a:p>
          <a:p xmlns:a="http://schemas.openxmlformats.org/drawingml/2006/main">
            <a:r>
              <a:t>Counts: 4 rise at both steps, 7 change direction, and 1 falls at both steps.</a:t>
            </a:r>
          </a:p>
          <a:p xmlns:a="http://schemas.openxmlformats.org/drawingml/2006/main">
            <a:r>
              <a:t>Accuracy and METEOR stay separate.</a:t>
            </a:r>
          </a:p>
          <a:p xmlns:a="http://schemas.openxmlformats.org/drawingml/2006/main">
            <a:r>
              <a:t>This slide counts within-task direction only. It does not average accuracy and METEOR. The selected grid has no saved confidence intervals or raw-log replay.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data/results/size_path_summary.csv; data/results/size_task_points.csv; evidence/model-parameter-sources.csv.</a:t>
            </a:r>
          </a:p>
          <a:p xmlns:a="http://schemas.openxmlformats.org/drawingml/2006/main">
            <a:r>
              <a:t>Exact values: factor attribution .578 to .601 to .613; moral typology .597 to .579 to .570.</a:t>
            </a:r>
          </a:p>
          <a:p xmlns:a="http://schemas.openxmlformats.org/drawingml/2006/main">
            <a:r>
              <a:t>Across Qwen, Gemma, and Llama on four UniMoral tasks, 4 of 12 complete paths rise twice, 7 change direction, and 1 falls twice.</a:t>
            </a:r>
          </a:p>
          <a:p xmlns:a="http://schemas.openxmlformats.org/drawingml/2006/main">
            <a:r>
              <a:t>No saved intervals or raw-log replay are available for this selected grid.</a:t>
            </a:r>
          </a:p>
          <a:p xmlns:a="http://schemas.openxmlformats.org/drawingml/2006/main">
            <a:r>
              <a:t>This is exploratory selected-grid evidence. Parameter tier is descriptive metadata, not a controlled intervention. Qwen and Llama paths also change model generation or release period.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data/results/release_path_summary.csv; data/results/release_period_task_points.csv; evidence/model-parameter-sources.csv.</a:t>
            </a:r>
          </a:p>
          <a:p xmlns:a="http://schemas.openxmlformats.org/drawingml/2006/main">
            <a:r>
              <a:t>Classification accuracy deltas shown: Qwen action +.017873, typology +.042383, factor +.002005; DeepSeek action +.186589, typology -.003150, factor -.037514.</a:t>
            </a:r>
          </a:p>
          <a:p xmlns:a="http://schemas.openxmlformats.org/drawingml/2006/main">
            <a:r>
              <a:t>Consequence uses METEOR and is not mixed into this accuracy chart. Its endpoint deltas are Qwen -.026780 and DeepSeek +.018985.</a:t>
            </a:r>
          </a:p>
          <a:p xmlns:a="http://schemas.openxmlformats.org/drawingml/2006/main">
            <a:r>
              <a:t>Every plotted selected-grid score was evaluated on 28 or 29 May 2026. Release quarter is descriptive model metadata, not observation time or a causal intervention.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docs/PAPER_REVIEW.md; data/paper_protocol_map.csv.</a:t>
            </a:r>
          </a:p>
          <a:p xmlns:a="http://schemas.openxmlformats.org/drawingml/2006/main">
            <a:r>
              <a:t>MoralBench and UniMoral share approximate task families with the local evaluator, but model, data, prompt, metric, scorer, or aggregation identities differ.</a:t>
            </a:r>
          </a:p>
          <a:p xmlns:a="http://schemas.openxmlformats.org/drawingml/2006/main">
            <a:r>
              <a:t>MoReBench and MoralLens local performance surfaces are proxy-only. Their paper metrics and judges are not reproduced.</a:t>
            </a:r>
          </a:p>
          <a:p xmlns:a="http://schemas.openxmlformats.org/drawingml/2006/main">
            <a:r>
              <a:t>They are not direct score baselines. The visible status labels translate the protocol evidence into plain language.</a:t>
            </a:r>
          </a:p>
          <a:p xmlns:a="http://schemas.openxmlformats.org/drawingml/2006/main">
            <a:r>
              <a:t>Do not use the canonical 37-row UniMoral and ValuePrism crosswalk as the denominator for all four papers. That ledger covers a different evidence scope.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docs/RESEARCH_LEAD_BRIEF.md; evidence/canonical-audit/RERUN_PRIORITY.md; evidence/canonical-audit/SELF_CRITIQUE.md.</a:t>
            </a:r>
          </a:p>
          <a:p xmlns:a="http://schemas.openxmlformats.org/drawingml/2006/main">
            <a:r>
              <a:t>The order shown is a decision recommendation, not a statistical theorem.</a:t>
            </a:r>
          </a:p>
          <a:p xmlns:a="http://schemas.openxmlformats.org/drawingml/2006/main">
            <a:r>
              <a:t>Benchmark agreement is not human validity. The visible wording translates that evidence boundary into plain language.</a:t>
            </a:r>
          </a:p>
          <a:p xmlns:a="http://schemas.openxmlformats.org/drawingml/2006/main">
            <a:r>
              <a:t>The saved evidence still lacks canonical raw archives, clustered uncertainty, complete model and dataset identity, contamination testing, and representative human validation.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283532fd91a459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9b87b8d727b4a6f" /><Relationship Type="http://schemas.openxmlformats.org/officeDocument/2006/relationships/slideLayout" Target="/ppt/slideLayouts/slideLayout1.xml" Id="R18b66c07dfed4c1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8b66c07dfed4c1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2256862dd94cff" /><Relationship Type="http://schemas.openxmlformats.org/officeDocument/2006/relationships/notesSlide" Target="/ppt/notesSlides/notesSlide1.xml" Id="R50fe166eeca04fa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9c701819634530" /><Relationship Type="http://schemas.openxmlformats.org/officeDocument/2006/relationships/notesSlide" Target="/ppt/notesSlides/notesSlide2.xml" Id="R46deaa7b71e24d0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ae0384523c461e" /><Relationship Type="http://schemas.openxmlformats.org/officeDocument/2006/relationships/chart" Target="/ppt/slides/charts/chart1.xml" Id="R50d862d518b3432f" /><Relationship Type="http://schemas.openxmlformats.org/officeDocument/2006/relationships/notesSlide" Target="/ppt/notesSlides/notesSlide3.xml" Id="R7df20ad0b9c649e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be2255c844440a" /><Relationship Type="http://schemas.openxmlformats.org/officeDocument/2006/relationships/chart" Target="/ppt/slides/charts/chart2.xml" Id="R7b0283ef3b88497c" /><Relationship Type="http://schemas.openxmlformats.org/officeDocument/2006/relationships/notesSlide" Target="/ppt/notesSlides/notesSlide4.xml" Id="Rb41f30a18553438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e7e934b982461e" /><Relationship Type="http://schemas.openxmlformats.org/officeDocument/2006/relationships/chart" Target="/ppt/slides/charts/chart3.xml" Id="R8a5e35d920fb4111" /><Relationship Type="http://schemas.openxmlformats.org/officeDocument/2006/relationships/notesSlide" Target="/ppt/notesSlides/notesSlide5.xml" Id="Rc28370b06f1049d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f4b7c80aac47aa" /><Relationship Type="http://schemas.openxmlformats.org/officeDocument/2006/relationships/chart" Target="/ppt/slides/charts/chart4.xml" Id="R78ea8a728413484b" /><Relationship Type="http://schemas.openxmlformats.org/officeDocument/2006/relationships/notesSlide" Target="/ppt/notesSlides/notesSlide6.xml" Id="R718aa0ff469747a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b30a5fe61f4d51" /><Relationship Type="http://schemas.openxmlformats.org/officeDocument/2006/relationships/notesSlide" Target="/ppt/notesSlides/notesSlide7.xml" Id="Re629d1a606ed42d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456f5101fa46b7" /><Relationship Type="http://schemas.openxmlformats.org/officeDocument/2006/relationships/notesSlide" Target="/ppt/notesSlides/notesSlide8.xml" Id="Rfa9591c5eed7445d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_rels/chart4.xml.rels><Relationships xmlns="http://schemas.openxmlformats.org/package/2006/relationships"><Relationship Id="rIdChartSnapshot1" Type="http://schemas.openxmlformats.org/officeDocument/2006/relationships/package" Target="../../embeddings/chart-data-snapshot-004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latin typeface="Aptos"/>
                <a:ea typeface="Aptos"/>
                <a:cs typeface="Aptos"/>
              </a:rPr>
              <a:t>How wide is the uncertainty range? Wider means less sure.</a:t>
            </a:r>
          </a:p>
        </c:rich>
      </c:tx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>
              <a:latin typeface="Aptos"/>
              <a:ea typeface="Aptos"/>
              <a:cs typeface="Aptos"/>
            </a:defRPr>
          </a:pPr>
        </a:p>
      </c:txPr>
    </c:title>
    <c:plotArea>
      <c:barChart>
        <c:barDir val="bar"/>
        <c:grouping val="clustered"/>
        <c:varyColors val="0"/>
        <c:ser>
          <c:idx val="0"/>
          <c:order val="0"/>
          <c:tx>
            <c:v>Interval width</c:v>
          </c:tx>
          <c:spPr>
            <a:solidFill xmlns:a="http://schemas.openxmlformats.org/drawingml/2006/main">
              <a:srgbClr val="14856D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CF5D4A"/>
              </a:solidFill>
              <a:ln xmlns:a="http://schemas.openxmlformats.org/drawingml/2006/main" w="0">
                <a:noFill/>
              </a:ln>
            </c:spPr>
          </c:dPt>
          <c:dPt>
            <c:idx val="1"/>
            <c:invertIfNegative val="0"/>
            <c:spPr>
              <a:solidFill xmlns:a="http://schemas.openxmlformats.org/drawingml/2006/main">
                <a:srgbClr val="CF5D4A"/>
              </a:solidFill>
              <a:ln xmlns:a="http://schemas.openxmlformats.org/drawingml/2006/main" w="0">
                <a:noFill/>
              </a:ln>
            </c:spPr>
          </c:dPt>
          <c:dPt>
            <c:idx val="2"/>
            <c:invertIfNegative val="0"/>
            <c:spPr>
              <a:solidFill xmlns:a="http://schemas.openxmlformats.org/drawingml/2006/main">
                <a:srgbClr val="D3971E"/>
              </a:solidFill>
              <a:ln xmlns:a="http://schemas.openxmlformats.org/drawingml/2006/main" w="0">
                <a:noFill/>
              </a:ln>
            </c:spPr>
          </c:dPt>
          <c:dPt>
            <c:idx val="3"/>
            <c:invertIfNegative val="0"/>
            <c:spPr>
              <a:solidFill xmlns:a="http://schemas.openxmlformats.org/drawingml/2006/main">
                <a:srgbClr val="D3971E"/>
              </a:solidFill>
              <a:ln xmlns:a="http://schemas.openxmlformats.org/drawingml/2006/main" w="0">
                <a:noFill/>
              </a:ln>
            </c:spPr>
          </c:dPt>
          <c:dPt>
            <c:idx val="4"/>
            <c:invertIfNegative val="0"/>
            <c:spPr>
              <a:solidFill xmlns:a="http://schemas.openxmlformats.org/drawingml/2006/main">
                <a:srgbClr val="14856D"/>
              </a:solidFill>
              <a:ln xmlns:a="http://schemas.openxmlformats.org/drawingml/2006/main" w="0">
                <a:noFill/>
              </a:ln>
            </c:spPr>
          </c:dPt>
          <c:dPt>
            <c:idx val="5"/>
            <c:invertIfNegative val="0"/>
            <c:spPr>
              <a:solidFill xmlns:a="http://schemas.openxmlformats.org/drawingml/2006/main">
                <a:srgbClr val="14856D"/>
              </a:solidFill>
              <a:ln xmlns:a="http://schemas.openxmlformats.org/drawingml/2006/main" w="0">
                <a:noFill/>
              </a:ln>
            </c:spPr>
          </c:dPt>
          <c:dPt>
            <c:idx val="6"/>
            <c:invertIfNegative val="0"/>
            <c:spPr>
              <a:solidFill xmlns:a="http://schemas.openxmlformats.org/drawingml/2006/main">
                <a:srgbClr val="14856D"/>
              </a:solidFill>
              <a:ln xmlns:a="http://schemas.openxmlformats.org/drawingml/2006/main" w="0">
                <a:noFill/>
              </a:ln>
            </c:spPr>
          </c:dPt>
          <c:dPt>
            <c:idx val="7"/>
            <c:invertIfNegative val="0"/>
            <c:spPr>
              <a:solidFill xmlns:a="http://schemas.openxmlformats.org/drawingml/2006/main">
                <a:srgbClr val="14856D"/>
              </a:solidFill>
              <a:ln xmlns:a="http://schemas.openxmlformats.org/drawingml/2006/main" w="0">
                <a:noFill/>
              </a:ln>
            </c:spPr>
          </c:dPt>
          <c:cat>
            <c:strRef>
              <c:f>'Chart Data'!$A$2:$A$9</c:f>
              <c:strCache>
                <c:ptCount val="8"/>
                <c:pt idx="0">
                  <c:v>MFQ compare</c:v>
                </c:pt>
                <c:pt idx="1">
                  <c:v>Vignette compare</c:v>
                </c:pt>
                <c:pt idx="2">
                  <c:v>MFQ agreement</c:v>
                </c:pt>
                <c:pt idx="3">
                  <c:v>Vignette agreement</c:v>
                </c:pt>
                <c:pt idx="4">
                  <c:v>UniMoral factor</c:v>
                </c:pt>
                <c:pt idx="5">
                  <c:v>UniMoral typology</c:v>
                </c:pt>
                <c:pt idx="6">
                  <c:v>UniMoral action</c:v>
                </c:pt>
                <c:pt idx="7">
                  <c:v>UniMoral consequence</c:v>
                </c:pt>
              </c:strCache>
            </c:strRef>
          </c:cat>
          <c:val>
            <c:numRef>
              <c:f>'Chart Data'!$B$2:$B$9</c:f>
              <c:numCache>
                <c:formatCode>0.000</c:formatCode>
                <c:ptCount val="8"/>
                <c:pt idx="0">
                  <c:v>0.395</c:v>
                </c:pt>
                <c:pt idx="1">
                  <c:v>0.37</c:v>
                </c:pt>
                <c:pt idx="2">
                  <c:v>0.22</c:v>
                </c:pt>
                <c:pt idx="3">
                  <c:v>0.124</c:v>
                </c:pt>
                <c:pt idx="4">
                  <c:v>0.033</c:v>
                </c:pt>
                <c:pt idx="5">
                  <c:v>0.032</c:v>
                </c:pt>
                <c:pt idx="6">
                  <c:v>0.02</c:v>
                </c:pt>
                <c:pt idx="7">
                  <c:v>0.012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050" b="1">
                  <a:solidFill>
                    <a:srgbClr val="17212B"/>
                  </a:solidFill>
                  <a:latin typeface="Aptos"/>
                  <a:ea typeface="Aptos"/>
                  <a:cs typeface="Apto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D9D5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ptos"/>
                    <a:ea typeface="Aptos"/>
                    <a:cs typeface="Aptos"/>
                  </a:rPr>
                  <a:t>Width of the uncertainty range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ptos"/>
                  <a:ea typeface="Aptos"/>
                  <a:cs typeface="Aptos"/>
                </a:defRPr>
              </a:pPr>
            </a:p>
          </c:txPr>
        </c:title>
        <c:numFmt formatCode="0.0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7F5EF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7F5E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latin typeface="Aptos"/>
                <a:ea typeface="Aptos"/>
                <a:cs typeface="Aptos"/>
              </a:rPr>
              <a:t>What happens across three model versions?</a:t>
            </a:r>
          </a:p>
        </c:rich>
      </c:tx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>
              <a:latin typeface="Aptos"/>
              <a:ea typeface="Aptos"/>
              <a:cs typeface="Aptos"/>
            </a:defRPr>
          </a:pPr>
        </a:p>
      </c:txPr>
    </c:title>
    <c:plotArea>
      <c:barChart>
        <c:barDir val="bar"/>
        <c:grouping val="clustered"/>
        <c:varyColors val="0"/>
        <c:ser>
          <c:idx val="0"/>
          <c:order val="0"/>
          <c:tx>
            <c:v>Complete paths</c:v>
          </c:tx>
          <c:spPr>
            <a:solidFill xmlns:a="http://schemas.openxmlformats.org/drawingml/2006/main">
              <a:srgbClr val="14856D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14856D"/>
              </a:solidFill>
              <a:ln xmlns:a="http://schemas.openxmlformats.org/drawingml/2006/main" w="0">
                <a:noFill/>
              </a:ln>
            </c:spPr>
          </c:dPt>
          <c:dPt>
            <c:idx val="1"/>
            <c:invertIfNegative val="0"/>
            <c:spPr>
              <a:solidFill xmlns:a="http://schemas.openxmlformats.org/drawingml/2006/main">
                <a:srgbClr val="D3971E"/>
              </a:solidFill>
              <a:ln xmlns:a="http://schemas.openxmlformats.org/drawingml/2006/main" w="0">
                <a:noFill/>
              </a:ln>
            </c:spPr>
          </c:dPt>
          <c:dPt>
            <c:idx val="2"/>
            <c:invertIfNegative val="0"/>
            <c:spPr>
              <a:solidFill xmlns:a="http://schemas.openxmlformats.org/drawingml/2006/main">
                <a:srgbClr val="6E5AA8"/>
              </a:solidFill>
              <a:ln xmlns:a="http://schemas.openxmlformats.org/drawingml/2006/main" w="0">
                <a:noFill/>
              </a:ln>
            </c:spPr>
          </c:dPt>
          <c:cat>
            <c:strRef>
              <c:f>'Chart Data'!$A$2:$A$4</c:f>
              <c:strCache>
                <c:ptCount val="3"/>
                <c:pt idx="0">
                  <c:v>Rise at both steps</c:v>
                </c:pt>
                <c:pt idx="1">
                  <c:v>Change direction</c:v>
                </c:pt>
                <c:pt idx="2">
                  <c:v>Fall at both steps</c:v>
                </c:pt>
              </c:strCache>
            </c:strRef>
          </c:cat>
          <c:val>
            <c:numRef>
              <c:f>'Chart Data'!$B$2:$B$4</c:f>
              <c:numCache>
                <c:formatCode>0</c:formatCode>
                <c:ptCount val="3"/>
                <c:pt idx="0">
                  <c:v>4</c:v>
                </c:pt>
                <c:pt idx="1">
                  <c:v>7</c:v>
                </c:pt>
                <c:pt idx="2">
                  <c:v>1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 b="1">
                  <a:solidFill>
                    <a:srgbClr val="17212B"/>
                  </a:solidFill>
                  <a:latin typeface="Aptos"/>
                  <a:ea typeface="Aptos"/>
                  <a:cs typeface="Apto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D9D5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ptos"/>
                    <a:ea typeface="Aptos"/>
                    <a:cs typeface="Aptos"/>
                  </a:rPr>
                  <a:t>Model-family and task cases (12 total)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ptos"/>
                  <a:ea typeface="Aptos"/>
                  <a:cs typeface="Aptos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7F5EF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7F5E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5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Gemma 3 accuracy by model size</a:t>
            </a:r>
          </a:p>
        </c:rich>
      </c:tx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500" b="1">
              <a:solidFill>
                <a:srgbClr val="17212B"/>
              </a:solidFill>
              <a:latin typeface="Aptos"/>
              <a:ea typeface="Aptos"/>
              <a:cs typeface="Aptos"/>
            </a:defRPr>
          </a:pPr>
        </a:p>
      </c:txPr>
    </c:title>
    <c:plotArea>
      <c:lineChart>
        <c:grouping val="standard"/>
        <c:varyColors val="0"/>
        <c:ser>
          <c:idx val="0"/>
          <c:order val="0"/>
          <c:tx>
            <c:v>Factor attribution</c:v>
          </c:tx>
          <c:spPr>
            <a:ln xmlns:a="http://schemas.openxmlformats.org/drawingml/2006/main" w="38100">
              <a:solidFill>
                <a:srgbClr val="2B78B8"/>
              </a:solidFill>
              <a:prstDash val="solid"/>
            </a:ln>
          </c:spPr>
          <c:marker>
            <c:symbol val="circle"/>
            <c:size val="10"/>
            <c:spPr>
              <a:solidFill xmlns:a="http://schemas.openxmlformats.org/drawingml/2006/main">
                <a:srgbClr val="2B78B8"/>
              </a:solidFill>
            </c:spPr>
          </c:marker>
          <c:cat>
            <c:strRef>
              <c:f>'Chart Data'!$A$2:$A$4</c:f>
              <c:strCache>
                <c:ptCount val="3"/>
                <c:pt idx="0">
                  <c:v>Gemma 3-4B-IT
(4B total)</c:v>
                </c:pt>
                <c:pt idx="1">
                  <c:v>Gemma 3-12B-IT
(12B total)</c:v>
                </c:pt>
                <c:pt idx="2">
                  <c:v>Gemma 3-27B-IT
(27B total)</c:v>
                </c:pt>
              </c:strCache>
            </c:strRef>
          </c:cat>
          <c:val>
            <c:numRef>
              <c:f>'Chart Data'!$B$2:$B$4</c:f>
              <c:numCache>
                <c:formatCode>0.000</c:formatCode>
                <c:ptCount val="3"/>
                <c:pt idx="0">
                  <c:v>0.578</c:v>
                </c:pt>
                <c:pt idx="1">
                  <c:v>0.601</c:v>
                </c:pt>
                <c:pt idx="2">
                  <c:v>0.613</c:v>
                </c:pt>
              </c:numCache>
            </c:numRef>
          </c:val>
          <c:smooth val="0"/>
        </c:ser>
        <c:ser>
          <c:idx val="1"/>
          <c:order val="1"/>
          <c:tx>
            <c:v>Moral typology</c:v>
          </c:tx>
          <c:spPr>
            <a:ln xmlns:a="http://schemas.openxmlformats.org/drawingml/2006/main" w="38100">
              <a:solidFill>
                <a:srgbClr val="6E5AA8"/>
              </a:solidFill>
              <a:prstDash val="dash"/>
            </a:ln>
          </c:spPr>
          <c:marker>
            <c:symbol val="square"/>
            <c:size val="10"/>
            <c:spPr>
              <a:solidFill xmlns:a="http://schemas.openxmlformats.org/drawingml/2006/main">
                <a:srgbClr val="6E5AA8"/>
              </a:solidFill>
            </c:spPr>
          </c:marker>
          <c:cat>
            <c:strRef>
              <c:f>'Chart Data'!$C$2:$C$4</c:f>
              <c:strCache>
                <c:ptCount val="3"/>
                <c:pt idx="0">
                  <c:v>Gemma 3-4B-IT
(4B total)</c:v>
                </c:pt>
                <c:pt idx="1">
                  <c:v>Gemma 3-12B-IT
(12B total)</c:v>
                </c:pt>
                <c:pt idx="2">
                  <c:v>Gemma 3-27B-IT
(27B total)</c:v>
                </c:pt>
              </c:strCache>
            </c:strRef>
          </c:cat>
          <c:val>
            <c:numRef>
              <c:f>'Chart Data'!$D$2:$D$4</c:f>
              <c:numCache>
                <c:formatCode>0.000</c:formatCode>
                <c:ptCount val="3"/>
                <c:pt idx="0">
                  <c:v>0.597</c:v>
                </c:pt>
                <c:pt idx="1">
                  <c:v>0.579</c:v>
                </c:pt>
                <c:pt idx="2">
                  <c:v>0.57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050" b="1">
                  <a:solidFill>
                    <a:srgbClr val="17212B"/>
                  </a:solidFill>
                  <a:latin typeface="Aptos"/>
                  <a:ea typeface="Aptos"/>
                  <a:cs typeface="Apto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ptos"/>
                    <a:ea typeface="Aptos"/>
                    <a:cs typeface="Aptos"/>
                  </a:rPr>
                  <a:t>Published total parameter count within the Gemma 3 family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ptos"/>
                  <a:ea typeface="Aptos"/>
                  <a:cs typeface="Aptos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8D9D5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</a:p>
        </c:txPr>
        <c:crossAx val="48672768"/>
      </c:catAx>
      <c:valAx>
        <c:axId val="48672768"/>
        <c:scaling>
          <c:orientation val="minMax"/>
          <c:max val="0.625"/>
          <c:min val="0.54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D9D5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ptos"/>
                    <a:ea typeface="Aptos"/>
                    <a:cs typeface="Aptos"/>
                  </a:rPr>
                  <a:t>Accuracy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ptos"/>
                  <a:ea typeface="Aptos"/>
                  <a:cs typeface="Aptos"/>
                </a:defRPr>
              </a:pPr>
            </a:p>
          </c:txPr>
        </c:title>
        <c:numFmt formatCode="0.0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</a:p>
        </c:txPr>
        <c:crossAx val="48650112"/>
        <c:crossBetween val="between"/>
        <c:majorUnit val="0.02"/>
      </c:valAx>
      <c:spPr>
        <a:solidFill xmlns:a="http://schemas.openxmlformats.org/drawingml/2006/main">
          <a:srgbClr val="F7F5EF"/>
        </a:solidFill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125">
              <a:solidFill>
                <a:srgbClr val="17212B"/>
              </a:solidFill>
              <a:latin typeface="Aptos"/>
              <a:ea typeface="Aptos"/>
              <a:cs typeface="Aptos"/>
            </a:defRPr>
          </a:pPr>
        </a:p>
      </c:txPr>
    </c:legend>
    <c:plotVisOnly val="1"/>
  </c:chart>
  <c:spPr>
    <a:solidFill xmlns:a="http://schemas.openxmlformats.org/drawingml/2006/main">
      <a:srgbClr val="F7F5E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4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latin typeface="Aptos"/>
                <a:ea typeface="Aptos"/>
                <a:cs typeface="Aptos"/>
              </a:rPr>
              <a:t>Score change from earlier to later version</a:t>
            </a:r>
          </a:p>
        </c:rich>
      </c:tx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>
              <a:latin typeface="Aptos"/>
              <a:ea typeface="Aptos"/>
              <a:cs typeface="Aptos"/>
            </a:defRPr>
          </a:pPr>
        </a:p>
      </c:txPr>
    </c:title>
    <c:plotArea>
      <c:barChart>
        <c:barDir val="col"/>
        <c:grouping val="clustered"/>
        <c:varyColors val="0"/>
        <c:ser>
          <c:idx val="0"/>
          <c:order val="0"/>
          <c:tx>
            <c:v>Qwen</c:v>
          </c:tx>
          <c:spPr>
            <a:solidFill xmlns:a="http://schemas.openxmlformats.org/drawingml/2006/main">
              <a:srgbClr val="14856D"/>
            </a:solidFill>
          </c:spPr>
          <c:cat>
            <c:strRef>
              <c:f>'Chart Data'!$A$2:$A$4</c:f>
              <c:strCache>
                <c:ptCount val="3"/>
                <c:pt idx="0">
                  <c:v>Action</c:v>
                </c:pt>
                <c:pt idx="1">
                  <c:v>Typology</c:v>
                </c:pt>
                <c:pt idx="2">
                  <c:v>Factor</c:v>
                </c:pt>
              </c:strCache>
            </c:strRef>
          </c:cat>
          <c:val>
            <c:numRef>
              <c:f>'Chart Data'!$B$2:$B$4</c:f>
              <c:numCache>
                <c:formatCode>+0.000;-0.000;0.000</c:formatCode>
                <c:ptCount val="3"/>
                <c:pt idx="0">
                  <c:v>0.017873</c:v>
                </c:pt>
                <c:pt idx="1">
                  <c:v>0.042383</c:v>
                </c:pt>
                <c:pt idx="2">
                  <c:v>0.002005</c:v>
                </c:pt>
              </c:numCache>
            </c:numRef>
          </c:val>
        </c:ser>
        <c:ser>
          <c:idx val="1"/>
          <c:order val="1"/>
          <c:tx>
            <c:v>DeepSeek</c:v>
          </c:tx>
          <c:spPr>
            <a:solidFill xmlns:a="http://schemas.openxmlformats.org/drawingml/2006/main">
              <a:srgbClr val="6E5AA8"/>
            </a:solidFill>
          </c:spPr>
          <c:invertIfNegative val="0"/>
          <c:cat>
            <c:strRef>
              <c:f>'Chart Data'!$C$2:$C$4</c:f>
              <c:strCache>
                <c:ptCount val="3"/>
                <c:pt idx="0">
                  <c:v>Action</c:v>
                </c:pt>
                <c:pt idx="1">
                  <c:v>Typology</c:v>
                </c:pt>
                <c:pt idx="2">
                  <c:v>Factor</c:v>
                </c:pt>
              </c:strCache>
            </c:strRef>
          </c:cat>
          <c:val>
            <c:numRef>
              <c:f>'Chart Data'!$D$2:$D$4</c:f>
              <c:numCache>
                <c:formatCode>+0.000;-0.000;0.000</c:formatCode>
                <c:ptCount val="3"/>
                <c:pt idx="0">
                  <c:v>0.186589</c:v>
                </c:pt>
                <c:pt idx="1">
                  <c:v>-0.00315</c:v>
                </c:pt>
                <c:pt idx="2">
                  <c:v>-0.037514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050" b="1">
                  <a:solidFill>
                    <a:srgbClr val="17212B"/>
                  </a:solidFill>
                  <a:latin typeface="Aptos"/>
                  <a:ea typeface="Aptos"/>
                  <a:cs typeface="Apto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ptos"/>
                    <a:ea typeface="Aptos"/>
                    <a:cs typeface="Aptos"/>
                  </a:rPr>
                  <a:t>UniMoral task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ptos"/>
                  <a:ea typeface="Aptos"/>
                  <a:cs typeface="Aptos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8D9D5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</a:p>
        </c:txPr>
        <c:crossAx val="48672768"/>
      </c:catAx>
      <c:valAx>
        <c:axId val="48672768"/>
        <c:scaling>
          <c:orientation val="minMax"/>
          <c:max val="0.2"/>
          <c:min val="-0.05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D9D5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ptos"/>
                    <a:ea typeface="Aptos"/>
                    <a:cs typeface="Aptos"/>
                  </a:rPr>
                  <a:t>Change in accuracy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ptos"/>
                  <a:ea typeface="Aptos"/>
                  <a:cs typeface="Aptos"/>
                </a:defRPr>
              </a:pPr>
            </a:p>
          </c:txPr>
        </c:title>
        <c:numFmt formatCode="+0.00;-0.00;0.0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</a:p>
        </c:txPr>
        <c:crossAx val="48650112"/>
        <c:crossBetween val="between"/>
        <c:majorUnit val="0.05"/>
      </c:valAx>
      <c:spPr>
        <a:solidFill xmlns:a="http://schemas.openxmlformats.org/drawingml/2006/main">
          <a:srgbClr val="F7F5EF"/>
        </a:solidFill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125">
              <a:solidFill>
                <a:srgbClr val="17212B"/>
              </a:solidFill>
              <a:latin typeface="Aptos"/>
              <a:ea typeface="Aptos"/>
              <a:cs typeface="Aptos"/>
            </a:defRPr>
          </a:pPr>
        </a:p>
      </c:txPr>
    </c:legend>
    <c:plotVisOnly val="1"/>
  </c:chart>
  <c:spPr>
    <a:solidFill xmlns:a="http://schemas.openxmlformats.org/drawingml/2006/main">
      <a:srgbClr val="F7F5E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over-title">
            <a:extLst xmlns:a="http://schemas.openxmlformats.org/drawingml/2006/main">
              <a:ext uri="{FF2B5EF4-FFF2-40B4-BE49-F238E27FC236}">
                <a16:creationId xmlns:a16="http://schemas.microsoft.com/office/drawing/2014/main" id="{904004A8-C44E-4DDD-BEE1-B68CCD211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57300"/>
            <a:ext cx="885825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405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Publish task results.</a:t>
            </a:r>
          </a:p>
          <a:p xmlns:a="http://schemas.openxmlformats.org/drawingml/2006/main">
            <a:pPr algn="l">
              <a:defRPr sz="405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405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Do not rank the models.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4C7F9C-68A8-42FA-A695-EDC576DEA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81350"/>
            <a:ext cx="685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4856D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4856D"/>
                </a:solidFill>
                <a:latin typeface="Aptos"/>
                <a:ea typeface="Aptos"/>
                <a:cs typeface="Aptos"/>
              </a:rPr>
              <a:t>CEI moral psychology benchmark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0D8470-E92E-496F-AC36-5A043370D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3855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Research lead readout · 4 September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FABF7F-5854-4F75-8118-47FDD9D07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14850"/>
            <a:ext cx="685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8D9D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94BC22-20E4-400A-BBBA-4E8EAA412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62500"/>
            <a:ext cx="9191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7212B"/>
                </a:solidFill>
                <a:latin typeface="Aptos"/>
                <a:ea typeface="Aptos"/>
                <a:cs typeface="Aptos"/>
              </a:rPr>
              <a:t>Why: the top model changes by task, and two comparison tests still cannot give a reliable order.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B557F3-C0DF-43FD-86EE-1BC2C117F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34050"/>
            <a:ext cx="933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Share the task results with their limits. Size and release slides are early clues, not final answers.</a:t>
            </a:r>
          </a:p>
        </p:txBody>
      </p:sp>
    </p:spTree>
    <p:extLst>
      <p:ext uri="{BB962C8B-B14F-4D97-AF65-F5344CB8AC3E}">
        <p14:creationId xmlns:p14="http://schemas.microsoft.com/office/powerpoint/2010/main" val="18303889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CAD0337-2C3A-455E-92BE-29D9D71D1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8667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No model leads all eight tasks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4B6113F3-8D1C-4EC9-A2B5-F67D79BCF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"/>
            <a:ext cx="1009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Highest stored result for each task, using the same five models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2B6D97-4D7B-4235-B089-5456CC969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81000"/>
            <a:ext cx="17526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3F0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575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4856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4856D"/>
                </a:solidFill>
                <a:latin typeface="Aptos"/>
                <a:ea typeface="Aptos"/>
                <a:cs typeface="Aptos"/>
              </a:rPr>
              <a:t>MAIN RESULTS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CE22B2-5EC9-4BC5-90B4-EE3C3F385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9D5"/>
            </a:solidFill>
            <a:prstDash val="solid"/>
          </a:ln>
        </p:spPr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914400" y="1619250"/>
          <a:ext xmlns:a="http://schemas.openxmlformats.org/drawingml/2006/main" cx="10363200" cy="4095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143250"/>
                <a:gridCol w="1809750"/>
                <a:gridCol w="2143125"/>
                <a:gridCol w="3267075"/>
              </a:tblGrid>
              <a:tr h="455083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Task</a:t>
                      </a:r>
                    </a:p>
                  </a:txBody>
                  <a:tcPr marL="114300" marR="114300" marT="66675" marB="66675">
                    <a:solidFill>
                      <a:srgbClr val="1721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Highest stored result</a:t>
                      </a:r>
                    </a:p>
                  </a:txBody>
                  <a:tcPr marL="114300" marR="114300" marT="66675" marB="66675">
                    <a:solidFill>
                      <a:srgbClr val="1721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Score type</a:t>
                      </a:r>
                    </a:p>
                  </a:txBody>
                  <a:tcPr marL="114300" marR="114300" marT="66675" marB="66675">
                    <a:solidFill>
                      <a:srgbClr val="1721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Model</a:t>
                      </a:r>
                    </a:p>
                  </a:txBody>
                  <a:tcPr marL="114300" marR="114300" marT="66675" marB="66675">
                    <a:solidFill>
                      <a:srgbClr val="17212B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MFQ agreement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.884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Agreement score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4856D"/>
                          </a:solidFill>
                          <a:latin typeface="Aptos"/>
                          <a:ea typeface="Aptos"/>
                          <a:cs typeface="Aptos"/>
                        </a:rPr>
                        <a:t>GPT-5.4 mini</a:t>
                      </a:r>
                    </a:p>
                  </a:txBody>
                  <a:tcPr marL="114300" marR="114300" marT="66675" marB="66675">
                    <a:solidFill>
                      <a:srgbClr val="E3F0EB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Vignette agreement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.920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Agreement score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4856D"/>
                          </a:solidFill>
                          <a:latin typeface="Aptos"/>
                          <a:ea typeface="Aptos"/>
                          <a:cs typeface="Aptos"/>
                        </a:rPr>
                        <a:t>GPT-5.4</a:t>
                      </a:r>
                    </a:p>
                  </a:txBody>
                  <a:tcPr marL="114300" marR="114300" marT="66675" marB="66675">
                    <a:solidFill>
                      <a:srgbClr val="E3F0EB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MFQ compare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.550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Accuracy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8B5F00"/>
                          </a:solidFill>
                          <a:latin typeface="Aptos"/>
                          <a:ea typeface="Aptos"/>
                          <a:cs typeface="Aptos"/>
                        </a:rPr>
                        <a:t>Haiku + Qwen tie†</a:t>
                      </a:r>
                    </a:p>
                  </a:txBody>
                  <a:tcPr marL="114300" marR="114300" marT="66675" marB="66675">
                    <a:solidFill>
                      <a:srgbClr val="F5EACF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Vignette compare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.625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Accuracy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8B5F00"/>
                          </a:solidFill>
                          <a:latin typeface="Aptos"/>
                          <a:ea typeface="Aptos"/>
                          <a:cs typeface="Aptos"/>
                        </a:rPr>
                        <a:t>Haiku + GPT-5.4 tie†</a:t>
                      </a:r>
                    </a:p>
                  </a:txBody>
                  <a:tcPr marL="114300" marR="114300" marT="66675" marB="66675">
                    <a:solidFill>
                      <a:srgbClr val="F5EACF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UniMoral action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.668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Accuracy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6E5AA8"/>
                          </a:solidFill>
                          <a:latin typeface="Aptos"/>
                          <a:ea typeface="Aptos"/>
                          <a:cs typeface="Aptos"/>
                        </a:rPr>
                        <a:t>Claude Haiku 4.5</a:t>
                      </a:r>
                    </a:p>
                  </a:txBody>
                  <a:tcPr marL="114300" marR="114300" marT="66675" marB="66675">
                    <a:solidFill>
                      <a:srgbClr val="EBE6F4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UniMoral typology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.651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Accuracy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6E5AA8"/>
                          </a:solidFill>
                          <a:latin typeface="Aptos"/>
                          <a:ea typeface="Aptos"/>
                          <a:cs typeface="Aptos"/>
                        </a:rPr>
                        <a:t>Claude Opus 4.8</a:t>
                      </a:r>
                    </a:p>
                  </a:txBody>
                  <a:tcPr marL="114300" marR="114300" marT="66675" marB="66675">
                    <a:solidFill>
                      <a:srgbClr val="EBE6F4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UniMoral factor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.609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Accuracy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6E5AA8"/>
                          </a:solidFill>
                          <a:latin typeface="Aptos"/>
                          <a:ea typeface="Aptos"/>
                          <a:cs typeface="Aptos"/>
                        </a:rPr>
                        <a:t>Claude Haiku 4.5</a:t>
                      </a:r>
                    </a:p>
                  </a:txBody>
                  <a:tcPr marL="114300" marR="114300" marT="66675" marB="66675">
                    <a:solidFill>
                      <a:srgbClr val="EBE6F4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UniMoral consequence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.152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Text-match score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6E5AA8"/>
                          </a:solidFill>
                          <a:latin typeface="Aptos"/>
                          <a:ea typeface="Aptos"/>
                          <a:cs typeface="Aptos"/>
                        </a:rPr>
                        <a:t>Claude Opus 4.8</a:t>
                      </a:r>
                    </a:p>
                  </a:txBody>
                  <a:tcPr marL="114300" marR="114300" marT="66675" marB="66675">
                    <a:solidFill>
                      <a:srgbClr val="EBE6F4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7B8E36-631C-448B-856F-72FE697D5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90550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CF5D4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CF5D4A"/>
                </a:solidFill>
                <a:latin typeface="Aptos"/>
                <a:ea typeface="Aptos"/>
                <a:cs typeface="Aptos"/>
              </a:rPr>
              <a:t>† The uncertainty ranges overlap on the two comparison tasks. We cannot tell who leads.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5BDA72-ABE0-4EF8-A272-EB933AB20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210300"/>
            <a:ext cx="1028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111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Each task uses its own score. Do not compare numbers from different rows.</a:t>
            </a:r>
          </a:p>
        </p:txBody>
      </p:sp>
    </p:spTree>
    <p:extLst>
      <p:ext uri="{BB962C8B-B14F-4D97-AF65-F5344CB8AC3E}">
        <p14:creationId xmlns:p14="http://schemas.microsoft.com/office/powerpoint/2010/main" val="61457330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F268666-EB7B-4EB2-8C6A-F498FECF5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8667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Two comparison tests cannot rank models yet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D8FCDE4A-998E-42DC-BD2B-52BDE2DE1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"/>
            <a:ext cx="1009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Wider bar = less sure. MFQ has 20 questions per model; Vignette has 24.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8C5B53-9685-424C-931D-A00E03652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81000"/>
            <a:ext cx="17526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3F0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575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4856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4856D"/>
                </a:solidFill>
                <a:latin typeface="Aptos"/>
                <a:ea typeface="Aptos"/>
                <a:cs typeface="Aptos"/>
              </a:rPr>
              <a:t>MAIN RESULTS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BC1DBE-93FC-4738-9DA9-B7C6F5F7E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9D5"/>
            </a:solidFill>
            <a:prstDash val="solid"/>
          </a:ln>
        </p:spPr>
      </p:sp>
      <p:graphicFrame>
        <p:nvGraphicFramePr>
          <p:cNvPr id="12" name="Chart"/>
          <p:cNvGraphicFramePr/>
          <p:nvPr/>
        </p:nvGraphicFramePr>
        <p:xfrm>
          <a:off xmlns:a="http://schemas.openxmlformats.org/drawingml/2006/main" x="1143000" y="1619250"/>
          <a:ext xmlns:a="http://schemas.openxmlformats.org/drawingml/2006/main" cx="9810750" cy="3857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0d862d518b3432f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6FC219-BD91-437C-8977-2E1A0A3F0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676900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CF5D4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CF5D4A"/>
                </a:solidFill>
                <a:latin typeface="Aptos"/>
                <a:ea typeface="Aptos"/>
                <a:cs typeface="Aptos"/>
              </a:rPr>
              <a:t>Action: compare every model on the same questions.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508C21-58DB-45AF-8B89-ADE4B9F10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019800"/>
            <a:ext cx="819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If the order is still unclear, add more comparison questions.</a:t>
            </a:r>
          </a:p>
        </p:txBody>
      </p:sp>
    </p:spTree>
    <p:extLst>
      <p:ext uri="{BB962C8B-B14F-4D97-AF65-F5344CB8AC3E}">
        <p14:creationId xmlns:p14="http://schemas.microsoft.com/office/powerpoint/2010/main" val="48926627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CEEA952-47BC-4548-9C9B-7EFA481FE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8667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Only 4 of 12 model-and-task cases rise twice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9C565053-3386-4110-B086-A19EC6502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"/>
            <a:ext cx="1009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Qwen, Gemma, and Llama × four tasks; model versions differ in more than size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EB616C-C59E-496E-BA0C-2A79031EE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81000"/>
            <a:ext cx="17526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EACF"/>
          </a:solidFill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575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8B5F00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8B5F00"/>
                </a:solidFill>
                <a:latin typeface="Aptos"/>
                <a:ea typeface="Aptos"/>
                <a:cs typeface="Aptos"/>
              </a:rPr>
              <a:t>EXPLORATORY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7CE98F-6808-4B0A-8B00-11D5C13AF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9D5"/>
            </a:solidFill>
            <a:prstDash val="solid"/>
          </a:ln>
        </p:spPr>
      </p:sp>
      <p:graphicFrame>
        <p:nvGraphicFramePr>
          <p:cNvPr id="12" name="Chart"/>
          <p:cNvGraphicFramePr/>
          <p:nvPr/>
        </p:nvGraphicFramePr>
        <p:xfrm>
          <a:off xmlns:a="http://schemas.openxmlformats.org/drawingml/2006/main" x="1428750" y="1809750"/>
          <a:ext xmlns:a="http://schemas.openxmlformats.org/drawingml/2006/main" cx="93345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b0283ef3b88497c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856DED-2486-4678-93AF-12FA4E9BE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410200"/>
            <a:ext cx="8191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7436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Size is one clue, not a general rule.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256135-D645-49D5-B848-CCF8FAD64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88645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Each case follows one model family on one task. Different score types stay separate.</a:t>
            </a:r>
          </a:p>
        </p:txBody>
      </p:sp>
    </p:spTree>
    <p:extLst>
      <p:ext uri="{BB962C8B-B14F-4D97-AF65-F5344CB8AC3E}">
        <p14:creationId xmlns:p14="http://schemas.microsoft.com/office/powerpoint/2010/main" val="105589684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8F729F3-5CA7-407E-A101-7D38EE020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8667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556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The same Gemma models move in opposite directions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753426-D82C-4FD6-BC59-13792041F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81000"/>
            <a:ext cx="17526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EACF"/>
          </a:solidFill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575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8B5F00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8B5F00"/>
                </a:solidFill>
                <a:latin typeface="Aptos"/>
                <a:ea typeface="Aptos"/>
                <a:cs typeface="Aptos"/>
              </a:rPr>
              <a:t>EXPLORATORY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ECF6D9-021C-484B-A25D-B9B955E45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9D5"/>
            </a:solidFill>
            <a:prstDash val="solid"/>
          </a:ln>
        </p:spPr>
      </p:sp>
      <p:graphicFrame>
        <p:nvGraphicFramePr>
          <p:cNvPr id="10" name="Chart"/>
          <p:cNvGraphicFramePr/>
          <p:nvPr/>
        </p:nvGraphicFramePr>
        <p:xfrm>
          <a:off xmlns:a="http://schemas.openxmlformats.org/drawingml/2006/main" x="1000125" y="1714500"/>
          <a:ext xmlns:a="http://schemas.openxmlformats.org/drawingml/2006/main" cx="10191750" cy="3905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a5e35d920fb4111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94DA10-7887-49B7-8804-C2CCD0D24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829300"/>
            <a:ext cx="695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E5AA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6E5AA8"/>
                </a:solidFill>
                <a:latin typeface="Aptos"/>
                <a:ea typeface="Aptos"/>
                <a:cs typeface="Aptos"/>
              </a:rPr>
              <a:t>The larger named variants do not score higher on both tasks.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75E8AF-46BE-4925-BE89-62E66EC58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6191250"/>
            <a:ext cx="876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111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Each point is one stored task score. Its uncertainty range and original run are unavailable.</a:t>
            </a:r>
          </a:p>
        </p:txBody>
      </p:sp>
    </p:spTree>
    <p:extLst>
      <p:ext uri="{BB962C8B-B14F-4D97-AF65-F5344CB8AC3E}">
        <p14:creationId xmlns:p14="http://schemas.microsoft.com/office/powerpoint/2010/main" val="4174701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DB080F5-0424-4F1A-8545-62110F003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8667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4349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Later model versions score higher on some tasks and lower on others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BD64FF93-66BB-42AA-B01B-549C04669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"/>
            <a:ext cx="1009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Score change on three UniMoral tasks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BC1C07-3206-4987-8364-789A7AC95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81000"/>
            <a:ext cx="17526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EACF"/>
          </a:solidFill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575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8B5F00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8B5F00"/>
                </a:solidFill>
                <a:latin typeface="Aptos"/>
                <a:ea typeface="Aptos"/>
                <a:cs typeface="Aptos"/>
              </a:rPr>
              <a:t>EXPLORATORY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1EBD7E-F245-456A-A053-3F5912009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9D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721362-C4E9-42A6-956E-D1BA70982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504950"/>
            <a:ext cx="952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111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4856D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4856D"/>
                </a:solidFill>
                <a:latin typeface="Aptos"/>
                <a:ea typeface="Aptos"/>
                <a:cs typeface="Aptos"/>
              </a:rPr>
              <a:t>Qwen: Qwen2.5 7B Instruct (7.61B) to Qwen3.5 9B (9B)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B65528-FEE0-492B-89C8-CFFEA1AAD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71650"/>
            <a:ext cx="1009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111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E5A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E5AA8"/>
                </a:solidFill>
                <a:latin typeface="Aptos"/>
                <a:ea typeface="Aptos"/>
                <a:cs typeface="Aptos"/>
              </a:rPr>
              <a:t>DeepSeek: V3-0324 (671B main, 37B active) to V4 Flash (284B main, 13B active)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78803F-53D5-4D48-8DD1-B0071690D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19300"/>
            <a:ext cx="781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2222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main = all parameters; active = parameters used for each token</a:t>
            </a:r>
          </a:p>
        </p:txBody>
      </p:sp>
      <p:graphicFrame>
        <p:nvGraphicFramePr>
          <p:cNvPr id="19" name="Chart"/>
          <p:cNvGraphicFramePr/>
          <p:nvPr/>
        </p:nvGraphicFramePr>
        <p:xfrm>
          <a:off xmlns:a="http://schemas.openxmlformats.org/drawingml/2006/main" x="1143000" y="2266950"/>
          <a:ext xmlns:a="http://schemas.openxmlformats.org/drawingml/2006/main" cx="9810750" cy="31527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8ea8a728413484b"/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D7603C-332F-4924-BBE5-97F985C96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65785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3333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All endpoint runs were evaluated on 28–29 May 2026.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CF6524-5541-4930-82C0-8D3B5CFFE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000750"/>
            <a:ext cx="895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Release period describes the model. It is not a progress timeline.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18F334-19BA-48DD-B683-BF4B262BB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96025"/>
            <a:ext cx="895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The consequence task uses a different score, so it is not shown here.</a:t>
            </a:r>
          </a:p>
        </p:txBody>
      </p:sp>
    </p:spTree>
    <p:extLst>
      <p:ext uri="{BB962C8B-B14F-4D97-AF65-F5344CB8AC3E}">
        <p14:creationId xmlns:p14="http://schemas.microsoft.com/office/powerpoint/2010/main" val="149492628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2D3DB77-0C20-43C7-A2F7-5F26058AD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8667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We did not exactly repeat any paper's experiment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AC96DD11-B3F1-447B-8D4D-64AF9A9EA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"/>
            <a:ext cx="1009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The papers help explain our questions. Their scores cannot be compared with ours.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E261BF-AFB4-4243-9B2B-CDAB5E7F8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81000"/>
            <a:ext cx="17526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BE6F4"/>
          </a:solidFill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575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6E5AA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E5AA8"/>
                </a:solidFill>
                <a:latin typeface="Aptos"/>
                <a:ea typeface="Aptos"/>
                <a:cs typeface="Aptos"/>
              </a:rPr>
              <a:t>PAPER REVIEW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65F538-F8B5-4918-B3F0-5472962DB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9D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F9EEE4-1D18-4605-983E-D37BAFDE1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47875"/>
            <a:ext cx="2190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200" b="1">
                <a:solidFill>
                  <a:srgbClr val="CF5D4A"/>
                </a:solidFill>
                <a:latin typeface="Aptos"/>
                <a:ea typeface="Aptos"/>
                <a:cs typeface="Aptos"/>
              </a:defRPr>
            </a:pPr>
            <a:r>
              <a:rPr sz="7200" b="1">
                <a:solidFill>
                  <a:srgbClr val="CF5D4A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F5E9C3-E624-495D-ACE5-557D569D2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57550"/>
            <a:ext cx="2190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papers repeated</a:t>
            </a:r>
          </a:p>
          <a:p xmlns:a="http://schemas.openxmlformats.org/drawingml/2006/main">
            <a:pPr algn="ctr">
              <a:defRPr sz="180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exactly</a:t>
            </a:r>
          </a:p>
        </p:txBody>
      </p:sp>
      <p:graphicFrame>
        <p:nvGraphicFramePr>
          <p:cNvPr id="16" name=""/>
          <p:cNvGraphicFramePr/>
          <p:nvPr/>
        </p:nvGraphicFramePr>
        <p:xfrm>
          <a:off xmlns:a="http://schemas.openxmlformats.org/drawingml/2006/main" x="3381375" y="1714500"/>
          <a:ext xmlns:a="http://schemas.openxmlformats.org/drawingml/2006/main" cx="8048625" cy="3429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666875"/>
                <a:gridCol w="4476750"/>
                <a:gridCol w="1905000"/>
              </a:tblGrid>
              <a:tr h="6858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Paper</a:t>
                      </a:r>
                    </a:p>
                  </a:txBody>
                  <a:tcPr marL="114300" marR="114300" marT="66675" marB="66675">
                    <a:solidFill>
                      <a:srgbClr val="6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Plain-language question</a:t>
                      </a:r>
                    </a:p>
                  </a:txBody>
                  <a:tcPr marL="114300" marR="114300" marT="66675" marB="66675">
                    <a:solidFill>
                      <a:srgbClr val="6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How close is our test?</a:t>
                      </a:r>
                    </a:p>
                  </a:txBody>
                  <a:tcPr marL="114300" marR="114300" marT="66675" marB="66675">
                    <a:solidFill>
                      <a:srgbClr val="6E5AA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MoralBench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Do model choices match human ratings?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Similar question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UniMoral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Can models predict choices, moral categories, influences, and what happens next?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Some similar tasks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MoReBench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Does reasoning cover expert criteria?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Different scoring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MoralLens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Do reasons change when a model explains before or after choosing?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Different scoring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8787BC-2B41-4905-8A23-8B91C8C60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5429250"/>
            <a:ext cx="8048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6E5AA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6E5AA8"/>
                </a:solidFill>
                <a:latin typeface="Aptos"/>
                <a:ea typeface="Aptos"/>
                <a:cs typeface="Aptos"/>
              </a:rPr>
              <a:t>Use the papers to explain our questions—not to compare scores.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7FD1F6-17BD-4C7A-A9C9-C3914239C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5886450"/>
            <a:ext cx="8048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Our UniMoral run does not test prompt hints, language differences, or where the stories came from.</a:t>
            </a:r>
          </a:p>
        </p:txBody>
      </p:sp>
    </p:spTree>
    <p:extLst>
      <p:ext uri="{BB962C8B-B14F-4D97-AF65-F5344CB8AC3E}">
        <p14:creationId xmlns:p14="http://schemas.microsoft.com/office/powerpoint/2010/main" val="133612727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B9F74D4-4408-4233-92A9-D28D0E9AB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8667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Make the test stronger before adding more models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C9A9BC2D-D396-4255-B212-E8132F401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"/>
            <a:ext cx="1009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Better evidence makes the current results more useful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142CBF-075F-4AC6-8745-7815CEB49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81000"/>
            <a:ext cx="17526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6E5E0"/>
          </a:solidFill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575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CF5D4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F5D4A"/>
                </a:solidFill>
                <a:latin typeface="Aptos"/>
                <a:ea typeface="Aptos"/>
                <a:cs typeface="Aptos"/>
              </a:rPr>
              <a:t>DECISION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7FF727-0E62-404F-9EC2-5408E27F7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9D5"/>
            </a:solidFill>
            <a:prstDash val="solid"/>
          </a:ln>
        </p:spPr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876300" y="1762125"/>
          <a:ext xmlns:a="http://schemas.openxmlformats.org/drawingml/2006/main" cx="10439400" cy="3429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00250"/>
                <a:gridCol w="4095750"/>
                <a:gridCol w="4343400"/>
              </a:tblGrid>
              <a:tr h="6858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When</a:t>
                      </a:r>
                    </a:p>
                  </a:txBody>
                  <a:tcPr marL="114300" marR="114300" marT="66675" marB="66675">
                    <a:solidFill>
                      <a:srgbClr val="CF5D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Action</a:t>
                      </a:r>
                    </a:p>
                  </a:txBody>
                  <a:tcPr marL="114300" marR="114300" marT="66675" marB="66675">
                    <a:solidFill>
                      <a:srgbClr val="CF5D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Reason</a:t>
                      </a:r>
                    </a:p>
                  </a:txBody>
                  <a:tcPr marL="114300" marR="114300" marT="66675" marB="66675">
                    <a:solidFill>
                      <a:srgbClr val="CF5D4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Now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Share each task result with its limits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The saved results answer one task at a time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Next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Compare the same questions; check that answers were read and labeled correctly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This tackles the biggest gaps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Then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Have people review the test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A benchmark score does not prove the test matches human judgment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Only if still unclear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Add more comparison questions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New questions help after the scoring works correctly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9FD85C-47A1-495B-AF16-E87043A5A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5435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66727E"/>
                </a:solidFill>
                <a:latin typeface="Aptos"/>
                <a:ea typeface="Aptos"/>
                <a:cs typeface="Aptos"/>
              </a:rPr>
              <a:t>Best next move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21AECF-39CA-4FA2-997F-945A73348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848350"/>
            <a:ext cx="1000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Compare models on the same questions. Then have people review the test.</a:t>
            </a:r>
          </a:p>
        </p:txBody>
      </p:sp>
    </p:spTree>
    <p:extLst>
      <p:ext uri="{BB962C8B-B14F-4D97-AF65-F5344CB8AC3E}">
        <p14:creationId xmlns:p14="http://schemas.microsoft.com/office/powerpoint/2010/main" val="186567499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2026-09-04T06:13:01.4980000Z</dcterms:created>
  <dcterms:modified xsi:type="dcterms:W3CDTF">2026-09-04T06:13:01.4980000Z</dcterms:modified>
</coreProperties>
</file>