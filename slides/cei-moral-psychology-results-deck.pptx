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3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8c535bfd244b29" /><Relationship Type="http://schemas.openxmlformats.org/officeDocument/2006/relationships/extended-properties" Target="/docProps/app.xml" Id="R6a050f1ebd204f2e" /><Relationship Type="http://schemas.openxmlformats.org/officeDocument/2006/relationships/officeDocument" Target="/ppt/presentation.xml" Id="R834e8edcbb6945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d682eb43bc4c71"/>
  </p:sldMasterIdLst>
  <p:notesMasterIdLst>
    <p:notesMasterId xmlns:r="http://schemas.openxmlformats.org/officeDocument/2006/relationships" r:id="R1e75c533c741418a"/>
  </p:notesMasterIdLst>
  <p:sldIdLst>
    <p:sldId xmlns:r="http://schemas.openxmlformats.org/officeDocument/2006/relationships" id="256" r:id="Rb80bd4b49520466f"/>
    <p:sldId xmlns:r="http://schemas.openxmlformats.org/officeDocument/2006/relationships" id="257" r:id="Rdfb44b29abab4078"/>
    <p:sldId xmlns:r="http://schemas.openxmlformats.org/officeDocument/2006/relationships" id="258" r:id="R7eb52cbbe6c1494e"/>
    <p:sldId xmlns:r="http://schemas.openxmlformats.org/officeDocument/2006/relationships" id="259" r:id="Rfaae51fd549c41f0"/>
    <p:sldId xmlns:r="http://schemas.openxmlformats.org/officeDocument/2006/relationships" id="260" r:id="R5550b65903d840fc"/>
    <p:sldId xmlns:r="http://schemas.openxmlformats.org/officeDocument/2006/relationships" id="261" r:id="R62f7ecdf472b478a"/>
    <p:sldId xmlns:r="http://schemas.openxmlformats.org/officeDocument/2006/relationships" id="262" r:id="R0dfe3f135809421e"/>
    <p:sldId xmlns:r="http://schemas.openxmlformats.org/officeDocument/2006/relationships" id="263" r:id="Rf92c9d2b89264f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c832ec9b3a49e6" /><Relationship Type="http://schemas.openxmlformats.org/officeDocument/2006/relationships/slideMaster" Target="/ppt/slideMasters/slideMaster1.xml" Id="R87d682eb43bc4c71" /><Relationship Type="http://schemas.openxmlformats.org/officeDocument/2006/relationships/notesMaster" Target="/ppt/notesMasters/notesMaster1.xml" Id="R1e75c533c741418a" /><Relationship Type="http://schemas.openxmlformats.org/officeDocument/2006/relationships/presProps" Target="/ppt/presProps.xml" Id="R3cd48402d25f484e" /><Relationship Type="http://schemas.openxmlformats.org/officeDocument/2006/relationships/tableStyles" Target="/ppt/tableStyles.xml" Id="R51b7ad62b9524929" /><Relationship Type="http://schemas.openxmlformats.org/officeDocument/2006/relationships/slide" Target="/ppt/slides/slide1.xml" Id="Rb80bd4b49520466f" /><Relationship Type="http://schemas.openxmlformats.org/officeDocument/2006/relationships/slide" Target="/ppt/slides/slide2.xml" Id="Rdfb44b29abab4078" /><Relationship Type="http://schemas.openxmlformats.org/officeDocument/2006/relationships/slide" Target="/ppt/slides/slide3.xml" Id="R7eb52cbbe6c1494e" /><Relationship Type="http://schemas.openxmlformats.org/officeDocument/2006/relationships/slide" Target="/ppt/slides/slide4.xml" Id="Rfaae51fd549c41f0" /><Relationship Type="http://schemas.openxmlformats.org/officeDocument/2006/relationships/slide" Target="/ppt/slides/slide5.xml" Id="R5550b65903d840fc" /><Relationship Type="http://schemas.openxmlformats.org/officeDocument/2006/relationships/slide" Target="/ppt/slides/slide6.xml" Id="R62f7ecdf472b478a" /><Relationship Type="http://schemas.openxmlformats.org/officeDocument/2006/relationships/slide" Target="/ppt/slides/slide7.xml" Id="R0dfe3f135809421e" /><Relationship Type="http://schemas.openxmlformats.org/officeDocument/2006/relationships/slide" Target="/ppt/slides/slide8.xml" Id="Rf92c9d2b89264f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45b0d7485844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04ab03ce0d49a7" /><Relationship Type="http://schemas.openxmlformats.org/officeDocument/2006/relationships/notesMaster" Target="/ppt/notesMasters/notesMaster1.xml" Id="Rba4c296d64564a6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d48ae463f364d9e" /><Relationship Type="http://schemas.openxmlformats.org/officeDocument/2006/relationships/notesMaster" Target="/ppt/notesMasters/notesMaster1.xml" Id="R79bc241898884a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6d71ab5743c4687" /><Relationship Type="http://schemas.openxmlformats.org/officeDocument/2006/relationships/notesMaster" Target="/ppt/notesMasters/notesMaster1.xml" Id="R57e05e6e811747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af9e16fae2479f" /><Relationship Type="http://schemas.openxmlformats.org/officeDocument/2006/relationships/notesMaster" Target="/ppt/notesMasters/notesMaster1.xml" Id="R605ac7f84e114a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5e2d8bb7364f6d" /><Relationship Type="http://schemas.openxmlformats.org/officeDocument/2006/relationships/notesMaster" Target="/ppt/notesMasters/notesMaster1.xml" Id="Ra870689325534c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6a6ab72888e41c3" /><Relationship Type="http://schemas.openxmlformats.org/officeDocument/2006/relationships/notesMaster" Target="/ppt/notesMasters/notesMaster1.xml" Id="R55dde07df4104a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d68516caa84677" /><Relationship Type="http://schemas.openxmlformats.org/officeDocument/2006/relationships/notesMaster" Target="/ppt/notesMasters/notesMaster1.xml" Id="Rb39ab1c63c9441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1d3604582164445" /><Relationship Type="http://schemas.openxmlformats.org/officeDocument/2006/relationships/notesMaster" Target="/ppt/notesMasters/notesMaster1.xml" Id="R82946766b1ea4d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Claim: publish task-level results, but do not create an overall model ranking.</a:t>
            </a:r>
          </a:p>
          <a:p xmlns:a="http://schemas.openxmlformats.org/drawingml/2006/main">
            <a:r>
              <a:t>Sources: docs/RESEARCH_LEAD_BRIEF.md; data/results/research_question_takeaways.csv.</a:t>
            </a:r>
          </a:p>
          <a:p xmlns:a="http://schemas.openxmlformats.org/drawingml/2006/main">
            <a:r>
              <a:t>Boundary: current task aggregates and saved uncertainty do not establish human validity, causal effects, or one cross-metric moral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row shows the highest saved point estimate for that task among Claude Haiku 4.5, Claude Opus 4.8, GPT-5.4, GPT-5.4 mini, and Qwen3 8B.</a:t>
            </a:r>
          </a:p>
          <a:p xmlns:a="http://schemas.openxmlformats.org/drawingml/2006/main">
            <a:r>
              <a:t>Sources: data/results/common_roster_primary.csv; docs/RESULTS_READOUT.md section 1.</a:t>
            </a:r>
          </a:p>
          <a:p xmlns:a="http://schemas.openxmlformats.org/drawingml/2006/main">
            <a:r>
              <a:t>The MFQ compare top value is shared by Claude Haiku 4.5 and Qwen3 8B. The vignette compare top value is shared by Claude Haiku 4.5 and GPT-5.4.</a:t>
            </a:r>
          </a:p>
          <a:p xmlns:a="http://schemas.openxmlformats.org/drawingml/2006/main">
            <a:r>
              <a:t>Values belong to different metrics. The visible labels translate normalized preference and METEOR into plain language.</a:t>
            </a:r>
          </a:p>
          <a:p xmlns:a="http://schemas.openxmlformats.org/drawingml/2006/main">
            <a:r>
              <a:t>Do not average preference, accuracy, and METEOR or treat this table as a moral leaderboard.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data/results/task_precision.csv.</a:t>
            </a:r>
          </a:p>
          <a:p xmlns:a="http://schemas.openxmlformats.org/drawingml/2006/main">
            <a:r>
              <a:t>All 18 individual intervals wider than .30 occur in the two MoralBench comparison tasks.</a:t>
            </a:r>
          </a:p>
          <a:p xmlns:a="http://schemas.openxmlformats.org/drawingml/2006/main">
            <a:r>
              <a:t>Within each comparison task, every model pair has overlapping marginal intervals: 28 of 28 MFQ pairs and 45 of 45 vignette pairs.</a:t>
            </a:r>
          </a:p>
          <a:p xmlns:a="http://schemas.openxmlformats.org/drawingml/2006/main">
            <a:r>
              <a:t>This is not a paired model-difference test. The narrow UniMoral intervals are nominal row-level estimates and do not establish cluster-aware uncertainty or human validity.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data/results/size_task_points.csv.</a:t>
            </a:r>
          </a:p>
          <a:p xmlns:a="http://schemas.openxmlformats.org/drawingml/2006/main">
            <a:r>
              <a:t>Denominator: 12 complete paths equals three model families times four UniMoral tasks. Each path contains three named variants.</a:t>
            </a:r>
          </a:p>
          <a:p xmlns:a="http://schemas.openxmlformats.org/drawingml/2006/main">
            <a:r>
              <a:t>Counts: 4 rise at both steps, 7 change direction, and 1 falls at both steps.</a:t>
            </a:r>
          </a:p>
          <a:p xmlns:a="http://schemas.openxmlformats.org/drawingml/2006/main">
            <a:r>
              <a:t>Accuracy and METEOR stay separate.</a:t>
            </a:r>
          </a:p>
          <a:p xmlns:a="http://schemas.openxmlformats.org/drawingml/2006/main">
            <a:r>
              <a:t>This slide counts within-task direction only. It does not average accuracy and METEOR. The selected grid has no saved confidence intervals or raw-log replay.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data/results/size_task_points.csv; evidence/model-parameter-sources.csv.</a:t>
            </a:r>
          </a:p>
          <a:p xmlns:a="http://schemas.openxmlformats.org/drawingml/2006/main">
            <a:r>
              <a:t>Exact values: factor attribution .578 to .601 to .613; moral typology .597 to .579 to .570.</a:t>
            </a:r>
          </a:p>
          <a:p xmlns:a="http://schemas.openxmlformats.org/drawingml/2006/main">
            <a:r>
              <a:t>Across Qwen, Gemma, and Llama on four UniMoral tasks, 4 of 12 complete paths rise twice, 7 change direction, and 1 falls twice.</a:t>
            </a:r>
          </a:p>
          <a:p xmlns:a="http://schemas.openxmlformats.org/drawingml/2006/main">
            <a:r>
              <a:t>No saved intervals or raw-log replay are available for this selected grid.</a:t>
            </a:r>
          </a:p>
          <a:p xmlns:a="http://schemas.openxmlformats.org/drawingml/2006/main">
            <a:r>
              <a:t>This is exploratory selected-grid evidence. Parameter tier is descriptive metadata, not a controlled intervention. Qwen and Llama paths also change model generation or release period.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data/results/release_path_summary.csv; data/results/release_period_task_points.csv; evidence/model-parameter-sources.csv.</a:t>
            </a:r>
          </a:p>
          <a:p xmlns:a="http://schemas.openxmlformats.org/drawingml/2006/main">
            <a:r>
              <a:t>Classification accuracy deltas shown: Qwen action +.017873, typology +.042383, factor +.002005; DeepSeek action +.186589, typology -.003150, factor -.037514.</a:t>
            </a:r>
          </a:p>
          <a:p xmlns:a="http://schemas.openxmlformats.org/drawingml/2006/main">
            <a:r>
              <a:t>Consequence uses METEOR and is not mixed into this accuracy chart. Its endpoint deltas are Qwen -.026780 and DeepSeek +.018985.</a:t>
            </a:r>
          </a:p>
          <a:p xmlns:a="http://schemas.openxmlformats.org/drawingml/2006/main">
            <a:r>
              <a:t>Every plotted selected-grid score was evaluated on 28 or 29 May 2026. Release quarter is descriptive model metadata, not observation time or a causal intervention.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docs/PAPER_REVIEW.md; data/paper_protocol_map.csv.</a:t>
            </a:r>
          </a:p>
          <a:p xmlns:a="http://schemas.openxmlformats.org/drawingml/2006/main">
            <a:r>
              <a:t>MoralBench and UniMoral share approximate task families with the local evaluator, but model, data, prompt, metric, scorer, or aggregation identities differ.</a:t>
            </a:r>
          </a:p>
          <a:p xmlns:a="http://schemas.openxmlformats.org/drawingml/2006/main">
            <a:r>
              <a:t>MoReBench and MoralLens local performance surfaces are proxy-only. Their paper metrics and judges are not reproduced.</a:t>
            </a:r>
          </a:p>
          <a:p xmlns:a="http://schemas.openxmlformats.org/drawingml/2006/main">
            <a:r>
              <a:t>They are not direct score baselines. The visible status labels translate the protocol evidence into plain language.</a:t>
            </a:r>
          </a:p>
          <a:p xmlns:a="http://schemas.openxmlformats.org/drawingml/2006/main">
            <a:r>
              <a:t>Do not use the canonical 37-row UniMoral and ValuePrism crosswalk as the denominator for all four papers. That ledger covers a different evidence scope.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docs/RESEARCH_LEAD_BRIEF.md; evidence/canonical-audit/RERUN_PRIORITY.md; evidence/canonical-audit/SELF_CRITIQUE.md.</a:t>
            </a:r>
          </a:p>
          <a:p xmlns:a="http://schemas.openxmlformats.org/drawingml/2006/main">
            <a:r>
              <a:t>The order shown is a decision recommendation, not a statistical theorem.</a:t>
            </a:r>
          </a:p>
          <a:p xmlns:a="http://schemas.openxmlformats.org/drawingml/2006/main">
            <a:r>
              <a:t>Benchmark agreement is not human validity. The visible wording translates that evidence boundary into plain language.</a:t>
            </a:r>
          </a:p>
          <a:p xmlns:a="http://schemas.openxmlformats.org/drawingml/2006/main">
            <a:r>
              <a:t>The saved evidence still lacks canonical raw archives, clustered uncertainty, complete model and dataset identity, contamination testing, and representative human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5674003da743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e7f99b128f46b0" /><Relationship Type="http://schemas.openxmlformats.org/officeDocument/2006/relationships/slideLayout" Target="/ppt/slideLayouts/slideLayout1.xml" Id="R8b6518ddc8e14b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6518ddc8e14b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e7df9a283a4583" /><Relationship Type="http://schemas.openxmlformats.org/officeDocument/2006/relationships/notesSlide" Target="/ppt/notesSlides/notesSlide1.xml" Id="R24d18ac83870456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94d1f873914bd8" /><Relationship Type="http://schemas.openxmlformats.org/officeDocument/2006/relationships/notesSlide" Target="/ppt/notesSlides/notesSlide2.xml" Id="Rd14c53ba788844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efaf4527e14196" /><Relationship Type="http://schemas.openxmlformats.org/officeDocument/2006/relationships/chart" Target="/ppt/slides/charts/chart1.xml" Id="Ra654c57b30ed4ea6" /><Relationship Type="http://schemas.openxmlformats.org/officeDocument/2006/relationships/notesSlide" Target="/ppt/notesSlides/notesSlide3.xml" Id="R303163a9567745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585b54be144415" /><Relationship Type="http://schemas.openxmlformats.org/officeDocument/2006/relationships/chart" Target="/ppt/slides/charts/chart2.xml" Id="R83eb1c4e4ae94c76" /><Relationship Type="http://schemas.openxmlformats.org/officeDocument/2006/relationships/notesSlide" Target="/ppt/notesSlides/notesSlide4.xml" Id="Rc9081f00f58f47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75cfe01e9b405b" /><Relationship Type="http://schemas.openxmlformats.org/officeDocument/2006/relationships/chart" Target="/ppt/slides/charts/chart3.xml" Id="R0f11e802663e408e" /><Relationship Type="http://schemas.openxmlformats.org/officeDocument/2006/relationships/notesSlide" Target="/ppt/notesSlides/notesSlide5.xml" Id="R2ecf9130a5a9431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70bb7274d64f29" /><Relationship Type="http://schemas.openxmlformats.org/officeDocument/2006/relationships/chart" Target="/ppt/slides/charts/chart4.xml" Id="Rcd3b945c396142e3" /><Relationship Type="http://schemas.openxmlformats.org/officeDocument/2006/relationships/notesSlide" Target="/ppt/notesSlides/notesSlide6.xml" Id="R9e4509f44bae421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3dbc8d21df4448" /><Relationship Type="http://schemas.openxmlformats.org/officeDocument/2006/relationships/notesSlide" Target="/ppt/notesSlides/notesSlide7.xml" Id="R3588e04a9b9e4a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ddee69a2e640dc" /><Relationship Type="http://schemas.openxmlformats.org/officeDocument/2006/relationships/notesSlide" Target="/ppt/notesSlides/notesSlide8.xml" Id="Rc4fffec9401d4a8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How wide is the uncertainty range? Wider means less sure.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Interval width</c:v>
          </c:tx>
          <c:spPr>
            <a:solidFill xmlns:a="http://schemas.openxmlformats.org/drawingml/2006/main">
              <a:srgbClr val="14856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CF5D4A"/>
              </a:solidFill>
              <a:ln xmlns:a="http://schemas.openxmlformats.org/drawingml/2006/main" w="0">
                <a:noFill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CF5D4A"/>
              </a:solidFill>
              <a:ln xmlns:a="http://schemas.openxmlformats.org/drawingml/2006/main" w="0">
                <a:noFill/>
              </a:ln>
            </c:spPr>
          </c:dPt>
          <c:dPt>
            <c:idx val="2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3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4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5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6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7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cat>
            <c:strRef>
              <c:f>'Chart Data'!$A$2:$A$9</c:f>
              <c:strCache>
                <c:ptCount val="8"/>
                <c:pt idx="0">
                  <c:v>MFQ compare</c:v>
                </c:pt>
                <c:pt idx="1">
                  <c:v>Vignette compare</c:v>
                </c:pt>
                <c:pt idx="2">
                  <c:v>MFQ agreement</c:v>
                </c:pt>
                <c:pt idx="3">
                  <c:v>Vignette agreement</c:v>
                </c:pt>
                <c:pt idx="4">
                  <c:v>UniMoral factor</c:v>
                </c:pt>
                <c:pt idx="5">
                  <c:v>UniMoral typology</c:v>
                </c:pt>
                <c:pt idx="6">
                  <c:v>UniMoral action</c:v>
                </c:pt>
                <c:pt idx="7">
                  <c:v>UniMoral consequence</c:v>
                </c:pt>
              </c:strCache>
            </c:strRef>
          </c:cat>
          <c:val>
            <c:numRef>
              <c:f>'Chart Data'!$B$2:$B$9</c:f>
              <c:numCache>
                <c:formatCode>0.000</c:formatCode>
                <c:ptCount val="8"/>
                <c:pt idx="0">
                  <c:v>0.395</c:v>
                </c:pt>
                <c:pt idx="1">
                  <c:v>0.37</c:v>
                </c:pt>
                <c:pt idx="2">
                  <c:v>0.22</c:v>
                </c:pt>
                <c:pt idx="3">
                  <c:v>0.124</c:v>
                </c:pt>
                <c:pt idx="4">
                  <c:v>0.033</c:v>
                </c:pt>
                <c:pt idx="5">
                  <c:v>0.032</c:v>
                </c:pt>
                <c:pt idx="6">
                  <c:v>0.02</c:v>
                </c:pt>
                <c:pt idx="7">
                  <c:v>0.012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Width of the uncertainty range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What happens across three model versions?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Complete paths</c:v>
          </c:tx>
          <c:spPr>
            <a:solidFill xmlns:a="http://schemas.openxmlformats.org/drawingml/2006/main">
              <a:srgbClr val="14856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2"/>
            <c:invertIfNegative val="0"/>
            <c:spPr>
              <a:solidFill xmlns:a="http://schemas.openxmlformats.org/drawingml/2006/main">
                <a:srgbClr val="6E5AA8"/>
              </a:solidFill>
              <a:ln xmlns:a="http://schemas.openxmlformats.org/drawingml/2006/main" w="0">
                <a:noFill/>
              </a:ln>
            </c:spPr>
          </c:dPt>
          <c:cat>
            <c:strRef>
              <c:f>'Chart Data'!$A$2:$A$4</c:f>
              <c:strCache>
                <c:ptCount val="3"/>
                <c:pt idx="0">
                  <c:v>Rise at both steps</c:v>
                </c:pt>
                <c:pt idx="1">
                  <c:v>Change direction</c:v>
                </c:pt>
                <c:pt idx="2">
                  <c:v>Fall at both steps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4</c:v>
                </c:pt>
                <c:pt idx="1">
                  <c:v>7</c:v>
                </c:pt>
                <c:pt idx="2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Model-family and task cases (12 total)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Gemma 3 accuracy by model size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 b="1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Factor attribution</c:v>
          </c:tx>
          <c:spPr>
            <a:ln xmlns:a="http://schemas.openxmlformats.org/drawingml/2006/main" w="38100">
              <a:solidFill>
                <a:srgbClr val="2B78B8"/>
              </a:solidFill>
              <a:prstDash val="solid"/>
            </a:ln>
          </c:spPr>
          <c:marker>
            <c:symbol val="circle"/>
            <c:size val="10"/>
            <c:spPr>
              <a:solidFill xmlns:a="http://schemas.openxmlformats.org/drawingml/2006/main">
                <a:srgbClr val="2B78B8"/>
              </a:solidFill>
            </c:spPr>
          </c:marker>
          <c:cat>
            <c:strRef>
              <c:f>'Chart Data'!$A$2:$A$4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Data'!$B$2:$B$4</c:f>
              <c:numCache>
                <c:formatCode>0.000</c:formatCode>
                <c:ptCount val="3"/>
                <c:pt idx="0">
                  <c:v>0.578</c:v>
                </c:pt>
                <c:pt idx="1">
                  <c:v>0.601</c:v>
                </c:pt>
                <c:pt idx="2">
                  <c:v>0.613</c:v>
                </c:pt>
              </c:numCache>
            </c:numRef>
          </c:val>
          <c:smooth val="0"/>
        </c:ser>
        <c:ser>
          <c:idx val="1"/>
          <c:order val="1"/>
          <c:tx>
            <c:v>Moral typology</c:v>
          </c:tx>
          <c:spPr>
            <a:ln xmlns:a="http://schemas.openxmlformats.org/drawingml/2006/main" w="38100">
              <a:solidFill>
                <a:srgbClr val="6E5AA8"/>
              </a:solidFill>
              <a:prstDash val="dash"/>
            </a:ln>
          </c:spPr>
          <c:marker>
            <c:symbol val="square"/>
            <c:size val="10"/>
            <c:spPr>
              <a:solidFill xmlns:a="http://schemas.openxmlformats.org/drawingml/2006/main">
                <a:srgbClr val="6E5AA8"/>
              </a:solidFill>
            </c:spPr>
          </c:marker>
          <c:cat>
            <c:strRef>
              <c:f>'Chart Data'!$C$2:$C$4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Data'!$D$2:$D$4</c:f>
              <c:numCache>
                <c:formatCode>0.000</c:formatCode>
                <c:ptCount val="3"/>
                <c:pt idx="0">
                  <c:v>0.597</c:v>
                </c:pt>
                <c:pt idx="1">
                  <c:v>0.579</c:v>
                </c:pt>
                <c:pt idx="2">
                  <c:v>0.57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Published total parameter count within the Gemma 3 family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625"/>
          <c:min val="0.54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Score change from earlier to later version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Qwen</c:v>
          </c:tx>
          <c:spPr>
            <a:solidFill xmlns:a="http://schemas.openxmlformats.org/drawingml/2006/main">
              <a:srgbClr val="14856D"/>
            </a:solidFill>
          </c:spPr>
          <c:cat>
            <c:strRef>
              <c:f>'Chart Data'!$A$2:$A$4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Data'!$B$2:$B$4</c:f>
              <c:numCache>
                <c:formatCode>+0.000;-0.000;0.000</c:formatCode>
                <c:ptCount val="3"/>
                <c:pt idx="0">
                  <c:v>0.017873</c:v>
                </c:pt>
                <c:pt idx="1">
                  <c:v>0.042383</c:v>
                </c:pt>
                <c:pt idx="2">
                  <c:v>0.002005</c:v>
                </c:pt>
              </c:numCache>
            </c:numRef>
          </c:val>
        </c:ser>
        <c:ser>
          <c:idx val="1"/>
          <c:order val="1"/>
          <c:tx>
            <c:v>DeepSeek</c:v>
          </c:tx>
          <c:spPr>
            <a:solidFill xmlns:a="http://schemas.openxmlformats.org/drawingml/2006/main">
              <a:srgbClr val="6E5AA8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Data'!$D$2:$D$4</c:f>
              <c:numCache>
                <c:formatCode>+0.000;-0.000;0.000</c:formatCode>
                <c:ptCount val="3"/>
                <c:pt idx="0">
                  <c:v>0.186589</c:v>
                </c:pt>
                <c:pt idx="1">
                  <c:v>-0.00315</c:v>
                </c:pt>
                <c:pt idx="2">
                  <c:v>-0.037514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UniMoral task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2"/>
          <c:min val="-0.0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Change in 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+0.00;-0.00;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5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1BDFBBA-1BBB-4A27-97AE-EAB16934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8858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Publish task results.</a:t>
            </a:r>
          </a:p>
          <a:p xmlns:a="http://schemas.openxmlformats.org/drawingml/2006/main">
            <a:pPr algn="l">
              <a:defRPr sz="40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Do not rank the models.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85032F-790C-4DC0-AC1A-30C538E2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CEI moral psychology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79FA21-70B9-47BB-8A67-F6B6C1DD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Research lead readout · 4 September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7EF62D-E18D-4C74-A53F-2E27F097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685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604258-485C-4293-8A23-FBC0771F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9191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7212B"/>
                </a:solidFill>
                <a:latin typeface="Aptos"/>
                <a:ea typeface="Aptos"/>
                <a:cs typeface="Aptos"/>
              </a:rPr>
              <a:t>Why: the top model changes by task, and two comparison tests still cannot give a reliable order.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08836F-58C5-4CCA-A5EE-6EC0DA6B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340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Share the task results with their limits. Size and release slides are early clues, not final answers.</a:t>
            </a:r>
          </a:p>
        </p:txBody>
      </p:sp>
    </p:spTree>
    <p:extLst>
      <p:ext uri="{BB962C8B-B14F-4D97-AF65-F5344CB8AC3E}">
        <p14:creationId xmlns:p14="http://schemas.microsoft.com/office/powerpoint/2010/main" val="15710407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ADE1A5A-DC84-49BE-8543-E196E2FA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No model leads all eight tasks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80A0940-1ECB-420D-B9F2-E85A3B76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Highest stored result for each task, using the same five models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B45130-8CE3-42DB-9A08-1CA71C7D1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F0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EC3C02-6882-41ED-810B-080731AB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914400" y="1619250"/>
          <a:ext xmlns:a="http://schemas.openxmlformats.org/drawingml/2006/main" cx="103632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809750"/>
                <a:gridCol w="2143125"/>
                <a:gridCol w="3267075"/>
              </a:tblGrid>
              <a:tr h="45508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Task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Highest stored result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Score type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Model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agreement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.884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4856D"/>
                          </a:solidFill>
                          <a:latin typeface="Aptos"/>
                          <a:ea typeface="Aptos"/>
                          <a:cs typeface="Aptos"/>
                        </a:rPr>
                        <a:t>GPT-5.4 mini</a:t>
                      </a:r>
                    </a:p>
                  </a:txBody>
                  <a:tcPr marL="114300" marR="114300" marT="66675" marB="66675">
                    <a:solidFill>
                      <a:srgbClr val="E3F0E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agreement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.920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4856D"/>
                          </a:solidFill>
                          <a:latin typeface="Aptos"/>
                          <a:ea typeface="Aptos"/>
                          <a:cs typeface="Aptos"/>
                        </a:rPr>
                        <a:t>GPT-5.4</a:t>
                      </a:r>
                    </a:p>
                  </a:txBody>
                  <a:tcPr marL="114300" marR="114300" marT="66675" marB="66675">
                    <a:solidFill>
                      <a:srgbClr val="E3F0E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compare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.550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8B5F00"/>
                          </a:solidFill>
                          <a:latin typeface="Aptos"/>
                          <a:ea typeface="Aptos"/>
                          <a:cs typeface="Aptos"/>
                        </a:rPr>
                        <a:t>Haiku + Qwen tie†</a:t>
                      </a:r>
                    </a:p>
                  </a:txBody>
                  <a:tcPr marL="114300" marR="114300" marT="66675" marB="66675">
                    <a:solidFill>
                      <a:srgbClr val="F5EAC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compare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.625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8B5F00"/>
                          </a:solidFill>
                          <a:latin typeface="Aptos"/>
                          <a:ea typeface="Aptos"/>
                          <a:cs typeface="Aptos"/>
                        </a:rPr>
                        <a:t>Haiku + GPT-5.4 tie†</a:t>
                      </a:r>
                    </a:p>
                  </a:txBody>
                  <a:tcPr marL="114300" marR="114300" marT="66675" marB="66675">
                    <a:solidFill>
                      <a:srgbClr val="F5EAC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action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.668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typology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.651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factor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.609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consequence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.152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Text-match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584922-6DE9-4B53-B383-9E2C07F1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F5D4A"/>
                </a:solidFill>
                <a:latin typeface="Aptos"/>
                <a:ea typeface="Aptos"/>
                <a:cs typeface="Aptos"/>
              </a:rPr>
              <a:t>† The uncertainty ranges overlap on the two comparison tasks. We cannot tell who leads.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B8307F-09CE-4BCB-ABD0-B610BEFB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103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task uses its own score. Do not compare numbers from different rows.</a:t>
            </a:r>
          </a:p>
        </p:txBody>
      </p:sp>
    </p:spTree>
    <p:extLst>
      <p:ext uri="{BB962C8B-B14F-4D97-AF65-F5344CB8AC3E}">
        <p14:creationId xmlns:p14="http://schemas.microsoft.com/office/powerpoint/2010/main" val="16210601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F1139C-2A96-4B0B-8450-5A5CC97B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Two comparison tests cannot rank models yet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B984043-4D83-4B6C-8640-F883A3C1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Wider bar = less sure. MFQ has 20 questions per model; Vignette has 24.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75280A-EE1D-4259-BBDF-FBE8E538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F0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89F06-2202-4DC5-AE58-D305D8EE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1143000" y="1619250"/>
          <a:ext xmlns:a="http://schemas.openxmlformats.org/drawingml/2006/main" cx="981075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654c57b30ed4ea6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836533-2708-49D8-A904-9ADF2FA64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769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Action: recover each question's result, then compare models question by question.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84C9BB-90DF-48BD-8BD6-21871F56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0198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If the order is still unclear, add more comparison questions.</a:t>
            </a:r>
          </a:p>
        </p:txBody>
      </p:sp>
    </p:spTree>
    <p:extLst>
      <p:ext uri="{BB962C8B-B14F-4D97-AF65-F5344CB8AC3E}">
        <p14:creationId xmlns:p14="http://schemas.microsoft.com/office/powerpoint/2010/main" val="10912273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7CA2F41-4F39-4D63-A013-E1282DB1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Only 4 of 12 model-and-task cases rise twice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65581A4-53D8-4AE0-9F46-A7FC224D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Qwen, Gemma, and Llama × four tasks; model versions differ in more than size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CE4871-B004-4AEC-8D97-CB8C87B2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FCD4AB-B8BF-4D9A-8249-D59DAE348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1428750" y="1809750"/>
          <a:ext xmlns:a="http://schemas.openxmlformats.org/drawingml/2006/main" cx="9334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3eb1c4e4ae94c76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D949A8-B780-40DE-B7FC-B1DB354C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1020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Size is one clue, not a general rule.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DFD8D2-974F-4B4A-AF78-7DE898D2B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864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case follows one model family on one task. Different score types stay separate.</a:t>
            </a:r>
          </a:p>
        </p:txBody>
      </p:sp>
    </p:spTree>
    <p:extLst>
      <p:ext uri="{BB962C8B-B14F-4D97-AF65-F5344CB8AC3E}">
        <p14:creationId xmlns:p14="http://schemas.microsoft.com/office/powerpoint/2010/main" val="8901555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A833F22-6F32-4CB5-9958-71CB3A5E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56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The same Gemma models move in opposite directions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04D9B9-6E15-40C4-9E64-5594C05F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95F9A3-D56F-476B-BDE2-4C56FB20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1000125" y="1714500"/>
          <a:ext xmlns:a="http://schemas.openxmlformats.org/drawingml/2006/main" cx="10191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11e802663e408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69B282-AD98-4D0C-9BD0-3796CDC4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29300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The larger named variants do not score higher on both tasks.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AA7C8C-FD80-42CD-8E41-C31B4DA6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191250"/>
            <a:ext cx="876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point is one stored task score. Its uncertainty range and original run are unavailable.</a:t>
            </a:r>
          </a:p>
        </p:txBody>
      </p:sp>
    </p:spTree>
    <p:extLst>
      <p:ext uri="{BB962C8B-B14F-4D97-AF65-F5344CB8AC3E}">
        <p14:creationId xmlns:p14="http://schemas.microsoft.com/office/powerpoint/2010/main" val="11113649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D75CE9-43A8-4449-BADC-A596A0A8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4349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Later model versions score higher on some tasks and lower on others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7FB2776-5221-454C-8100-68524117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Score change on three UniMoral tasks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339D52-8F37-4678-8DA7-08C60035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81C23A-6954-41FF-84E8-56E32968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25699-2261-4747-9EA6-62B2AA56C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049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Qwen: Qwen2.5 7B Instruct (7.61B) to Qwen3.5 9B (9B)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9BD3A3-06DB-493B-9FB7-D5E7279A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71650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DeepSeek: V3-0324 (671B main, 37B active) to V4 Flash (284B main, 13B active)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BE067B-0147-4074-BC28-AECC3307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1930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main = all parameters; active = parameters used for each token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1143000" y="2266950"/>
          <a:ext xmlns:a="http://schemas.openxmlformats.org/drawingml/2006/main" cx="9810750" cy="31527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d3b945c396142e3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4127F7-795E-4EFD-AE93-26147B52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578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All endpoint runs were evaluated on 28–29 May 2026.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63C71C-8250-4974-B0BA-01C4E532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00075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Release period describes the model. It is not a progress timeline.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E6959A-4666-47A2-B009-A0B2B31AD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96025"/>
            <a:ext cx="895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The consequence task uses a different score, so it is not shown here.</a:t>
            </a:r>
          </a:p>
        </p:txBody>
      </p:sp>
    </p:spTree>
    <p:extLst>
      <p:ext uri="{BB962C8B-B14F-4D97-AF65-F5344CB8AC3E}">
        <p14:creationId xmlns:p14="http://schemas.microsoft.com/office/powerpoint/2010/main" val="1067399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15259D-2635-49C4-B0BD-C7DB17FF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We did not exactly repeat any paper's experiment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452ED47-050B-4598-BCEE-58FB419E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The papers help explain our questions. Their scores cannot be compared with ours.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83A00C-1CBA-4EE1-997A-A17E37A1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E6F4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PAPER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8EC600-085C-4B7F-8EC7-7A8746DD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2E7962-CDE1-40AE-9597-ACE6690F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47875"/>
            <a:ext cx="2190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20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720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2D49EA-43D2-44BE-B9C4-A8AFE9FA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papers repeated</a:t>
            </a:r>
          </a:p>
          <a:p xmlns:a="http://schemas.openxmlformats.org/drawingml/2006/main">
            <a:pPr algn="ctr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exactly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3381375" y="1714500"/>
          <a:ext xmlns:a="http://schemas.openxmlformats.org/drawingml/2006/main" cx="8048625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4476750"/>
                <a:gridCol w="19050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Paper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Plain-language question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How close is our test?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 model choices match human ratings?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Similar question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Can models predict choices, moral categories, influences, and what happens next?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Some similar tasks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MoReBench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Does reasoning cover expert criteria?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Different scoring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MoralLens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 reasons change when a model explains before or after choosing?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Different scoring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F3BE03-BBCE-4483-83A5-F343A8DA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429250"/>
            <a:ext cx="8048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Use the papers to explain our questions—not to compare scores.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591EC3-FD87-4C33-A545-FF54D9F9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886450"/>
            <a:ext cx="804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Our UniMoral run does not test prompt hints, language differences, or where the stories came from.</a:t>
            </a:r>
          </a:p>
        </p:txBody>
      </p:sp>
    </p:spTree>
    <p:extLst>
      <p:ext uri="{BB962C8B-B14F-4D97-AF65-F5344CB8AC3E}">
        <p14:creationId xmlns:p14="http://schemas.microsoft.com/office/powerpoint/2010/main" val="3439248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38488C-41FD-4DEC-BCDD-8EC39D881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Make the test stronger before adding more models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105C744-6F12-4FAD-A3A5-EC7577DD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Better evidence makes the current results more useful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A2718A-07A9-4BBC-A8E9-7857577ED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E5E0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F5703D-E180-41C3-833F-08F586A0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876300" y="1762125"/>
          <a:ext xmlns:a="http://schemas.openxmlformats.org/drawingml/2006/main" cx="104394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095750"/>
                <a:gridCol w="43434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When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Reason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Now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Share each task result with its limits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 saved results answer one task at a time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Next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Recover each question's result; check reading and labels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This lets us compare models directly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Have people review the test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 benchmark score does not prove the test matches human judgment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Only if still unclear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Add more comparison questions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New questions help after the scoring works correctly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845D37-9D28-403C-BFDD-5B672E3C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43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6727E"/>
                </a:solidFill>
                <a:latin typeface="Aptos"/>
                <a:ea typeface="Aptos"/>
                <a:cs typeface="Aptos"/>
              </a:rPr>
              <a:t>Best next move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D259D9-32AF-4373-B628-BB337F62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48350"/>
            <a:ext cx="10439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Recover each question's result. Compare models. Then have people review the test.</a:t>
            </a:r>
          </a:p>
        </p:txBody>
      </p:sp>
    </p:spTree>
    <p:extLst>
      <p:ext uri="{BB962C8B-B14F-4D97-AF65-F5344CB8AC3E}">
        <p14:creationId xmlns:p14="http://schemas.microsoft.com/office/powerpoint/2010/main" val="16313435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2026-09-04T06:34:25.8700000Z</dcterms:created>
  <dcterms:modified xsi:type="dcterms:W3CDTF">2026-09-04T06:34:25.8700000Z</dcterms:modified>
</coreProperties>
</file>