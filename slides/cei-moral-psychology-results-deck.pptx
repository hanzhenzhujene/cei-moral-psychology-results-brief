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7749bf039d4fef" /><Relationship Type="http://schemas.openxmlformats.org/officeDocument/2006/relationships/extended-properties" Target="/docProps/app.xml" Id="R975b5c1b7165438d" /><Relationship Type="http://schemas.openxmlformats.org/officeDocument/2006/relationships/officeDocument" Target="/ppt/presentation.xml" Id="R91c1cf0b209d40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b9dc11f36e4eb9"/>
  </p:sldMasterIdLst>
  <p:notesMasterIdLst>
    <p:notesMasterId xmlns:r="http://schemas.openxmlformats.org/officeDocument/2006/relationships" r:id="R80c1f0be74924332"/>
  </p:notesMasterIdLst>
  <p:sldIdLst>
    <p:sldId xmlns:r="http://schemas.openxmlformats.org/officeDocument/2006/relationships" id="256" r:id="R739d4acd8630410d"/>
    <p:sldId xmlns:r="http://schemas.openxmlformats.org/officeDocument/2006/relationships" id="257" r:id="Rc576b5af96434409"/>
    <p:sldId xmlns:r="http://schemas.openxmlformats.org/officeDocument/2006/relationships" id="258" r:id="Rcc5b8af201c547c5"/>
    <p:sldId xmlns:r="http://schemas.openxmlformats.org/officeDocument/2006/relationships" id="259" r:id="Rb14238e4acf24f02"/>
    <p:sldId xmlns:r="http://schemas.openxmlformats.org/officeDocument/2006/relationships" id="260" r:id="Rb75aa7a08de64a5b"/>
    <p:sldId xmlns:r="http://schemas.openxmlformats.org/officeDocument/2006/relationships" id="261" r:id="R55604c4408934a0b"/>
    <p:sldId xmlns:r="http://schemas.openxmlformats.org/officeDocument/2006/relationships" id="262" r:id="R066fac9192344a60"/>
    <p:sldId xmlns:r="http://schemas.openxmlformats.org/officeDocument/2006/relationships" id="263" r:id="Ra391a773588445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5a3979cc154b84" /><Relationship Type="http://schemas.openxmlformats.org/officeDocument/2006/relationships/slideMaster" Target="/ppt/slideMasters/slideMaster1.xml" Id="R11b9dc11f36e4eb9" /><Relationship Type="http://schemas.openxmlformats.org/officeDocument/2006/relationships/notesMaster" Target="/ppt/notesMasters/notesMaster1.xml" Id="R80c1f0be74924332" /><Relationship Type="http://schemas.openxmlformats.org/officeDocument/2006/relationships/presProps" Target="/ppt/presProps.xml" Id="R65667b2088054a0f" /><Relationship Type="http://schemas.openxmlformats.org/officeDocument/2006/relationships/tableStyles" Target="/ppt/tableStyles.xml" Id="R7b5a11708c7b4c56" /><Relationship Type="http://schemas.openxmlformats.org/officeDocument/2006/relationships/slide" Target="/ppt/slides/slide1.xml" Id="R739d4acd8630410d" /><Relationship Type="http://schemas.openxmlformats.org/officeDocument/2006/relationships/slide" Target="/ppt/slides/slide2.xml" Id="Rc576b5af96434409" /><Relationship Type="http://schemas.openxmlformats.org/officeDocument/2006/relationships/slide" Target="/ppt/slides/slide3.xml" Id="Rcc5b8af201c547c5" /><Relationship Type="http://schemas.openxmlformats.org/officeDocument/2006/relationships/slide" Target="/ppt/slides/slide4.xml" Id="Rb14238e4acf24f02" /><Relationship Type="http://schemas.openxmlformats.org/officeDocument/2006/relationships/slide" Target="/ppt/slides/slide5.xml" Id="Rb75aa7a08de64a5b" /><Relationship Type="http://schemas.openxmlformats.org/officeDocument/2006/relationships/slide" Target="/ppt/slides/slide6.xml" Id="R55604c4408934a0b" /><Relationship Type="http://schemas.openxmlformats.org/officeDocument/2006/relationships/slide" Target="/ppt/slides/slide7.xml" Id="R066fac9192344a60" /><Relationship Type="http://schemas.openxmlformats.org/officeDocument/2006/relationships/slide" Target="/ppt/slides/slide8.xml" Id="Ra391a773588445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f38a6ea6e24d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0617277a8e47f8" /><Relationship Type="http://schemas.openxmlformats.org/officeDocument/2006/relationships/notesMaster" Target="/ppt/notesMasters/notesMaster1.xml" Id="R35a71e1298804c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0d30722b4a4874" /><Relationship Type="http://schemas.openxmlformats.org/officeDocument/2006/relationships/notesMaster" Target="/ppt/notesMasters/notesMaster1.xml" Id="Rc99e159ff7db42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8881a1f5f4436a" /><Relationship Type="http://schemas.openxmlformats.org/officeDocument/2006/relationships/notesMaster" Target="/ppt/notesMasters/notesMaster1.xml" Id="Rb6b99630349345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03c0a5c5954c38" /><Relationship Type="http://schemas.openxmlformats.org/officeDocument/2006/relationships/notesMaster" Target="/ppt/notesMasters/notesMaster1.xml" Id="R586221d640eb4a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b464676a6442ce" /><Relationship Type="http://schemas.openxmlformats.org/officeDocument/2006/relationships/notesMaster" Target="/ppt/notesMasters/notesMaster1.xml" Id="R2e944b994afe4c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8619caf10b4bc7" /><Relationship Type="http://schemas.openxmlformats.org/officeDocument/2006/relationships/notesMaster" Target="/ppt/notesMasters/notesMaster1.xml" Id="R28c14b63544a46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676159003c46a1" /><Relationship Type="http://schemas.openxmlformats.org/officeDocument/2006/relationships/notesMaster" Target="/ppt/notesMasters/notesMaster1.xml" Id="R90d7729fabfc4f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98b581b2d4463c" /><Relationship Type="http://schemas.openxmlformats.org/officeDocument/2006/relationships/notesMaster" Target="/ppt/notesMasters/notesMaster1.xml" Id="Rbff57b8a1d9141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Claim: publish task-level results, but do not create an overall model ranking.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Boundary: current task aggregates and saved uncertainty do not establish human validity, causal effects, or one cross-metric moral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1; docs/PAPER_REVIEW.md protocol comparison; evidence/canonical-audit/CLAIM_BOUNDARIES.md.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Each task cell keeps the formal task name on the first line and explains what it tests on the second.</a:t>
            </a:r>
          </a:p>
          <a:p xmlns:a="http://schemas.openxmlformats.org/drawingml/2006/main">
            <a:r>
              <a:t>The UniMoral action, typology, and factor rows match saved annotator-specific labels under no-persona prompts; the consequence row matches generated text to saved human references. None infers a person's stable moral identity.</a:t>
            </a:r>
          </a:p>
          <a:p xmlns:a="http://schemas.openxmlformats.org/drawingml/2006/main">
            <a:r>
              <a:t>Values belong to different metrics. The visible labels translate normalized preference and METEOR into plain language.</a:t>
            </a:r>
          </a:p>
          <a:p xmlns:a="http://schemas.openxmlformats.org/drawingml/2006/main">
            <a:r>
              <a:t>Do not average preference, accuracy, and METEOR or treat this table as a moral leaderboard.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data/results/task_precision.csv.</a:t>
            </a:r>
          </a:p>
          <a:p xmlns:a="http://schemas.openxmlformats.org/drawingml/2006/main">
            <a:r>
              <a:t>All 18 individual intervals wider than .30 occur in the two MoralBench comparison tasks.</a:t>
            </a:r>
          </a:p>
          <a:p xmlns:a="http://schemas.openxmlformats.org/drawingml/2006/main">
            <a:r>
              <a:t>Denominator: all available primary models—8 on MFQ compare and 10 on vignette compare—not the five-model common roster.</a:t>
            </a:r>
          </a:p>
          <a:p xmlns:a="http://schemas.openxmlformats.org/drawingml/2006/main">
            <a:r>
              <a:t>Within each comparison task, every model pair has overlapping marginal intervals: 28 of 28 MFQ pairs and 45 of 45 vignette pairs.</a:t>
            </a:r>
          </a:p>
          <a:p xmlns:a="http://schemas.openxmlformats.org/drawingml/2006/main">
            <a:r>
              <a:t>This is not a paired model-difference test. The narrow UniMoral intervals are nominal row-level estimates and do not establish cluster-aware uncertainty or human validity.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Denominator: 12 complete paths equals three model families times four UniMoral tasks. Each path contains three named variants.</a:t>
            </a:r>
          </a:p>
          <a:p xmlns:a="http://schemas.openxmlformats.org/drawingml/2006/main">
            <a:r>
              <a:t>Counts: 4 rise at both steps, 7 change direction, and 1 falls at both steps.</a:t>
            </a:r>
          </a:p>
          <a:p xmlns:a="http://schemas.openxmlformats.org/drawingml/2006/main">
            <a:r>
              <a:t>Accuracy and METEOR stay separate.</a:t>
            </a:r>
          </a:p>
          <a:p xmlns:a="http://schemas.openxmlformats.org/drawingml/2006/main">
            <a:r>
              <a:t>This slide counts within-task direction only. It does not average accuracy and METEOR. The selected grid has no saved confidence intervals or raw-log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Across Qwen, Gemma, and Llama on four UniMoral tasks, 4 of 12 complete paths rise twice, 7 change direction, and 1 falls twice.</a:t>
            </a:r>
          </a:p>
          <a:p xmlns:a="http://schemas.openxmlformats.org/drawingml/2006/main">
            <a:r>
              <a:t>No saved intervals or raw-log replay are available for this selected grid.</a:t>
            </a:r>
          </a:p>
          <a:p xmlns:a="http://schemas.openxmlformats.org/drawingml/2006/main">
            <a:r>
              <a:t>This is exploratory selected-grid evidence. Parameter tier is descriptive metadata, not a controlled intervention. Qwen and Llama paths also change model generation or release period.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data/model_release_periods.csv;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METEOR and is not mixed into this accuracy chart. Its endpoint deltas are Qwen -.026780 and DeepSeek +.018985.</a:t>
            </a:r>
          </a:p>
          <a:p xmlns:a="http://schemas.openxmlformats.org/drawingml/2006/main">
            <a:r>
              <a:t>Every plotted selected-grid score was evaluated on 28 or 29 May 2026. Release quarter is descriptive model metadata, not observation time or a causal intervention.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MoralBench and UniMoral share approximate task families with the local evaluator, but model, data, prompt, metric, scorer, or aggregation identities differ.</a:t>
            </a:r>
          </a:p>
          <a:p xmlns:a="http://schemas.openxmlformats.org/drawingml/2006/main">
            <a:r>
              <a:t>MoReBench and MoralLens local performance surfaces are proxy-only. Their paper metrics and judges are not reproduced.</a:t>
            </a:r>
          </a:p>
          <a:p xmlns:a="http://schemas.openxmlformats.org/drawingml/2006/main">
            <a:r>
              <a:t>They are not direct score baselines. The visible status labels translate the protocol evidence into plain language.</a:t>
            </a:r>
          </a:p>
          <a:p xmlns:a="http://schemas.openxmlformats.org/drawingml/2006/main">
            <a:r>
              <a:t>Do not use the canonical 37-row UniMoral and ValuePrism crosswalk as the denominator for all four papers. That ledger covers a different evidence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is not human validity. The visible wording translates that evidence boundary into plain language.</a:t>
            </a:r>
          </a:p>
          <a:p xmlns:a="http://schemas.openxmlformats.org/drawingml/2006/main">
            <a:r>
              <a:t>The saved evidence still lacks canonical raw archives, clustered uncertainty, complete model and dataset identity, contamination testing, and representative human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21d809a1a74f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6662c3fb1541e5" /><Relationship Type="http://schemas.openxmlformats.org/officeDocument/2006/relationships/slideLayout" Target="/ppt/slideLayouts/slideLayout1.xml" Id="Rb9e84d7c67d746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e84d7c67d746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0553925c74bc0" /><Relationship Type="http://schemas.openxmlformats.org/officeDocument/2006/relationships/notesSlide" Target="/ppt/notesSlides/notesSlide1.xml" Id="R8bbd624d105742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0017d4ca24ab5" /><Relationship Type="http://schemas.openxmlformats.org/officeDocument/2006/relationships/notesSlide" Target="/ppt/notesSlides/notesSlide2.xml" Id="R847317fbcc9d4d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468627d444fc0" /><Relationship Type="http://schemas.openxmlformats.org/officeDocument/2006/relationships/chart" Target="/ppt/slides/charts/chart1.xml" Id="Rf884f9d7cd8744e8" /><Relationship Type="http://schemas.openxmlformats.org/officeDocument/2006/relationships/notesSlide" Target="/ppt/notesSlides/notesSlide3.xml" Id="Rd36f8edabe0f49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1f1f318c34160" /><Relationship Type="http://schemas.openxmlformats.org/officeDocument/2006/relationships/chart" Target="/ppt/slides/charts/chart2.xml" Id="R2aa6bce0eedc4a78" /><Relationship Type="http://schemas.openxmlformats.org/officeDocument/2006/relationships/notesSlide" Target="/ppt/notesSlides/notesSlide4.xml" Id="Rdf852b3119474e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fb98a68e04d8b" /><Relationship Type="http://schemas.openxmlformats.org/officeDocument/2006/relationships/chart" Target="/ppt/slides/charts/chart3.xml" Id="R3b1adfa1d3db432e" /><Relationship Type="http://schemas.openxmlformats.org/officeDocument/2006/relationships/notesSlide" Target="/ppt/notesSlides/notesSlide5.xml" Id="R4e6effbb1e2d4a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322ff874445d3" /><Relationship Type="http://schemas.openxmlformats.org/officeDocument/2006/relationships/chart" Target="/ppt/slides/charts/chart4.xml" Id="Redf4769112e54f92" /><Relationship Type="http://schemas.openxmlformats.org/officeDocument/2006/relationships/notesSlide" Target="/ppt/notesSlides/notesSlide6.xml" Id="R5e35916e2ca64f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033bc015c45c2" /><Relationship Type="http://schemas.openxmlformats.org/officeDocument/2006/relationships/notesSlide" Target="/ppt/notesSlides/notesSlide7.xml" Id="Rd6b6de85fadf44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0e6c39b6a43bd" /><Relationship Type="http://schemas.openxmlformats.org/officeDocument/2006/relationships/notesSlide" Target="/ppt/notesSlides/notesSlide8.xml" Id="R9e68777ea9a04c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Median width of saved 95% ranges — wider means less sure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Interval width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3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4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5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6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7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Data'!$A$2:$A$9</c:f>
              <c:strCache>
                <c:ptCount val="8"/>
                <c:pt idx="0">
                  <c:v>MFQ compare</c:v>
                </c:pt>
                <c:pt idx="1">
                  <c:v>Vignette compare</c:v>
                </c:pt>
                <c:pt idx="2">
                  <c:v>MFQ agreement</c:v>
                </c:pt>
                <c:pt idx="3">
                  <c:v>Vignette agreement</c:v>
                </c:pt>
                <c:pt idx="4">
                  <c:v>UniMoral factor</c:v>
                </c:pt>
                <c:pt idx="5">
                  <c:v>UniMoral typology</c:v>
                </c:pt>
                <c:pt idx="6">
                  <c:v>UniMoral action</c:v>
                </c:pt>
                <c:pt idx="7">
                  <c:v>UniMoral consequence</c:v>
                </c:pt>
              </c:strCache>
            </c:strRef>
          </c:cat>
          <c:val>
            <c:numRef>
              <c:f>'Chart Data'!$B$2:$B$9</c:f>
              <c:numCache>
                <c:formatCode>0.000</c:formatCode>
                <c:ptCount val="8"/>
                <c:pt idx="0">
                  <c:v>0.395</c:v>
                </c:pt>
                <c:pt idx="1">
                  <c:v>0.37</c:v>
                </c:pt>
                <c:pt idx="2">
                  <c:v>0.22</c:v>
                </c:pt>
                <c:pt idx="3">
                  <c:v>0.124</c:v>
                </c:pt>
                <c:pt idx="4">
                  <c:v>0.033</c:v>
                </c:pt>
                <c:pt idx="5">
                  <c:v>0.032</c:v>
                </c:pt>
                <c:pt idx="6">
                  <c:v>0.02</c:v>
                </c:pt>
                <c:pt idx="7">
                  <c:v>0.012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Median full width of saved 95% interval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Model-family and task cases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Gemma variants ordered by published total parameters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Score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E3229AB-1BD1-4B7B-8ADE-D93BA95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8858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Publish task results.</a:t>
            </a:r>
          </a:p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Do not rank the models.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CCB59-4DE3-4244-A176-51D5E16E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CEI moral psychology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90B8F-7479-455F-9BA6-9CD70EFE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Research lead readout · 4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D7E97-97AF-4B2E-B69F-1984F2F7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3E62EB-2220-4AC4-AC93-AC754804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191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Why: the highest saved score changes by task, and saved ranges overlap on both comparison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39A99-A4DE-4ED1-B712-CAE6E9A5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Share the task results with their limits. Size and release slides are early clues, not final answers.</a:t>
            </a:r>
          </a:p>
        </p:txBody>
      </p:sp>
    </p:spTree>
    <p:extLst>
      <p:ext uri="{BB962C8B-B14F-4D97-AF65-F5344CB8AC3E}">
        <p14:creationId xmlns:p14="http://schemas.microsoft.com/office/powerpoint/2010/main" val="10320298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79086F-5600-4073-912E-E42CB18E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121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 model has the highest saved score on all eight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E650A18-004C-45A0-898C-F0F308FF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Highest saved score for each task, using the same five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1618D-6E31-4572-8020-DADFE93F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0C4E7-C792-4A3D-83AE-E188C25F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809750"/>
                <a:gridCol w="2000250"/>
                <a:gridCol w="2743200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saved score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value statements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moral stories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value statement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moral story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Match one recorded human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Classify the recorded choice into one of four types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a top-rated factor for the recorded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Write what could happen next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6EE849-AD0B-40B7-9706-7249164C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Marginal ranges overlap on both comparison tasks; paired question results are unavailable, so no leader is resolved.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D8B33-CCB1-4105-8F43-71F8023D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119384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D5B4DA-65B4-4B4C-84BC-3D778390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62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Every model pair has overlapping score ranges on both tests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43A3F8D-2BAA-4C5E-BA9A-7CBB0D51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Full primary panels: MFQ = 8 models × 20 questions; Vignette = 10 × 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F9D4A-3C06-4148-974E-088A412F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8237C-F603-427D-9392-7D9FC890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FEAFB-3F74-4B8F-8923-EB6B357B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9225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= the median full width of saved 95% intervals across available models.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1143000" y="1685925"/>
          <a:ext xmlns:a="http://schemas.openxmlformats.org/drawingml/2006/main" cx="9810750" cy="3209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84f9d7cd8744e8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FB587-8FF3-45B1-912D-12032C1A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Marginal ranges overlap for all 28 MFQ and all 45 Vignette model pairs.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41B546-C0E2-4597-9496-BD329450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244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These ranges look at one model at a time; paired question results are unavailable.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EC2BC-D2EC-4E18-A068-C6D95053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Next: restore every model's answer and score for each question.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5F10B-3FA7-4AB3-9F18-BE0EF751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817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Check scoring and labels. Then compare models and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15908063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C7BED6-114F-4A47-AE17-F4726D07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Only 4 of 12 model-and-task cases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7BC0FEE-5D0E-4401-9A57-3494FE40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Qwen, Gemma, and Llama × four tasks; model versions differ in more than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DDE21-DBEE-49CA-85A6-0D74E5DF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75887-21A1-4DD9-94CF-259E075E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a6bce0eedc4a7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D1606-7715-4D5D-A3FB-2FC9572C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counts model-family × task cases (12 total).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5E619-17CA-482B-A4F5-CA49029D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Size is one clue, not a general rule.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8F694-5776-4C50-A747-195C6766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case follows one model family on one task. Different score types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13777020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76CE92-F826-4400-B1D6-53495439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scores rise on one task and fall on another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0B9FC-E5CB-4DEB-A5E0-C7EF4DE5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8517A-99BB-4C11-82A2-794325A1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1adfa1d3db432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E1148-18E8-4C1E-A2AA-1D9FDF5B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The larger named variants do not score higher on both tasks.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D46545-BB0A-42C8-9119-2140893B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stored task score. Its uncertainty range and raw run archive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425058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7B4F31-A97E-4ED3-AA96-5D42FEEE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34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Later model versions score higher on some tasks and lower on others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B4B576A-4DB3-4CCB-87DC-F791DBCD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Score change on three UniMoral tasks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5F986-ABFF-46E7-A001-9DD7C9A8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5676E-2D83-4704-80AA-07ADBA24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C89F0-8600-4575-8D85-76B473C5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2024-Q3 · Qwen2.5 7B Instruct (7.61B) → 2026-Q1 · Qwen3.5 9B (9B)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AD62B-7519-4B38-9A06-6220FA79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2025-Q1 · V3-0324 (671B main, 37B active) → 2026-Q2 · V4 Flash (284B main, 13B active)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42AD07-999F-418E-A65A-4DC457CE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main = published main-model parameters (auxiliary/MTP excluded); active = parameters used per token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3152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f4769112e54f92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4D29B-B62F-4B16-BBA4-E527945F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All endpoint runs were evaluated on 28–29 May 2026.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DD82F-4F89-4511-8D2C-827E907A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00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Release period is model metadata, not a progress timeline; 28–29 May is the evaluation time.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76B02-918C-40C2-A694-DA988C87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9602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Exploratory: saved uncertainty is unavailable. Consequence uses a different score and is not shown.</a:t>
            </a:r>
          </a:p>
        </p:txBody>
      </p:sp>
    </p:spTree>
    <p:extLst>
      <p:ext uri="{BB962C8B-B14F-4D97-AF65-F5344CB8AC3E}">
        <p14:creationId xmlns:p14="http://schemas.microsoft.com/office/powerpoint/2010/main" val="11848624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9A7410-2AC4-4837-BEC6-41055284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We did not exactly repeat any paper's experiment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E74ECF-9DE4-4026-BC98-216AD66A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papers help explain our questions. Their scores cannot be compared with ours.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B875B-A5C7-4741-811C-90192BBD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E6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PAPER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7D003-2483-4987-B519-D5DB4EF5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A1B4C-B378-4553-91A9-365CD9FD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219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0 of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9B203-C4A7-44E8-81D8-758594F0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papers repeated</a:t>
            </a:r>
          </a:p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exactly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3381375" y="1714500"/>
          <a:ext xmlns:a="http://schemas.openxmlformats.org/drawingml/2006/main" cx="804862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476750"/>
                <a:gridCol w="1905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Plain-language question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How close is our test?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Similar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choices, moral categories, influences, and what happens next?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Some similar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cover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question, different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reasons change when a model explains before or after choosing?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question, different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91309-4742-4C5F-B439-574ECADC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29250"/>
            <a:ext cx="804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Use the papers to explain our questions—not to compare scores.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36197E-179D-422D-9400-7B940F55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86450"/>
            <a:ext cx="804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Our UniMoral run does not test prompt hints, language differences, or where the stories came from.</a:t>
            </a:r>
          </a:p>
        </p:txBody>
      </p:sp>
    </p:spTree>
    <p:extLst>
      <p:ext uri="{BB962C8B-B14F-4D97-AF65-F5344CB8AC3E}">
        <p14:creationId xmlns:p14="http://schemas.microsoft.com/office/powerpoint/2010/main" val="18246265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0B1235-B404-48EC-8169-A71F8E09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Share task results now. Strengthen the test next.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2F3482D-930B-4CE2-81EB-07C98C4B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Better evidence makes the current results more useful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8AE69-85DE-4D9E-81D6-23914B5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2718B-1D0D-407B-B7EE-DE5EC4C3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Restore each model's answer and score for every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on the same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Check scoring and labels; 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alone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FB07AC-6F17-44B9-AE95-EB73302A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Best research next move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7F2157-49E7-4E3C-AC9E-41FFD239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2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Restore answers and scores. Check scoring and labels. Compare models. Then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4582600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2026-09-04T09:04:11.9090000Z</dcterms:created>
  <dcterms:modified xsi:type="dcterms:W3CDTF">2026-09-04T09:04:11.9090000Z</dcterms:modified>
</coreProperties>
</file>