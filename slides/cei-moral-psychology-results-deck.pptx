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6a7061b366473e" /><Relationship Type="http://schemas.openxmlformats.org/officeDocument/2006/relationships/extended-properties" Target="/docProps/app.xml" Id="Rf00a8ccbd77e410a" /><Relationship Type="http://schemas.openxmlformats.org/officeDocument/2006/relationships/officeDocument" Target="/ppt/presentation.xml" Id="R756817d8e57247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cf5c432cbd451b"/>
  </p:sldMasterIdLst>
  <p:notesMasterIdLst>
    <p:notesMasterId xmlns:r="http://schemas.openxmlformats.org/officeDocument/2006/relationships" r:id="R8e5db12ff58f480a"/>
  </p:notesMasterIdLst>
  <p:sldIdLst>
    <p:sldId xmlns:r="http://schemas.openxmlformats.org/officeDocument/2006/relationships" id="256" r:id="R57ecc9c9b3064384"/>
    <p:sldId xmlns:r="http://schemas.openxmlformats.org/officeDocument/2006/relationships" id="257" r:id="R2b0cc4a35e67476a"/>
    <p:sldId xmlns:r="http://schemas.openxmlformats.org/officeDocument/2006/relationships" id="258" r:id="Rf2c17c465fd84a51"/>
    <p:sldId xmlns:r="http://schemas.openxmlformats.org/officeDocument/2006/relationships" id="259" r:id="R3ea47c879adc4f35"/>
    <p:sldId xmlns:r="http://schemas.openxmlformats.org/officeDocument/2006/relationships" id="260" r:id="Rf4667a02415d42d1"/>
    <p:sldId xmlns:r="http://schemas.openxmlformats.org/officeDocument/2006/relationships" id="261" r:id="R35bf000902a84c5b"/>
    <p:sldId xmlns:r="http://schemas.openxmlformats.org/officeDocument/2006/relationships" id="262" r:id="Redfc71dcae534551"/>
    <p:sldId xmlns:r="http://schemas.openxmlformats.org/officeDocument/2006/relationships" id="263" r:id="R6919750d01ea44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1f2c65e985416c" /><Relationship Type="http://schemas.openxmlformats.org/officeDocument/2006/relationships/slideMaster" Target="/ppt/slideMasters/slideMaster1.xml" Id="Rf9cf5c432cbd451b" /><Relationship Type="http://schemas.openxmlformats.org/officeDocument/2006/relationships/notesMaster" Target="/ppt/notesMasters/notesMaster1.xml" Id="R8e5db12ff58f480a" /><Relationship Type="http://schemas.openxmlformats.org/officeDocument/2006/relationships/presProps" Target="/ppt/presProps.xml" Id="R2ac64b61daf94245" /><Relationship Type="http://schemas.openxmlformats.org/officeDocument/2006/relationships/tableStyles" Target="/ppt/tableStyles.xml" Id="R5d36085dfdd14292" /><Relationship Type="http://schemas.openxmlformats.org/officeDocument/2006/relationships/slide" Target="/ppt/slides/slide1.xml" Id="R57ecc9c9b3064384" /><Relationship Type="http://schemas.openxmlformats.org/officeDocument/2006/relationships/slide" Target="/ppt/slides/slide2.xml" Id="R2b0cc4a35e67476a" /><Relationship Type="http://schemas.openxmlformats.org/officeDocument/2006/relationships/slide" Target="/ppt/slides/slide3.xml" Id="Rf2c17c465fd84a51" /><Relationship Type="http://schemas.openxmlformats.org/officeDocument/2006/relationships/slide" Target="/ppt/slides/slide4.xml" Id="R3ea47c879adc4f35" /><Relationship Type="http://schemas.openxmlformats.org/officeDocument/2006/relationships/slide" Target="/ppt/slides/slide5.xml" Id="Rf4667a02415d42d1" /><Relationship Type="http://schemas.openxmlformats.org/officeDocument/2006/relationships/slide" Target="/ppt/slides/slide6.xml" Id="R35bf000902a84c5b" /><Relationship Type="http://schemas.openxmlformats.org/officeDocument/2006/relationships/slide" Target="/ppt/slides/slide7.xml" Id="Redfc71dcae534551" /><Relationship Type="http://schemas.openxmlformats.org/officeDocument/2006/relationships/slide" Target="/ppt/slides/slide8.xml" Id="R6919750d01ea44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81083981e843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c0df0716214187" /><Relationship Type="http://schemas.openxmlformats.org/officeDocument/2006/relationships/notesMaster" Target="/ppt/notesMasters/notesMaster1.xml" Id="Rfae43f9777e448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b73f94c0af4934" /><Relationship Type="http://schemas.openxmlformats.org/officeDocument/2006/relationships/notesMaster" Target="/ppt/notesMasters/notesMaster1.xml" Id="Rac0fa1e991e943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af04afc3d74155" /><Relationship Type="http://schemas.openxmlformats.org/officeDocument/2006/relationships/notesMaster" Target="/ppt/notesMasters/notesMaster1.xml" Id="Rd917ddf1c83a4d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d2700b559441e9" /><Relationship Type="http://schemas.openxmlformats.org/officeDocument/2006/relationships/notesMaster" Target="/ppt/notesMasters/notesMaster1.xml" Id="R7ae81ed32a4c4c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fe09257b48438e" /><Relationship Type="http://schemas.openxmlformats.org/officeDocument/2006/relationships/notesMaster" Target="/ppt/notesMasters/notesMaster1.xml" Id="Re3417333cf164e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a8be20089a480c" /><Relationship Type="http://schemas.openxmlformats.org/officeDocument/2006/relationships/notesMaster" Target="/ppt/notesMasters/notesMaster1.xml" Id="Rd1595db9c1834d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ab6bb25bd6410a" /><Relationship Type="http://schemas.openxmlformats.org/officeDocument/2006/relationships/notesMaster" Target="/ppt/notesMasters/notesMaster1.xml" Id="R83d5ffc695c54d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56c2d29bab4945" /><Relationship Type="http://schemas.openxmlformats.org/officeDocument/2006/relationships/notesMaster" Target="/ppt/notesMasters/notesMaster1.xml" Id="R416d39f6e5a949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1; docs/PAPER_REVIEW.md protocol comparison; evidence/canonical-audit/CLAIM_BOUNDARIES.md.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Each task cell keeps the formal task name on the first line and explains what it tests on the second.</a:t>
            </a:r>
          </a:p>
          <a:p xmlns:a="http://schemas.openxmlformats.org/drawingml/2006/main">
            <a:r>
              <a:t>The UniMoral action, typology, and factor rows match saved annotator-specific labels under no-persona prompts; the consequence row matches generated text to saved human references. None infers a person's stable moral identity.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evidence/canonical-audit/figures/data/primary_confidence_intervals.csv.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Denominator: all available primary models—8 on MFQ compare and 10 on vignette compare—not the five-model common roster.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visible cards compare only the two accuracy tasks; they do not rank interval widths across different metrics.</a:t>
            </a:r>
          </a:p>
          <a:p xmlns:a="http://schemas.openxmlformats.org/drawingml/2006/main">
            <a:r>
              <a:t>The saved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c3794540ba47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809703b6c14a2c" /><Relationship Type="http://schemas.openxmlformats.org/officeDocument/2006/relationships/slideLayout" Target="/ppt/slideLayouts/slideLayout1.xml" Id="Rd7b06535ddf248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b06535ddf248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49e30181c4a62" /><Relationship Type="http://schemas.openxmlformats.org/officeDocument/2006/relationships/notesSlide" Target="/ppt/notesSlides/notesSlide1.xml" Id="R4f85ed3ba66d42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93847d67f4e73" /><Relationship Type="http://schemas.openxmlformats.org/officeDocument/2006/relationships/notesSlide" Target="/ppt/notesSlides/notesSlide2.xml" Id="Rff23d85cb94843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a76b9d5bf4573" /><Relationship Type="http://schemas.openxmlformats.org/officeDocument/2006/relationships/notesSlide" Target="/ppt/notesSlides/notesSlide3.xml" Id="R220e832cb37744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185bba6c14a5b" /><Relationship Type="http://schemas.openxmlformats.org/officeDocument/2006/relationships/chart" Target="/ppt/slides/charts/chart1.xml" Id="R11af27ef5a7b4251" /><Relationship Type="http://schemas.openxmlformats.org/officeDocument/2006/relationships/notesSlide" Target="/ppt/notesSlides/notesSlide4.xml" Id="Rec9ec5a2be2d43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53319c75f4ba5" /><Relationship Type="http://schemas.openxmlformats.org/officeDocument/2006/relationships/chart" Target="/ppt/slides/charts/chart2.xml" Id="R09a9e665b80b4561" /><Relationship Type="http://schemas.openxmlformats.org/officeDocument/2006/relationships/notesSlide" Target="/ppt/notesSlides/notesSlide5.xml" Id="R0185845ff99540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71c8ff44f41f5" /><Relationship Type="http://schemas.openxmlformats.org/officeDocument/2006/relationships/chart" Target="/ppt/slides/charts/chart3.xml" Id="R3e41976407bc48a6" /><Relationship Type="http://schemas.openxmlformats.org/officeDocument/2006/relationships/notesSlide" Target="/ppt/notesSlides/notesSlide6.xml" Id="Rc176710461b342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322e2a62b47b2" /><Relationship Type="http://schemas.openxmlformats.org/officeDocument/2006/relationships/notesSlide" Target="/ppt/notesSlides/notesSlide7.xml" Id="Rc3356ad5d8d448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bd276c67540c0" /><Relationship Type="http://schemas.openxmlformats.org/officeDocument/2006/relationships/notesSlide" Target="/ppt/notesSlides/notesSlide8.xml" Id="Rf77e1fe4dc7e479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Accuracy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1A6F185-9CC8-492C-B20F-EE5A49D9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A1102-37FA-48B5-BE01-3FC194FC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4F739-3AD5-434E-8109-566E8472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6588A-05E0-4E9A-92F1-300E71A9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8E464-E400-4EE3-BE39-2F1AB167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highest saved score changes by task, and saved ranges overlap on both comparison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1A050-B217-4957-9B48-58BF4E6D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2039316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124837-3F22-4673-B549-10372C67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has the highest saved score on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5AB3CCF-57B6-4B6B-88DD-9CCB5DBF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saved score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264BC-347A-40FB-AF41-C6CF1EE4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E9A8E-C4E1-48A2-8E9E-9688218A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809750"/>
                <a:gridCol w="2000250"/>
                <a:gridCol w="2743200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value statements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moral stories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value statement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moral story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Match one recorded human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Classify the recorded choice into one of four types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a top-rated factor for the recorded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Write what could happen next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7DCC3-9F79-4F01-82E7-7F3EDD3D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Marginal ranges overlap on both comparison tasks; paired question results are unavailable, so no leader is resolved.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E6B29-E48A-4224-B7DB-6924751A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9737346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F16273-9E53-4238-91E7-A693AC6D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707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Saved ranges overlap for every model pair on both tests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337D4ED-D378-4998-83D6-90C62D08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Full primary panels: MFQ = 8 models × 20 questions; Vignette = 10 ×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98259-B746-41C4-AD46-0A8F3D3C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42AFC-D0AB-473D-8F4C-C5C2C8F3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E59F9-2A7E-428C-B4A0-10C8E323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922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card = share of model pairs whose saved marginal 95% ranges overlap.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8D7A7-36F6-42D1-8423-801C47E4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572000" cy="2238375"/>
          </a:xfrm>
          <a:prstGeom xmlns:a="http://schemas.openxmlformats.org/drawingml/2006/main" prst="roundRect">
            <a:avLst>
              <a:gd name="adj" fmla="val 766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19050">
            <a:solidFill>
              <a:srgbClr val="CF5D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D93EC-2842-4C01-BB69-F4ECDFFD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00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MFQ compare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E957D-8BA9-49B4-8F7E-CB620A15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81BAB-DEE1-4D6B-A41B-40C7775A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28 of 28 model pairs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203E7-91D9-4FCA-AB93-3DC959BE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05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saved marginal ranges overlap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2D9A1-5E1D-4E7D-8B94-5FCC3374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81175"/>
            <a:ext cx="4572000" cy="2238375"/>
          </a:xfrm>
          <a:prstGeom xmlns:a="http://schemas.openxmlformats.org/drawingml/2006/main" prst="roundRect">
            <a:avLst>
              <a:gd name="adj" fmla="val 766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19050">
            <a:solidFill>
              <a:srgbClr val="CF5D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64EC5-1327-4432-BCD5-31895AE6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Vignette 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83DEB5-C95E-4648-A67C-9D98C8EC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765F5-B54E-4C72-9CD3-7EE1C805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45 of 45 model pairs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CA3D7C-40AE-42AF-9B8E-EFD5BF92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052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saved marginal ranges overlap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CDA9E-D10C-4E90-A244-727867AB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76725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100% of model pairs overlap on both tests. This does not resolve a leader.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39A46-197E-4BEB-94E8-59A0733F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These are marginal ranges, not paired model-difference tests. Question-level results are unavailable.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1EDC0-E17E-4A80-9D82-0DC53E1A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911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Intervals are nominal; cluster-aware uncertainty is unavailable.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6B0A14-D0AB-4045-82D0-1BF0C7CE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Next: restore every model's answer and score for each question.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4AE16-D60C-4155-A24C-F072A1E6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8645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Check scoring and labels. Then compare models and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5900192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DA6A99-120F-4FDE-BF7D-1C7CDDFC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3B3336E-E435-40AF-9851-4CD7CEF2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0FEFE-7EBF-4476-B322-3AC21E32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028C66-C154-41F1-99D9-DF08F6A6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af27ef5a7b425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801AA-6B7F-4F4C-B651-BBB90374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model-family × task cases (12 total).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5D156-7B97-458C-9B65-F49FEEB7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F7116-CCDF-4E7B-A145-C09B6A94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2563362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67027D-A4DF-443C-978F-35B4A8EF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scores rise on one task and fall on another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180F6-719E-492B-9B6C-DDD697E6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C1B97-D883-4183-AB14-96DABF95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a9e665b80b456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0A0CE-A0B0-45B9-BD23-73180380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46E41-F816-41B1-8DD5-B897384B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raw run archive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16129318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50D8E4-4A41-4B92-90EC-6D068B24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A617DC5-0763-406D-9A55-74EC700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Accuracy change on three UniMoral tasks; consequence text match stays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ACF5C5-C3C1-4274-93CA-717BDFC9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47067-8136-4258-9A7F-608A7CF2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332B5-8F2A-4298-B6B2-04A1D6F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2024-Q3 · Qwen2.5 7B Instruct (7.61B) → 2026-Q1 ·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FA5D5-FC3D-4E36-9446-C509D87C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2025-Q1 · V3-0324 (671B main, 37B active) → 2026-Q2 ·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DD148-6876-42A9-B9C7-2032DBD8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published main-model parameters (auxiliary/MTP excluded); active = parameters used per token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41976407bc48a6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7FBF1-DB22-42E5-9FA8-79C3FD53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Across all four tasks: Qwen 3 higher / 1 lower · DeepSeek 2 higher / 2 lower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527FB-B070-455B-B47B-091960FF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Separate metric · Consequence text match (METEOR): Qwen −.027; DeepSeek +.019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E0EED-D5EA-463B-94E1-4A8EFE62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FCC50-731F-470B-9CCC-7DC6E481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912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is model metadata, not a progress timeline.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87B54-08E2-4F28-A6E5-A5B34358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38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Exploratory: saved uncertainty is unavailable. METEOR stays separate from accuracy.</a:t>
            </a:r>
          </a:p>
        </p:txBody>
      </p:sp>
    </p:spTree>
    <p:extLst>
      <p:ext uri="{BB962C8B-B14F-4D97-AF65-F5344CB8AC3E}">
        <p14:creationId xmlns:p14="http://schemas.microsoft.com/office/powerpoint/2010/main" val="1479981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C06B5D-4A1B-4DE5-81A2-7EBC3028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99FF5F-E0ED-4AAA-AE53-3F2ED9D2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FC88B-D26C-48C1-A1E5-B881B72A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BC4CC-BDC4-49FD-B896-66E59C81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36383-D392-47B1-820C-ACFD057F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19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 of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D18FA-32A9-4A6B-9FB5-8B965D2D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316BAD-153D-4A5C-A00B-B7F96735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3B648-B7F3-4067-9522-62C916B1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18244837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739914-15D0-4BD5-B112-73A012B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Share task results now. Strengthen the test next.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32C618-631F-4526-BB4A-70876E1B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AF773-72DE-40DD-B4D9-1DFFB2F6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4F1EB-CAF8-4023-B4C2-168A7147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Restore each model's answer and score for every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on the same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Check scoring and labels; 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alone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66D95-41E5-41BC-B3C8-484BF267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research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D80480-CF37-4ABB-B366-9D32704E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2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Restore answers and scores. Check scoring and labels.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20940092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2026-09-04T10:05:36.3020000Z</dcterms:created>
  <dcterms:modified xsi:type="dcterms:W3CDTF">2026-09-04T10:05:36.3020000Z</dcterms:modified>
</coreProperties>
</file>