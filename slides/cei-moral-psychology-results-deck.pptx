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3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0ef697c5a34a34" /><Relationship Type="http://schemas.openxmlformats.org/officeDocument/2006/relationships/extended-properties" Target="/docProps/app.xml" Id="R5c2ea850b40e462a" /><Relationship Type="http://schemas.openxmlformats.org/officeDocument/2006/relationships/officeDocument" Target="/ppt/presentation.xml" Id="Rd32cb7ea73d643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cf63d9084a84398"/>
  </p:sldMasterIdLst>
  <p:notesMasterIdLst>
    <p:notesMasterId xmlns:r="http://schemas.openxmlformats.org/officeDocument/2006/relationships" r:id="R52684c4be9d74455"/>
  </p:notesMasterIdLst>
  <p:sldIdLst>
    <p:sldId xmlns:r="http://schemas.openxmlformats.org/officeDocument/2006/relationships" id="256" r:id="R28316098380046eb"/>
    <p:sldId xmlns:r="http://schemas.openxmlformats.org/officeDocument/2006/relationships" id="257" r:id="R60ef4dffb91541d6"/>
    <p:sldId xmlns:r="http://schemas.openxmlformats.org/officeDocument/2006/relationships" id="258" r:id="Ra42e66c4d5324c60"/>
    <p:sldId xmlns:r="http://schemas.openxmlformats.org/officeDocument/2006/relationships" id="259" r:id="R59bc5b76c2d749b6"/>
    <p:sldId xmlns:r="http://schemas.openxmlformats.org/officeDocument/2006/relationships" id="260" r:id="Re52612187c24413f"/>
    <p:sldId xmlns:r="http://schemas.openxmlformats.org/officeDocument/2006/relationships" id="261" r:id="Rfd495d76baec4ac4"/>
    <p:sldId xmlns:r="http://schemas.openxmlformats.org/officeDocument/2006/relationships" id="262" r:id="Re74b7d5afe3d4f02"/>
    <p:sldId xmlns:r="http://schemas.openxmlformats.org/officeDocument/2006/relationships" id="263" r:id="R3c764319d77b453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e661878e6b543a5" /><Relationship Type="http://schemas.openxmlformats.org/officeDocument/2006/relationships/slideMaster" Target="/ppt/slideMasters/slideMaster1.xml" Id="Rdcf63d9084a84398" /><Relationship Type="http://schemas.openxmlformats.org/officeDocument/2006/relationships/notesMaster" Target="/ppt/notesMasters/notesMaster1.xml" Id="R52684c4be9d74455" /><Relationship Type="http://schemas.openxmlformats.org/officeDocument/2006/relationships/presProps" Target="/ppt/presProps.xml" Id="R292a470bf397402f" /><Relationship Type="http://schemas.openxmlformats.org/officeDocument/2006/relationships/tableStyles" Target="/ppt/tableStyles.xml" Id="R600b6d4993ab4879" /><Relationship Type="http://schemas.openxmlformats.org/officeDocument/2006/relationships/slide" Target="/ppt/slides/slide1.xml" Id="R28316098380046eb" /><Relationship Type="http://schemas.openxmlformats.org/officeDocument/2006/relationships/slide" Target="/ppt/slides/slide2.xml" Id="R60ef4dffb91541d6" /><Relationship Type="http://schemas.openxmlformats.org/officeDocument/2006/relationships/slide" Target="/ppt/slides/slide3.xml" Id="Ra42e66c4d5324c60" /><Relationship Type="http://schemas.openxmlformats.org/officeDocument/2006/relationships/slide" Target="/ppt/slides/slide4.xml" Id="R59bc5b76c2d749b6" /><Relationship Type="http://schemas.openxmlformats.org/officeDocument/2006/relationships/slide" Target="/ppt/slides/slide5.xml" Id="Re52612187c24413f" /><Relationship Type="http://schemas.openxmlformats.org/officeDocument/2006/relationships/slide" Target="/ppt/slides/slide6.xml" Id="Rfd495d76baec4ac4" /><Relationship Type="http://schemas.openxmlformats.org/officeDocument/2006/relationships/slide" Target="/ppt/slides/slide7.xml" Id="Re74b7d5afe3d4f02" /><Relationship Type="http://schemas.openxmlformats.org/officeDocument/2006/relationships/slide" Target="/ppt/slides/slide8.xml" Id="R3c764319d77b45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1120d3363dd46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dc0d182e89942ed" /><Relationship Type="http://schemas.openxmlformats.org/officeDocument/2006/relationships/notesMaster" Target="/ppt/notesMasters/notesMaster1.xml" Id="R7bc2722400674d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3900e5ee08c48a8" /><Relationship Type="http://schemas.openxmlformats.org/officeDocument/2006/relationships/notesMaster" Target="/ppt/notesMasters/notesMaster1.xml" Id="R9230189516994e3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16fc398e4a4612" /><Relationship Type="http://schemas.openxmlformats.org/officeDocument/2006/relationships/notesMaster" Target="/ppt/notesMasters/notesMaster1.xml" Id="R12584635bb7146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7e3000b8e2e427d" /><Relationship Type="http://schemas.openxmlformats.org/officeDocument/2006/relationships/notesMaster" Target="/ppt/notesMasters/notesMaster1.xml" Id="R17b33e13e89742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5f83dd30c14597" /><Relationship Type="http://schemas.openxmlformats.org/officeDocument/2006/relationships/notesMaster" Target="/ppt/notesMasters/notesMaster1.xml" Id="R8b6f2df0e9ed4b3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9904118fc2d4b7f" /><Relationship Type="http://schemas.openxmlformats.org/officeDocument/2006/relationships/notesMaster" Target="/ppt/notesMasters/notesMaster1.xml" Id="Rdb6a29d4d8eb47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97bc77f9135407f" /><Relationship Type="http://schemas.openxmlformats.org/officeDocument/2006/relationships/notesMaster" Target="/ppt/notesMasters/notesMaster1.xml" Id="R4b9a5fdbd875472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41f6074f95487c" /><Relationship Type="http://schemas.openxmlformats.org/officeDocument/2006/relationships/notesMaster" Target="/ppt/notesMasters/notesMaster1.xml" Id="R5a106a76e7b5483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Claim: publish task-level results, but do not create an overall model ranking.</a:t>
            </a:r>
          </a:p>
          <a:p xmlns:a="http://schemas.openxmlformats.org/drawingml/2006/main">
            <a:r>
              <a:t>Sources: docs/RESEARCH_LEAD_BRIEF.md; data/results/research_question_takeaways.csv.</a:t>
            </a:r>
          </a:p>
          <a:p xmlns:a="http://schemas.openxmlformats.org/drawingml/2006/main">
            <a:r>
              <a:t>Boundary: current task aggregates and saved uncertainty do not establish human validity, causal effects, or one cross-metric moral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row shows the highest saved point estimate for that task among Claude Haiku 4.5, Claude Opus 4.8, GPT-5.4, GPT-5.4 mini, and Qwen3 8B.</a:t>
            </a:r>
          </a:p>
          <a:p xmlns:a="http://schemas.openxmlformats.org/drawingml/2006/main">
            <a:r>
              <a:t>Sources: data/results/common_roster_primary.csv; docs/RESULTS_READOUT.md section 1.</a:t>
            </a:r>
          </a:p>
          <a:p xmlns:a="http://schemas.openxmlformats.org/drawingml/2006/main">
            <a:r>
              <a:t>The MFQ compare top value is shared by Claude Haiku 4.5 and Qwen3 8B. The vignette compare top value is shared by Claude Haiku 4.5 and GPT-5.4.</a:t>
            </a:r>
          </a:p>
          <a:p xmlns:a="http://schemas.openxmlformats.org/drawingml/2006/main">
            <a:r>
              <a:t>Values belong to different metrics. The visible labels translate normalized preference and METEOR into plain language.</a:t>
            </a:r>
          </a:p>
          <a:p xmlns:a="http://schemas.openxmlformats.org/drawingml/2006/main">
            <a:r>
              <a:t>Do not average preference, accuracy, and METEOR or treat this table as a moral leaderboard.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data/results/task_precision.csv.</a:t>
            </a:r>
          </a:p>
          <a:p xmlns:a="http://schemas.openxmlformats.org/drawingml/2006/main">
            <a:r>
              <a:t>All 18 individual intervals wider than .30 occur in the two MoralBench comparison tasks.</a:t>
            </a:r>
          </a:p>
          <a:p xmlns:a="http://schemas.openxmlformats.org/drawingml/2006/main">
            <a:r>
              <a:t>Denominator: all available primary models—8 on MFQ compare and 10 on vignette compare—not the five-model common roster.</a:t>
            </a:r>
          </a:p>
          <a:p xmlns:a="http://schemas.openxmlformats.org/drawingml/2006/main">
            <a:r>
              <a:t>Within each comparison task, every model pair has overlapping marginal intervals: 28 of 28 MFQ pairs and 45 of 45 vignette pairs.</a:t>
            </a:r>
          </a:p>
          <a:p xmlns:a="http://schemas.openxmlformats.org/drawingml/2006/main">
            <a:r>
              <a:t>This is not a paired model-difference test. The narrow UniMoral intervals are nominal row-level estimates and do not establish cluster-aware uncertainty or human validity.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data/results/size_task_points.csv.</a:t>
            </a:r>
          </a:p>
          <a:p xmlns:a="http://schemas.openxmlformats.org/drawingml/2006/main">
            <a:r>
              <a:t>Denominator: 12 complete paths equals three model families times four UniMoral tasks. Each path contains three named variants.</a:t>
            </a:r>
          </a:p>
          <a:p xmlns:a="http://schemas.openxmlformats.org/drawingml/2006/main">
            <a:r>
              <a:t>Counts: 4 rise at both steps, 7 change direction, and 1 falls at both steps.</a:t>
            </a:r>
          </a:p>
          <a:p xmlns:a="http://schemas.openxmlformats.org/drawingml/2006/main">
            <a:r>
              <a:t>Accuracy and METEOR stay separate.</a:t>
            </a:r>
          </a:p>
          <a:p xmlns:a="http://schemas.openxmlformats.org/drawingml/2006/main">
            <a:r>
              <a:t>This slide counts within-task direction only. It does not average accuracy and METEOR. The selected grid has no saved confidence intervals or raw-log replay.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data/results/size_task_points.csv; evidence/model-parameter-sources.csv.</a:t>
            </a:r>
          </a:p>
          <a:p xmlns:a="http://schemas.openxmlformats.org/drawingml/2006/main">
            <a:r>
              <a:t>Exact values: factor attribution .578 to .601 to .613; moral typology .597 to .579 to .570.</a:t>
            </a:r>
          </a:p>
          <a:p xmlns:a="http://schemas.openxmlformats.org/drawingml/2006/main">
            <a:r>
              <a:t>Across Qwen, Gemma, and Llama on four UniMoral tasks, 4 of 12 complete paths rise twice, 7 change direction, and 1 falls twice.</a:t>
            </a:r>
          </a:p>
          <a:p xmlns:a="http://schemas.openxmlformats.org/drawingml/2006/main">
            <a:r>
              <a:t>No saved intervals or raw-log replay are available for this selected grid.</a:t>
            </a:r>
          </a:p>
          <a:p xmlns:a="http://schemas.openxmlformats.org/drawingml/2006/main">
            <a:r>
              <a:t>This is exploratory selected-grid evidence. Parameter tier is descriptive metadata, not a controlled intervention. Qwen and Llama paths also change model generation or release period.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data/results/release_path_summary.csv; data/results/release_period_task_points.csv; data/model_release_periods.csv; evidence/model-parameter-sources.csv.</a:t>
            </a:r>
          </a:p>
          <a:p xmlns:a="http://schemas.openxmlformats.org/drawingml/2006/main">
            <a:r>
              <a:t>Classification accuracy deltas shown: Qwen action +.017873, typology +.042383, factor +.002005; DeepSeek action +.186589, typology -.003150, factor -.037514.</a:t>
            </a:r>
          </a:p>
          <a:p xmlns:a="http://schemas.openxmlformats.org/drawingml/2006/main">
            <a:r>
              <a:t>Consequence uses METEOR and is not mixed into this accuracy chart. Its endpoint deltas are Qwen -.026780 and DeepSeek +.018985.</a:t>
            </a:r>
          </a:p>
          <a:p xmlns:a="http://schemas.openxmlformats.org/drawingml/2006/main">
            <a:r>
              <a:t>Every plotted selected-grid score was evaluated on 28 or 29 May 2026. Release quarter is descriptive model metadata, not observation time or a causal intervention.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docs/PAPER_REVIEW.md; data/paper_protocol_map.csv.</a:t>
            </a:r>
          </a:p>
          <a:p xmlns:a="http://schemas.openxmlformats.org/drawingml/2006/main">
            <a:r>
              <a:t>MoralBench and UniMoral share approximate task families with the local evaluator, but model, data, prompt, metric, scorer, or aggregation identities differ.</a:t>
            </a:r>
          </a:p>
          <a:p xmlns:a="http://schemas.openxmlformats.org/drawingml/2006/main">
            <a:r>
              <a:t>MoReBench and MoralLens local performance surfaces are proxy-only. Their paper metrics and judges are not reproduced.</a:t>
            </a:r>
          </a:p>
          <a:p xmlns:a="http://schemas.openxmlformats.org/drawingml/2006/main">
            <a:r>
              <a:t>They are not direct score baselines. The visible status labels translate the protocol evidence into plain language.</a:t>
            </a:r>
          </a:p>
          <a:p xmlns:a="http://schemas.openxmlformats.org/drawingml/2006/main">
            <a:r>
              <a:t>Do not use the canonical 37-row UniMoral and ValuePrism crosswalk as the denominator for all four papers. That ledger covers a different evidence scope.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docs/RESEARCH_LEAD_BRIEF.md; evidence/canonical-audit/RERUN_PRIORITY.md; evidence/canonical-audit/SELF_CRITIQUE.md.</a:t>
            </a:r>
          </a:p>
          <a:p xmlns:a="http://schemas.openxmlformats.org/drawingml/2006/main">
            <a:r>
              <a:t>The order shown is a decision recommendation, not a statistical theorem.</a:t>
            </a:r>
          </a:p>
          <a:p xmlns:a="http://schemas.openxmlformats.org/drawingml/2006/main">
            <a:r>
              <a:t>Benchmark agreement is not human validity. The visible wording translates that evidence boundary into plain language.</a:t>
            </a:r>
          </a:p>
          <a:p xmlns:a="http://schemas.openxmlformats.org/drawingml/2006/main">
            <a:r>
              <a:t>The saved evidence still lacks canonical raw archives, clustered uncertainty, complete model and dataset identity, contamination testing, and representative human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6ed34e179a4b7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e2060bd82a455d" /><Relationship Type="http://schemas.openxmlformats.org/officeDocument/2006/relationships/slideLayout" Target="/ppt/slideLayouts/slideLayout1.xml" Id="Ra24c1e3d7a9149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4c1e3d7a9149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4ca6d5d0f4554" /><Relationship Type="http://schemas.openxmlformats.org/officeDocument/2006/relationships/notesSlide" Target="/ppt/notesSlides/notesSlide1.xml" Id="R9bd95ec0357e48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fddf711c5e4d71" /><Relationship Type="http://schemas.openxmlformats.org/officeDocument/2006/relationships/notesSlide" Target="/ppt/notesSlides/notesSlide2.xml" Id="Rf746beb1ef1c4d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fead9226a4ce8" /><Relationship Type="http://schemas.openxmlformats.org/officeDocument/2006/relationships/chart" Target="/ppt/slides/charts/chart1.xml" Id="Rbea0eff9e2794173" /><Relationship Type="http://schemas.openxmlformats.org/officeDocument/2006/relationships/notesSlide" Target="/ppt/notesSlides/notesSlide3.xml" Id="Rc5d8d1c02c11457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8813ed3904a4e" /><Relationship Type="http://schemas.openxmlformats.org/officeDocument/2006/relationships/chart" Target="/ppt/slides/charts/chart2.xml" Id="R8874bd99273b48b3" /><Relationship Type="http://schemas.openxmlformats.org/officeDocument/2006/relationships/notesSlide" Target="/ppt/notesSlides/notesSlide4.xml" Id="Rb1dd26e64c2340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c3bfe3924e4308" /><Relationship Type="http://schemas.openxmlformats.org/officeDocument/2006/relationships/chart" Target="/ppt/slides/charts/chart3.xml" Id="R1168b3b2784648e4" /><Relationship Type="http://schemas.openxmlformats.org/officeDocument/2006/relationships/notesSlide" Target="/ppt/notesSlides/notesSlide5.xml" Id="R2e6b79707ebf4c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3feb581c304174" /><Relationship Type="http://schemas.openxmlformats.org/officeDocument/2006/relationships/chart" Target="/ppt/slides/charts/chart4.xml" Id="Re50ebbed3b004919" /><Relationship Type="http://schemas.openxmlformats.org/officeDocument/2006/relationships/notesSlide" Target="/ppt/notesSlides/notesSlide6.xml" Id="Rcde3e8b3ba73435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576c6526f04037" /><Relationship Type="http://schemas.openxmlformats.org/officeDocument/2006/relationships/notesSlide" Target="/ppt/notesSlides/notesSlide7.xml" Id="R8d2dc96b86fc47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28399946fc4fe5" /><Relationship Type="http://schemas.openxmlformats.org/officeDocument/2006/relationships/notesSlide" Target="/ppt/notesSlides/notesSlide8.xml" Id="R696446a2c4e348d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Median width of saved 95% ranges — wider means less sure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Interval width</c:v>
          </c:tx>
          <c:spPr>
            <a:solidFill xmlns:a="http://schemas.openxmlformats.org/drawingml/2006/main">
              <a:srgbClr val="14856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CF5D4A"/>
              </a:solidFill>
              <a:ln xmlns:a="http://schemas.openxmlformats.org/drawingml/2006/main" w="0">
                <a:noFill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CF5D4A"/>
              </a:solidFill>
              <a:ln xmlns:a="http://schemas.openxmlformats.org/drawingml/2006/main" w="0">
                <a:noFill/>
              </a:ln>
            </c:spPr>
          </c:dPt>
          <c:dPt>
            <c:idx val="2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3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4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5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6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7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cat>
            <c:strRef>
              <c:f>'Chart Data'!$A$2:$A$9</c:f>
              <c:strCache>
                <c:ptCount val="8"/>
                <c:pt idx="0">
                  <c:v>MFQ compare</c:v>
                </c:pt>
                <c:pt idx="1">
                  <c:v>Vignette compare</c:v>
                </c:pt>
                <c:pt idx="2">
                  <c:v>MFQ agreement</c:v>
                </c:pt>
                <c:pt idx="3">
                  <c:v>Vignette agreement</c:v>
                </c:pt>
                <c:pt idx="4">
                  <c:v>UniMoral factor</c:v>
                </c:pt>
                <c:pt idx="5">
                  <c:v>UniMoral typology</c:v>
                </c:pt>
                <c:pt idx="6">
                  <c:v>UniMoral action</c:v>
                </c:pt>
                <c:pt idx="7">
                  <c:v>UniMoral consequence</c:v>
                </c:pt>
              </c:strCache>
            </c:strRef>
          </c:cat>
          <c:val>
            <c:numRef>
              <c:f>'Chart Data'!$B$2:$B$9</c:f>
              <c:numCache>
                <c:formatCode>0.000</c:formatCode>
                <c:ptCount val="8"/>
                <c:pt idx="0">
                  <c:v>0.395</c:v>
                </c:pt>
                <c:pt idx="1">
                  <c:v>0.37</c:v>
                </c:pt>
                <c:pt idx="2">
                  <c:v>0.22</c:v>
                </c:pt>
                <c:pt idx="3">
                  <c:v>0.124</c:v>
                </c:pt>
                <c:pt idx="4">
                  <c:v>0.033</c:v>
                </c:pt>
                <c:pt idx="5">
                  <c:v>0.032</c:v>
                </c:pt>
                <c:pt idx="6">
                  <c:v>0.02</c:v>
                </c:pt>
                <c:pt idx="7">
                  <c:v>0.012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Median full width of saved 95% interval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What happens across three model versions?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Complete paths</c:v>
          </c:tx>
          <c:spPr>
            <a:solidFill xmlns:a="http://schemas.openxmlformats.org/drawingml/2006/main">
              <a:srgbClr val="14856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2"/>
            <c:invertIfNegative val="0"/>
            <c:spPr>
              <a:solidFill xmlns:a="http://schemas.openxmlformats.org/drawingml/2006/main">
                <a:srgbClr val="6E5AA8"/>
              </a:solidFill>
              <a:ln xmlns:a="http://schemas.openxmlformats.org/drawingml/2006/main" w="0">
                <a:noFill/>
              </a:ln>
            </c:spPr>
          </c:dPt>
          <c:cat>
            <c:strRef>
              <c:f>'Chart Data'!$A$2:$A$4</c:f>
              <c:strCache>
                <c:ptCount val="3"/>
                <c:pt idx="0">
                  <c:v>Rise at both steps</c:v>
                </c:pt>
                <c:pt idx="1">
                  <c:v>Change direction</c:v>
                </c:pt>
                <c:pt idx="2">
                  <c:v>Fall at both steps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4</c:v>
                </c:pt>
                <c:pt idx="1">
                  <c:v>7</c:v>
                </c:pt>
                <c:pt idx="2">
                  <c:v>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Model-family and task cases (12 total)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Gemma 3 accuracy by model size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 b="1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Factor attribution</c:v>
          </c:tx>
          <c:spPr>
            <a:ln xmlns:a="http://schemas.openxmlformats.org/drawingml/2006/main" w="38100">
              <a:solidFill>
                <a:srgbClr val="2B78B8"/>
              </a:solidFill>
              <a:prstDash val="solid"/>
            </a:ln>
          </c:spPr>
          <c:marker>
            <c:symbol val="circle"/>
            <c:size val="10"/>
            <c:spPr>
              <a:solidFill xmlns:a="http://schemas.openxmlformats.org/drawingml/2006/main">
                <a:srgbClr val="2B78B8"/>
              </a:solidFill>
            </c:spPr>
          </c:marker>
          <c:cat>
            <c:strRef>
              <c:f>'Chart Data'!$A$2:$A$4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Data'!$B$2:$B$4</c:f>
              <c:numCache>
                <c:formatCode>0.000</c:formatCode>
                <c:ptCount val="3"/>
                <c:pt idx="0">
                  <c:v>0.578</c:v>
                </c:pt>
                <c:pt idx="1">
                  <c:v>0.601</c:v>
                </c:pt>
                <c:pt idx="2">
                  <c:v>0.613</c:v>
                </c:pt>
              </c:numCache>
            </c:numRef>
          </c:val>
          <c:smooth val="0"/>
        </c:ser>
        <c:ser>
          <c:idx val="1"/>
          <c:order val="1"/>
          <c:tx>
            <c:v>Moral typology</c:v>
          </c:tx>
          <c:spPr>
            <a:ln xmlns:a="http://schemas.openxmlformats.org/drawingml/2006/main" w="38100">
              <a:solidFill>
                <a:srgbClr val="6E5AA8"/>
              </a:solidFill>
              <a:prstDash val="dash"/>
            </a:ln>
          </c:spPr>
          <c:marker>
            <c:symbol val="square"/>
            <c:size val="10"/>
            <c:spPr>
              <a:solidFill xmlns:a="http://schemas.openxmlformats.org/drawingml/2006/main">
                <a:srgbClr val="6E5AA8"/>
              </a:solidFill>
            </c:spPr>
          </c:marker>
          <c:cat>
            <c:strRef>
              <c:f>'Chart Data'!$C$2:$C$4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Data'!$D$2:$D$4</c:f>
              <c:numCache>
                <c:formatCode>0.000</c:formatCode>
                <c:ptCount val="3"/>
                <c:pt idx="0">
                  <c:v>0.597</c:v>
                </c:pt>
                <c:pt idx="1">
                  <c:v>0.579</c:v>
                </c:pt>
                <c:pt idx="2">
                  <c:v>0.57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Gemma variants ordered by published total parameters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625"/>
          <c:min val="0.54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2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Score change from earlier to later version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Qwen</c:v>
          </c:tx>
          <c:spPr>
            <a:solidFill xmlns:a="http://schemas.openxmlformats.org/drawingml/2006/main">
              <a:srgbClr val="14856D"/>
            </a:solidFill>
          </c:spPr>
          <c:cat>
            <c:strRef>
              <c:f>'Chart Data'!$A$2:$A$4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Data'!$B$2:$B$4</c:f>
              <c:numCache>
                <c:formatCode>+0.000;-0.000;0.000</c:formatCode>
                <c:ptCount val="3"/>
                <c:pt idx="0">
                  <c:v>0.017873</c:v>
                </c:pt>
                <c:pt idx="1">
                  <c:v>0.042383</c:v>
                </c:pt>
                <c:pt idx="2">
                  <c:v>0.002005</c:v>
                </c:pt>
              </c:numCache>
            </c:numRef>
          </c:val>
        </c:ser>
        <c:ser>
          <c:idx val="1"/>
          <c:order val="1"/>
          <c:tx>
            <c:v>DeepSeek</c:v>
          </c:tx>
          <c:spPr>
            <a:solidFill xmlns:a="http://schemas.openxmlformats.org/drawingml/2006/main">
              <a:srgbClr val="6E5AA8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Data'!$D$2:$D$4</c:f>
              <c:numCache>
                <c:formatCode>+0.000;-0.000;0.000</c:formatCode>
                <c:ptCount val="3"/>
                <c:pt idx="0">
                  <c:v>0.186589</c:v>
                </c:pt>
                <c:pt idx="1">
                  <c:v>-0.00315</c:v>
                </c:pt>
                <c:pt idx="2">
                  <c:v>-0.037514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UniMoral task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2"/>
          <c:min val="-0.0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Change in 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+0.00;-0.00;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5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3FA2206-BDD9-42CF-880C-93988009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57300"/>
            <a:ext cx="8858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Publish task results.</a:t>
            </a:r>
          </a:p>
          <a:p xmlns:a="http://schemas.openxmlformats.org/drawingml/2006/main">
            <a:pPr algn="l">
              <a:defRPr sz="40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Do not rank the models.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4B8375-F024-4CDC-AA25-CCD3EA85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CEI moral psychology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B8570-5D06-4A0E-B587-9C1D65756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Research lead readout · 4 September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9F0233-8290-4EC9-9EA2-A9A82FD1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685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33683A-0666-41F4-86B4-CE04EB3C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9191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7212B"/>
                </a:solidFill>
                <a:latin typeface="Aptos"/>
                <a:ea typeface="Aptos"/>
                <a:cs typeface="Aptos"/>
              </a:rPr>
              <a:t>Why: the highest saved score changes by task, and saved ranges overlap on both comparison tests.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A47809-8D02-4742-8AC9-856FCE31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3405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Share the task results with their limits. Size and release slides are early clues, not final answers.</a:t>
            </a:r>
          </a:p>
        </p:txBody>
      </p:sp>
    </p:spTree>
    <p:extLst>
      <p:ext uri="{BB962C8B-B14F-4D97-AF65-F5344CB8AC3E}">
        <p14:creationId xmlns:p14="http://schemas.microsoft.com/office/powerpoint/2010/main" val="15407055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8A64EDA-16ED-43D5-BA29-FA8A6EA4A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121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No model has the highest saved score on all eight tasks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9848AF5-A81F-4381-8040-34490819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Highest saved score for each task, using the same five models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4D3E0A-2AF7-4DAE-9CC8-17404731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F0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MAIN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896B7A-3480-413F-B64F-B193308A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914400" y="1619250"/>
          <a:ext xmlns:a="http://schemas.openxmlformats.org/drawingml/2006/main" cx="103632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809750"/>
                <a:gridCol w="2143125"/>
                <a:gridCol w="3267075"/>
              </a:tblGrid>
              <a:tr h="45508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Task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Highest saved score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Score type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Model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agreement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.884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4856D"/>
                          </a:solidFill>
                          <a:latin typeface="Aptos"/>
                          <a:ea typeface="Aptos"/>
                          <a:cs typeface="Aptos"/>
                        </a:rPr>
                        <a:t>GPT-5.4 mini</a:t>
                      </a:r>
                    </a:p>
                  </a:txBody>
                  <a:tcPr marL="114300" marR="114300" marT="66675" marB="66675">
                    <a:solidFill>
                      <a:srgbClr val="E3F0E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agreement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.920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4856D"/>
                          </a:solidFill>
                          <a:latin typeface="Aptos"/>
                          <a:ea typeface="Aptos"/>
                          <a:cs typeface="Aptos"/>
                        </a:rPr>
                        <a:t>GPT-5.4</a:t>
                      </a:r>
                    </a:p>
                  </a:txBody>
                  <a:tcPr marL="114300" marR="114300" marT="66675" marB="66675">
                    <a:solidFill>
                      <a:srgbClr val="E3F0E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compare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.550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8B5F00"/>
                          </a:solidFill>
                          <a:latin typeface="Aptos"/>
                          <a:ea typeface="Aptos"/>
                          <a:cs typeface="Aptos"/>
                        </a:rPr>
                        <a:t>Haiku + Qwen tie†</a:t>
                      </a:r>
                    </a:p>
                  </a:txBody>
                  <a:tcPr marL="114300" marR="114300" marT="66675" marB="66675">
                    <a:solidFill>
                      <a:srgbClr val="F5EAC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compare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.625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8B5F00"/>
                          </a:solidFill>
                          <a:latin typeface="Aptos"/>
                          <a:ea typeface="Aptos"/>
                          <a:cs typeface="Aptos"/>
                        </a:rPr>
                        <a:t>Haiku + GPT-5.4 tie†</a:t>
                      </a:r>
                    </a:p>
                  </a:txBody>
                  <a:tcPr marL="114300" marR="114300" marT="66675" marB="66675">
                    <a:solidFill>
                      <a:srgbClr val="F5EAC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action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.668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typology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.651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factor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.609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consequence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.152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Text-match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6E5AA8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EBE6F4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71CAC1-9941-4C3B-9603-0A8CA5FF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F5D4A"/>
                </a:solidFill>
                <a:latin typeface="Aptos"/>
                <a:ea typeface="Aptos"/>
                <a:cs typeface="Aptos"/>
              </a:rPr>
              <a:t>† The uncertainty ranges overlap on the two comparison tasks. We cannot tell who leads.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06E150-3124-4E40-A541-E3AC3158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103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task uses its own score. Do not compare numbers from different rows.</a:t>
            </a:r>
          </a:p>
        </p:txBody>
      </p:sp>
    </p:spTree>
    <p:extLst>
      <p:ext uri="{BB962C8B-B14F-4D97-AF65-F5344CB8AC3E}">
        <p14:creationId xmlns:p14="http://schemas.microsoft.com/office/powerpoint/2010/main" val="18913650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7686218-E9AD-4780-90D7-ADA42E09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074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Saved ranges overlap for every model pair in both tests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57B42DF-5C3F-4524-9476-E905C829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Full primary panels: MFQ = 8 models × 20 questions; Vignette = 10 × 24.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B78AC8-4CF4-4188-B3CB-14D04D56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F0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MAIN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C82605-8EE3-46A5-ADAA-8C9DEEA2C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36EE74-E189-4C19-8B09-DC12093B2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19225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8889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bar = the median full width of saved 95% intervals across available models.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1143000" y="1685925"/>
          <a:ext xmlns:a="http://schemas.openxmlformats.org/drawingml/2006/main" cx="9810750" cy="32099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ea0eff9e2794173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78A51-0432-4086-8370-BB3C05BE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Direct evidence: saved ranges overlap for all 28 MFQ and all 45 Vignette model pairs.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50F310-50CC-43F6-BF90-7974FC77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2450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Action: recover per-question outcomes and check scoring.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760CC9-7627-4636-993D-1373DA58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Then compare models, run human review, and add questions only if still unclear.</a:t>
            </a:r>
          </a:p>
        </p:txBody>
      </p:sp>
    </p:spTree>
    <p:extLst>
      <p:ext uri="{BB962C8B-B14F-4D97-AF65-F5344CB8AC3E}">
        <p14:creationId xmlns:p14="http://schemas.microsoft.com/office/powerpoint/2010/main" val="18878417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3AF2979-C8C3-4AA9-979C-89BF7A52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Only 4 of 12 model-and-task cases rise twice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A209F66-D6EA-4BFF-852B-1BBB05AA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Qwen, Gemma, and Llama × four tasks; model versions differ in more than size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F370EF-334B-4DA7-8939-99EEA466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335A8E-CDD0-419C-A240-C3C31EE9D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1428750" y="1809750"/>
          <a:ext xmlns:a="http://schemas.openxmlformats.org/drawingml/2006/main" cx="93345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874bd99273b48b3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20F61A-833E-438E-9FDD-9B31F5AA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bar counts model-family × task cases (12 total).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964583-A207-410F-BA25-FB4979EE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10200"/>
            <a:ext cx="819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Size is one clue, not a general rule.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56E9C8-8EC3-472C-8F9D-3E28FDCA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864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case follows one model family on one task. Different score types stay separate.</a:t>
            </a:r>
          </a:p>
        </p:txBody>
      </p:sp>
    </p:spTree>
    <p:extLst>
      <p:ext uri="{BB962C8B-B14F-4D97-AF65-F5344CB8AC3E}">
        <p14:creationId xmlns:p14="http://schemas.microsoft.com/office/powerpoint/2010/main" val="13994402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9101F7A-5963-4B3F-BA40-99977E48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Gemma scores rise on one task and fall on another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9763A0-8B89-4924-BBFE-D6B4D6C3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3312F9-05F6-40AA-9F51-34F575E82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1000125" y="1714500"/>
          <a:ext xmlns:a="http://schemas.openxmlformats.org/drawingml/2006/main" cx="10191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68b3b2784648e4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B3D2D6-7E37-4438-81D0-31DA9F849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29300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The larger named variants do not score higher on both tasks.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A8E0E7-3286-4D83-ADB5-481BB206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191250"/>
            <a:ext cx="876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point is one stored task score. Its uncertainty range and raw run archive are unavailable.</a:t>
            </a:r>
          </a:p>
        </p:txBody>
      </p:sp>
    </p:spTree>
    <p:extLst>
      <p:ext uri="{BB962C8B-B14F-4D97-AF65-F5344CB8AC3E}">
        <p14:creationId xmlns:p14="http://schemas.microsoft.com/office/powerpoint/2010/main" val="8717762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15073F5-53ED-4580-8D27-539D6AB0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4349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Later model versions score higher on some tasks and lower on others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DD12F77-CD89-45DD-A2E8-DCAEDA1B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Score change on three UniMoral tasks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39ACB6-0210-47A7-8BA3-CBE5A2199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EACF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5F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B5F00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C1EBC1-01FA-44E8-BBF5-EEE73AC6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DB4DB4-07E4-451C-8784-9ABDF636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049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Qwen: 2024-Q3 · Qwen2.5 7B Instruct (7.61B) → 2026-Q1 · Qwen3.5 9B (9B)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887189-79DC-4CB2-BACF-EAC552AC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71650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DeepSeek: 2025-Q1 · V3-0324 (671B main, 37B active) → 2026-Q2 · V4 Flash (284B main, 13B active)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0BBC3E-95FF-427A-979B-1B7BE4ED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193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main = published main-model parameters (auxiliary/MTP excluded); active = parameters used per token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1143000" y="2266950"/>
          <a:ext xmlns:a="http://schemas.openxmlformats.org/drawingml/2006/main" cx="9810750" cy="31527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50ebbed3b004919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0B28AC-89E0-4680-AE1A-41718E39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578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All endpoint runs were evaluated on 28–29 May 2026.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ACA89B-87F6-468A-A3D9-9EBAC986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00075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Release period is model metadata, not a progress timeline; 28–29 May is the evaluation time.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69485E-C820-4601-A512-D5283430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96025"/>
            <a:ext cx="895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Exploratory: saved uncertainty is unavailable. Consequence uses a different score and is not shown.</a:t>
            </a:r>
          </a:p>
        </p:txBody>
      </p:sp>
    </p:spTree>
    <p:extLst>
      <p:ext uri="{BB962C8B-B14F-4D97-AF65-F5344CB8AC3E}">
        <p14:creationId xmlns:p14="http://schemas.microsoft.com/office/powerpoint/2010/main" val="83342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87FD353-18CF-4D7F-8243-9819F110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We did not exactly repeat any paper's experiment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4A6CE7D-501A-43FD-9067-089E5F93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The papers help explain our questions. Their scores cannot be compared with ours.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60E1A8-9AAA-4665-9B72-08468204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E6F4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PAPER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F501A7-FE85-48B9-BAB0-23E875CC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6676A2-4141-483F-9635-9743B11E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2190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450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0 of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1CBCE0-21BD-4D6E-9892-CC9458CC7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papers repeated</a:t>
            </a:r>
          </a:p>
          <a:p xmlns:a="http://schemas.openxmlformats.org/drawingml/2006/main">
            <a:pPr algn="ctr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exactly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3381375" y="1714500"/>
          <a:ext xmlns:a="http://schemas.openxmlformats.org/drawingml/2006/main" cx="8048625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4476750"/>
                <a:gridCol w="19050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Paper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Plain-language question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How close is our test?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 model choices match human ratings?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Similar question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Can models predict choices, moral categories, influences, and what happens next?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Some similar tasks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MoReBench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Does reasoning cover expert criteria?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Different scoring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MoralLens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 reasons change when a model explains before or after choosing?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Different scoring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759CA-9DCA-4FB4-BB05-218C0FB9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429250"/>
            <a:ext cx="8048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Use the papers to explain our questions—not to compare scores.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CA18F2-AB33-4680-9CDD-478B895D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886450"/>
            <a:ext cx="804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Our UniMoral run does not test prompt hints, language differences, or where the stories came from.</a:t>
            </a:r>
          </a:p>
        </p:txBody>
      </p:sp>
    </p:spTree>
    <p:extLst>
      <p:ext uri="{BB962C8B-B14F-4D97-AF65-F5344CB8AC3E}">
        <p14:creationId xmlns:p14="http://schemas.microsoft.com/office/powerpoint/2010/main" val="155433212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D6B917-B00A-423D-B14F-DE6DD2DD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8667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Share task results now. Strengthen the test next.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5CB7DCF-D882-413C-A0B3-3CC4406F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Better evidence makes the current results more useful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B94623-7938-459F-BA5B-C902AD2D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81000"/>
            <a:ext cx="17526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6E5E0"/>
          </a:solidFill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575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DED89E-90FC-4DF7-86BD-3EE8000A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876300" y="1762125"/>
          <a:ext xmlns:a="http://schemas.openxmlformats.org/drawingml/2006/main" cx="104394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095750"/>
                <a:gridCol w="43434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When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Reason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Now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Share each task result with its limits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 saved results answer one task at a time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Next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Recover per-question outcomes; check scoring and labels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This lets us compare models directly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Have people review the test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 benchmark score does not prove the test matches human judgment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Only if still unclear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Add more comparison questions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New questions help after the scoring works correctly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2A7D9F-9A2F-43EA-9742-F65AE569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43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6727E"/>
                </a:solidFill>
                <a:latin typeface="Aptos"/>
                <a:ea typeface="Aptos"/>
                <a:cs typeface="Aptos"/>
              </a:rPr>
              <a:t>Best research next move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F6A29E-6AA7-4BE1-8DC3-5E6C2E46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48350"/>
            <a:ext cx="10439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Recover per-question outcomes. Compare models. Then have people review the test.</a:t>
            </a:r>
          </a:p>
        </p:txBody>
      </p:sp>
    </p:spTree>
    <p:extLst>
      <p:ext uri="{BB962C8B-B14F-4D97-AF65-F5344CB8AC3E}">
        <p14:creationId xmlns:p14="http://schemas.microsoft.com/office/powerpoint/2010/main" val="9653907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2026-09-04T07:47:57.0870000Z</dcterms:created>
  <dcterms:modified xsi:type="dcterms:W3CDTF">2026-09-04T07:47:57.0870000Z</dcterms:modified>
</coreProperties>
</file>