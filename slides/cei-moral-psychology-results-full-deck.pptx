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6.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charts/chart10.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921b682dbd4700" /><Relationship Type="http://schemas.openxmlformats.org/officeDocument/2006/relationships/extended-properties" Target="/docProps/app.xml" Id="R96c4e7a291fe4f5b" /><Relationship Type="http://schemas.openxmlformats.org/officeDocument/2006/relationships/officeDocument" Target="/ppt/presentation.xml" Id="R8c8fa799bdb54586" /></Relationships>
</file>

<file path=ppt/presentation.xml><?xml version="1.0" encoding="utf-8"?>
<p:presentation xmlns:p="http://schemas.openxmlformats.org/presentationml/2006/main">
  <p:sldMasterIdLst>
    <p:sldMasterId xmlns:r="http://schemas.openxmlformats.org/officeDocument/2006/relationships" id="2147483648" r:id="Rf09ab9e306e74108"/>
  </p:sldMasterIdLst>
  <p:notesMasterIdLst>
    <p:notesMasterId xmlns:r="http://schemas.openxmlformats.org/officeDocument/2006/relationships" r:id="R0bcfe027e2294179"/>
  </p:notesMasterIdLst>
  <p:sldIdLst>
    <p:sldId xmlns:r="http://schemas.openxmlformats.org/officeDocument/2006/relationships" id="256" r:id="Rb17243a4df2a4052"/>
    <p:sldId xmlns:r="http://schemas.openxmlformats.org/officeDocument/2006/relationships" id="257" r:id="R84246e965dc94a00"/>
    <p:sldId xmlns:r="http://schemas.openxmlformats.org/officeDocument/2006/relationships" id="258" r:id="R39963c98bd4140d2"/>
    <p:sldId xmlns:r="http://schemas.openxmlformats.org/officeDocument/2006/relationships" id="259" r:id="Rc93fb5639acd4af3"/>
    <p:sldId xmlns:r="http://schemas.openxmlformats.org/officeDocument/2006/relationships" id="260" r:id="Rcfab52d8ab464892"/>
    <p:sldId xmlns:r="http://schemas.openxmlformats.org/officeDocument/2006/relationships" id="261" r:id="Rf3bd2f5894d540e0"/>
    <p:sldId xmlns:r="http://schemas.openxmlformats.org/officeDocument/2006/relationships" id="262" r:id="Ra52d9cae61804e2d"/>
    <p:sldId xmlns:r="http://schemas.openxmlformats.org/officeDocument/2006/relationships" id="263" r:id="R3d47e4aa43db4f49"/>
    <p:sldId xmlns:r="http://schemas.openxmlformats.org/officeDocument/2006/relationships" id="264" r:id="Rd67b66c5e1f14af1"/>
    <p:sldId xmlns:r="http://schemas.openxmlformats.org/officeDocument/2006/relationships" id="265" r:id="Rd62f197d5b254d4e"/>
    <p:sldId xmlns:r="http://schemas.openxmlformats.org/officeDocument/2006/relationships" id="266" r:id="R41961a4cfeeb4819"/>
    <p:sldId xmlns:r="http://schemas.openxmlformats.org/officeDocument/2006/relationships" id="267" r:id="R985f81534aba4e1e"/>
    <p:sldId xmlns:r="http://schemas.openxmlformats.org/officeDocument/2006/relationships" id="268" r:id="R489dbcde4efd4b09"/>
    <p:sldId xmlns:r="http://schemas.openxmlformats.org/officeDocument/2006/relationships" id="269" r:id="R1ce15211536a4017"/>
    <p:sldId xmlns:r="http://schemas.openxmlformats.org/officeDocument/2006/relationships" id="270" r:id="R15c72bd0077f4909"/>
    <p:sldId xmlns:r="http://schemas.openxmlformats.org/officeDocument/2006/relationships" id="271" r:id="R730d16cc42c4417a"/>
    <p:sldId xmlns:r="http://schemas.openxmlformats.org/officeDocument/2006/relationships" id="272" r:id="R6888cab7507049ac"/>
    <p:sldId xmlns:r="http://schemas.openxmlformats.org/officeDocument/2006/relationships" id="273" r:id="R07cdb3404c6b4f7a"/>
    <p:sldId xmlns:r="http://schemas.openxmlformats.org/officeDocument/2006/relationships" id="274" r:id="R4e5ddee0cc0647a7"/>
    <p:sldId xmlns:r="http://schemas.openxmlformats.org/officeDocument/2006/relationships" id="275" r:id="R4ba1dacdbb6c4ad2"/>
    <p:sldId xmlns:r="http://schemas.openxmlformats.org/officeDocument/2006/relationships" id="276" r:id="R515712bb2af541ad"/>
    <p:sldId xmlns:r="http://schemas.openxmlformats.org/officeDocument/2006/relationships" id="277" r:id="R3895ad012106418b"/>
    <p:sldId xmlns:r="http://schemas.openxmlformats.org/officeDocument/2006/relationships" id="278" r:id="R6938b4e1813041cf"/>
    <p:sldId xmlns:r="http://schemas.openxmlformats.org/officeDocument/2006/relationships" id="279" r:id="R440fbc20157d4e3f"/>
    <p:sldId xmlns:r="http://schemas.openxmlformats.org/officeDocument/2006/relationships" id="280" r:id="R5d07db8d810d449b"/>
    <p:sldId xmlns:r="http://schemas.openxmlformats.org/officeDocument/2006/relationships" id="281" r:id="R10b7ec8ec5a84639"/>
    <p:sldId xmlns:r="http://schemas.openxmlformats.org/officeDocument/2006/relationships" id="282" r:id="R917a1436b88c4046"/>
    <p:sldId xmlns:r="http://schemas.openxmlformats.org/officeDocument/2006/relationships" id="283" r:id="R3682ae8b87b04e96"/>
    <p:sldId xmlns:r="http://schemas.openxmlformats.org/officeDocument/2006/relationships" id="284" r:id="R474aebac7e1c4cba"/>
    <p:sldId xmlns:r="http://schemas.openxmlformats.org/officeDocument/2006/relationships" id="285" r:id="R18abd608c6f541bd"/>
    <p:sldId xmlns:r="http://schemas.openxmlformats.org/officeDocument/2006/relationships" id="286" r:id="Rd99a658160ef4a11"/>
    <p:sldId xmlns:r="http://schemas.openxmlformats.org/officeDocument/2006/relationships" id="287" r:id="R71cd3197fe01480e"/>
    <p:sldId xmlns:r="http://schemas.openxmlformats.org/officeDocument/2006/relationships" id="288" r:id="R5f96cfec03ba40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a5d204bd14261" /><Relationship Type="http://schemas.openxmlformats.org/officeDocument/2006/relationships/slideMaster" Target="/ppt/slideMasters/slideMaster1.xml" Id="Rf09ab9e306e74108" /><Relationship Type="http://schemas.openxmlformats.org/officeDocument/2006/relationships/notesMaster" Target="/ppt/notesMasters/notesMaster1.xml" Id="R0bcfe027e2294179" /><Relationship Type="http://schemas.openxmlformats.org/officeDocument/2006/relationships/presProps" Target="/ppt/presProps.xml" Id="Rc042124665fc419d" /><Relationship Type="http://schemas.openxmlformats.org/officeDocument/2006/relationships/tableStyles" Target="/ppt/tableStyles.xml" Id="R602bb687db53426e" /><Relationship Type="http://schemas.openxmlformats.org/officeDocument/2006/relationships/slide" Target="/ppt/slides/slide1.xml" Id="Rb17243a4df2a4052" /><Relationship Type="http://schemas.openxmlformats.org/officeDocument/2006/relationships/slide" Target="/ppt/slides/slide2.xml" Id="R84246e965dc94a00" /><Relationship Type="http://schemas.openxmlformats.org/officeDocument/2006/relationships/slide" Target="/ppt/slides/slide3.xml" Id="R39963c98bd4140d2" /><Relationship Type="http://schemas.openxmlformats.org/officeDocument/2006/relationships/slide" Target="/ppt/slides/slide4.xml" Id="Rc93fb5639acd4af3" /><Relationship Type="http://schemas.openxmlformats.org/officeDocument/2006/relationships/slide" Target="/ppt/slides/slide5.xml" Id="Rcfab52d8ab464892" /><Relationship Type="http://schemas.openxmlformats.org/officeDocument/2006/relationships/slide" Target="/ppt/slides/slide6.xml" Id="Rf3bd2f5894d540e0" /><Relationship Type="http://schemas.openxmlformats.org/officeDocument/2006/relationships/slide" Target="/ppt/slides/slide7.xml" Id="Ra52d9cae61804e2d" /><Relationship Type="http://schemas.openxmlformats.org/officeDocument/2006/relationships/slide" Target="/ppt/slides/slide8.xml" Id="R3d47e4aa43db4f49" /><Relationship Type="http://schemas.openxmlformats.org/officeDocument/2006/relationships/slide" Target="/ppt/slides/slide9.xml" Id="Rd67b66c5e1f14af1" /><Relationship Type="http://schemas.openxmlformats.org/officeDocument/2006/relationships/slide" Target="/ppt/slides/slide10.xml" Id="Rd62f197d5b254d4e" /><Relationship Type="http://schemas.openxmlformats.org/officeDocument/2006/relationships/slide" Target="/ppt/slides/slide11.xml" Id="R41961a4cfeeb4819" /><Relationship Type="http://schemas.openxmlformats.org/officeDocument/2006/relationships/slide" Target="/ppt/slides/slide12.xml" Id="R985f81534aba4e1e" /><Relationship Type="http://schemas.openxmlformats.org/officeDocument/2006/relationships/slide" Target="/ppt/slides/slide13.xml" Id="R489dbcde4efd4b09" /><Relationship Type="http://schemas.openxmlformats.org/officeDocument/2006/relationships/slide" Target="/ppt/slides/slide14.xml" Id="R1ce15211536a4017" /><Relationship Type="http://schemas.openxmlformats.org/officeDocument/2006/relationships/slide" Target="/ppt/slides/slide15.xml" Id="R15c72bd0077f4909" /><Relationship Type="http://schemas.openxmlformats.org/officeDocument/2006/relationships/slide" Target="/ppt/slides/slide16.xml" Id="R730d16cc42c4417a" /><Relationship Type="http://schemas.openxmlformats.org/officeDocument/2006/relationships/slide" Target="/ppt/slides/slide17.xml" Id="R6888cab7507049ac" /><Relationship Type="http://schemas.openxmlformats.org/officeDocument/2006/relationships/slide" Target="/ppt/slides/slide18.xml" Id="R07cdb3404c6b4f7a" /><Relationship Type="http://schemas.openxmlformats.org/officeDocument/2006/relationships/slide" Target="/ppt/slides/slide19.xml" Id="R4e5ddee0cc0647a7" /><Relationship Type="http://schemas.openxmlformats.org/officeDocument/2006/relationships/slide" Target="/ppt/slides/slide20.xml" Id="R4ba1dacdbb6c4ad2" /><Relationship Type="http://schemas.openxmlformats.org/officeDocument/2006/relationships/slide" Target="/ppt/slides/slide21.xml" Id="R515712bb2af541ad" /><Relationship Type="http://schemas.openxmlformats.org/officeDocument/2006/relationships/slide" Target="/ppt/slides/slide22.xml" Id="R3895ad012106418b" /><Relationship Type="http://schemas.openxmlformats.org/officeDocument/2006/relationships/slide" Target="/ppt/slides/slide23.xml" Id="R6938b4e1813041cf" /><Relationship Type="http://schemas.openxmlformats.org/officeDocument/2006/relationships/slide" Target="/ppt/slides/slide24.xml" Id="R440fbc20157d4e3f" /><Relationship Type="http://schemas.openxmlformats.org/officeDocument/2006/relationships/slide" Target="/ppt/slides/slide25.xml" Id="R5d07db8d810d449b" /><Relationship Type="http://schemas.openxmlformats.org/officeDocument/2006/relationships/slide" Target="/ppt/slides/slide26.xml" Id="R10b7ec8ec5a84639" /><Relationship Type="http://schemas.openxmlformats.org/officeDocument/2006/relationships/slide" Target="/ppt/slides/slide27.xml" Id="R917a1436b88c4046" /><Relationship Type="http://schemas.openxmlformats.org/officeDocument/2006/relationships/slide" Target="/ppt/slides/slide28.xml" Id="R3682ae8b87b04e96" /><Relationship Type="http://schemas.openxmlformats.org/officeDocument/2006/relationships/slide" Target="/ppt/slides/slide29.xml" Id="R474aebac7e1c4cba" /><Relationship Type="http://schemas.openxmlformats.org/officeDocument/2006/relationships/slide" Target="/ppt/slides/slide30.xml" Id="R18abd608c6f541bd" /><Relationship Type="http://schemas.openxmlformats.org/officeDocument/2006/relationships/slide" Target="/ppt/slides/slide31.xml" Id="Rd99a658160ef4a11" /><Relationship Type="http://schemas.openxmlformats.org/officeDocument/2006/relationships/slide" Target="/ppt/slides/slide32.xml" Id="R71cd3197fe01480e" /><Relationship Type="http://schemas.openxmlformats.org/officeDocument/2006/relationships/slide" Target="/ppt/slides/slide33.xml" Id="R5f96cfec03ba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ba478542894f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71a6214c564066" /><Relationship Type="http://schemas.openxmlformats.org/officeDocument/2006/relationships/notesMaster" Target="/ppt/notesMasters/notesMaster1.xml" Id="Ra6bed45afd6047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978eaf9180418a" /><Relationship Type="http://schemas.openxmlformats.org/officeDocument/2006/relationships/notesMaster" Target="/ppt/notesMasters/notesMaster1.xml" Id="R985335d8e09f4c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743b308c474308" /><Relationship Type="http://schemas.openxmlformats.org/officeDocument/2006/relationships/notesMaster" Target="/ppt/notesMasters/notesMaster1.xml" Id="Rdedfa7d05245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12196398174002" /><Relationship Type="http://schemas.openxmlformats.org/officeDocument/2006/relationships/notesMaster" Target="/ppt/notesMasters/notesMaster1.xml" Id="Rec945cb3e01b4c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27f1132db44f66" /><Relationship Type="http://schemas.openxmlformats.org/officeDocument/2006/relationships/notesMaster" Target="/ppt/notesMasters/notesMaster1.xml" Id="Re49f03e5570645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9b08ba421845f9" /><Relationship Type="http://schemas.openxmlformats.org/officeDocument/2006/relationships/notesMaster" Target="/ppt/notesMasters/notesMaster1.xml" Id="R92cd8416d4394e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ba88d2388c46f3" /><Relationship Type="http://schemas.openxmlformats.org/officeDocument/2006/relationships/notesMaster" Target="/ppt/notesMasters/notesMaster1.xml" Id="Rbb29513b22d444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c6f6c5b85d444b" /><Relationship Type="http://schemas.openxmlformats.org/officeDocument/2006/relationships/notesMaster" Target="/ppt/notesMasters/notesMaster1.xml" Id="Rbcc348cc233b40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7ceaa9d689432b" /><Relationship Type="http://schemas.openxmlformats.org/officeDocument/2006/relationships/notesMaster" Target="/ppt/notesMasters/notesMaster1.xml" Id="Rb39b07e456524d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2018f5157446f5" /><Relationship Type="http://schemas.openxmlformats.org/officeDocument/2006/relationships/notesMaster" Target="/ppt/notesMasters/notesMaster1.xml" Id="R28a2f675900f42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028e565dc1462d" /><Relationship Type="http://schemas.openxmlformats.org/officeDocument/2006/relationships/notesMaster" Target="/ppt/notesMasters/notesMaster1.xml" Id="R96aa6a9c39ec40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11e29fef584d38" /><Relationship Type="http://schemas.openxmlformats.org/officeDocument/2006/relationships/notesMaster" Target="/ppt/notesMasters/notesMaster1.xml" Id="R045979efed774f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75b02796f247c6" /><Relationship Type="http://schemas.openxmlformats.org/officeDocument/2006/relationships/notesMaster" Target="/ppt/notesMasters/notesMaster1.xml" Id="R4332539e757145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ad597f660942d0" /><Relationship Type="http://schemas.openxmlformats.org/officeDocument/2006/relationships/notesMaster" Target="/ppt/notesMasters/notesMaster1.xml" Id="R29fd3d34398143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99c03d763740f1" /><Relationship Type="http://schemas.openxmlformats.org/officeDocument/2006/relationships/notesMaster" Target="/ppt/notesMasters/notesMaster1.xml" Id="R9ceddeef0f7943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62f0e0103548c3" /><Relationship Type="http://schemas.openxmlformats.org/officeDocument/2006/relationships/notesMaster" Target="/ppt/notesMasters/notesMaster1.xml" Id="R4654ad65e5184c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00b68a86bd426d" /><Relationship Type="http://schemas.openxmlformats.org/officeDocument/2006/relationships/notesMaster" Target="/ppt/notesMasters/notesMaster1.xml" Id="Rfa16c4a05f1048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12449488384237" /><Relationship Type="http://schemas.openxmlformats.org/officeDocument/2006/relationships/notesMaster" Target="/ppt/notesMasters/notesMaster1.xml" Id="R1d0e657741cb4c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b719ea7d1a4762" /><Relationship Type="http://schemas.openxmlformats.org/officeDocument/2006/relationships/notesMaster" Target="/ppt/notesMasters/notesMaster1.xml" Id="R328406c1eb0941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a54851ffcd4870" /><Relationship Type="http://schemas.openxmlformats.org/officeDocument/2006/relationships/notesMaster" Target="/ppt/notesMasters/notesMaster1.xml" Id="R6ae693c53b5748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ed5ad7297c49b7" /><Relationship Type="http://schemas.openxmlformats.org/officeDocument/2006/relationships/notesMaster" Target="/ppt/notesMasters/notesMaster1.xml" Id="Rf6b2b519d01944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38d25bdb4e4520" /><Relationship Type="http://schemas.openxmlformats.org/officeDocument/2006/relationships/notesMaster" Target="/ppt/notesMasters/notesMaster1.xml" Id="R0645ec8b3ec243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0215acbd5b4dcf" /><Relationship Type="http://schemas.openxmlformats.org/officeDocument/2006/relationships/notesMaster" Target="/ppt/notesMasters/notesMaster1.xml" Id="R2f69571e183243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c22b30be6c446cd" /><Relationship Type="http://schemas.openxmlformats.org/officeDocument/2006/relationships/notesMaster" Target="/ppt/notesMasters/notesMaster1.xml" Id="Rc0049572e5554b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432005fbd414a7a" /><Relationship Type="http://schemas.openxmlformats.org/officeDocument/2006/relationships/notesMaster" Target="/ppt/notesMasters/notesMaster1.xml" Id="Rc0024252ab71418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ebaf41567aa4aa1" /><Relationship Type="http://schemas.openxmlformats.org/officeDocument/2006/relationships/notesMaster" Target="/ppt/notesMasters/notesMaster1.xml" Id="Rcba648849c8746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442c1885be40bd" /><Relationship Type="http://schemas.openxmlformats.org/officeDocument/2006/relationships/notesMaster" Target="/ppt/notesMasters/notesMaster1.xml" Id="Ra03f1e3d3e364a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4e0ba630aa4816" /><Relationship Type="http://schemas.openxmlformats.org/officeDocument/2006/relationships/notesMaster" Target="/ppt/notesMasters/notesMaster1.xml" Id="R2a00786eae9940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5c8a44d5e842c7" /><Relationship Type="http://schemas.openxmlformats.org/officeDocument/2006/relationships/notesMaster" Target="/ppt/notesMasters/notesMaster1.xml" Id="Rf0423686412240a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793c510c9154158" /><Relationship Type="http://schemas.openxmlformats.org/officeDocument/2006/relationships/notesMaster" Target="/ppt/notesMasters/notesMaster1.xml" Id="R8d10d476062942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de5742772794257" /><Relationship Type="http://schemas.openxmlformats.org/officeDocument/2006/relationships/notesMaster" Target="/ppt/notesMasters/notesMaster1.xml" Id="Rf8abe4e18d884ee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e8788c5b0f4dc6" /><Relationship Type="http://schemas.openxmlformats.org/officeDocument/2006/relationships/notesMaster" Target="/ppt/notesMasters/notesMaster1.xml" Id="R2a8d3bc3ad47400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ccf0368c7f34d9e" /><Relationship Type="http://schemas.openxmlformats.org/officeDocument/2006/relationships/notesMaster" Target="/ppt/notesMasters/notesMaster1.xml" Id="R5389657c2b6a4b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and UniMoral results. The question is what the saved results can support now.</a:t>
            </a:r>
          </a:p>
          <a:p xmlns:a="http://schemas.openxmlformats.org/drawingml/2006/main">
            <a:r>
              <a:t>How to read: Slides 2 to 6 give the main CEI findings. Later slides explain the papers and evidence limits.</a:t>
            </a:r>
          </a:p>
          <a:p xmlns:a="http://schemas.openxmlformats.org/drawingml/2006/main">
            <a:r>
              <a:t>Meaning: Different models have the highest saved score on different tasks. The two MoralBench comparison tasks do not identify a clear leader.</a:t>
            </a:r>
          </a:p>
          <a:p xmlns:a="http://schemas.openxmlformats.org/drawingml/2006/main">
            <a:r>
              <a:t>Limit: These tasks do not show that one model is morally better or that the findings apply outside the benchmark.</a:t>
            </a:r>
          </a:p>
          <a:p xmlns:a="http://schemas.openxmlformats.org/drawingml/2006/main">
            <a:r>
              <a:t>Reference only:</a:t>
            </a:r>
          </a:p>
          <a:p xmlns:a="http://schemas.openxmlformats.org/drawingml/2006/main">
            <a:r>
              <a:t>Sources: slides/cei-moral-psychology-results-deck.pptx, docs/RESEARCH_LEAD_BRIEF.md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and UniMoral results for five models that completed all eight tasks.</a:t>
            </a:r>
          </a:p>
          <a:p xmlns:a="http://schemas.openxmlformats.org/drawingml/2006/main">
            <a:r>
              <a:t>How to read: Each row is one task. The last column names the highest saved score. Check the score type in that row.</a:t>
            </a:r>
          </a:p>
          <a:p xmlns:a="http://schemas.openxmlformats.org/drawingml/2006/main">
            <a:r>
              <a:t>Meaning: No model has the highest saved score on all eight tasks. The top model changes with the task.</a:t>
            </a:r>
          </a:p>
          <a:p xmlns:a="http://schemas.openxmlformats.org/drawingml/2006/main">
            <a:r>
              <a:t>Limit: The rows use different measures. Do not combine agreement, accuracy, and text match into one score.</a:t>
            </a:r>
          </a:p>
          <a:p xmlns:a="http://schemas.openxmlformats.org/drawingml/2006/main">
            <a:r>
              <a:t>Reference only:</a:t>
            </a:r>
          </a:p>
          <a:p xmlns:a="http://schemas.openxmlformats.org/drawingml/2006/main">
            <a:r>
              <a:t>Sources: data/results/common_roster_primary.csv, docs/RESULTS_READOUT.md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comparison results. The question is whether the saved scores separate the models.</a:t>
            </a:r>
          </a:p>
          <a:p xmlns:a="http://schemas.openxmlformats.org/drawingml/2006/main">
            <a:r>
              <a:t>How to read: The two counts cover 28 MFQ model pairs and 45 vignette model pairs.</a:t>
            </a:r>
          </a:p>
          <a:p xmlns:a="http://schemas.openxmlformats.org/drawingml/2006/main">
            <a:r>
              <a:t>Meaning: For every pair of models, their separate 95% score ranges overlap. The saved results do not show a clear leader.</a:t>
            </a:r>
          </a:p>
          <a:p xmlns:a="http://schemas.openxmlformats.org/drawingml/2006/main">
            <a:r>
              <a:t>Limit: This does not directly test the score difference between two models. The saved scores for each question are missing.</a:t>
            </a:r>
          </a:p>
          <a:p xmlns:a="http://schemas.openxmlformats.org/drawingml/2006/main">
            <a:r>
              <a:t>Reference only:</a:t>
            </a:r>
          </a:p>
          <a:p xmlns:a="http://schemas.openxmlformats.org/drawingml/2006/main">
            <a:r>
              <a:t>Sources: evidence/canonical-audit/figures/data/primary_confidence_intervals.csv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results for Gemma, Llama, and Qwen. The question is whether scores rise at both size steps.</a:t>
            </a:r>
          </a:p>
          <a:p xmlns:a="http://schemas.openxmlformats.org/drawingml/2006/main">
            <a:r>
              <a:t>How to read: Each comparison follows one model family on one task across three sizes.</a:t>
            </a:r>
          </a:p>
          <a:p xmlns:a="http://schemas.openxmlformats.org/drawingml/2006/main">
            <a:r>
              <a:t>Meaning: Four of 12 comparisons rise at both steps. Seven change direction. One falls at both steps.</a:t>
            </a:r>
          </a:p>
          <a:p xmlns:a="http://schemas.openxmlformats.org/drawingml/2006/main">
            <a:r>
              <a:t>Limit: Size is only one difference between the model versions. These scores have no saved uncertainty ranges.</a:t>
            </a:r>
          </a:p>
          <a:p xmlns:a="http://schemas.openxmlformats.org/drawingml/2006/main">
            <a:r>
              <a:t>Reference only:</a:t>
            </a:r>
          </a:p>
          <a:p xmlns:a="http://schemas.openxmlformats.org/drawingml/2006/main">
            <a:r>
              <a:t>Sources: data/results/size_path_summary.csv, data/results/size_task_points.csv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results for Gemma 3 at 4B, 12B, and 27B.</a:t>
            </a:r>
          </a:p>
          <a:p xmlns:a="http://schemas.openxmlformats.org/drawingml/2006/main">
            <a:r>
              <a:t>How to read: Model size runs from left to right. Each line shows accuracy for one UniMoral task.</a:t>
            </a:r>
          </a:p>
          <a:p xmlns:a="http://schemas.openxmlformats.org/drawingml/2006/main">
            <a:r>
              <a:t>Meaning: Factor accuracy rises from .578 to .613. Moral typology accuracy falls from .597 to .570.</a:t>
            </a:r>
          </a:p>
          <a:p xmlns:a="http://schemas.openxmlformats.org/drawingml/2006/main">
            <a:r>
              <a:t>Limit: The vertical scale is zoomed. The versions also differ in training, and no uncertainty ranges are saved.</a:t>
            </a:r>
          </a:p>
          <a:p xmlns:a="http://schemas.openxmlformats.org/drawingml/2006/main">
            <a:r>
              <a:t>Reference only:</a:t>
            </a:r>
          </a:p>
          <a:p xmlns:a="http://schemas.openxmlformats.org/drawingml/2006/main">
            <a:r>
              <a:t>Sources: data/results/size_task_points.csv, evidence/model-parameter-sources.csv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results for earlier and later Qwen and DeepSeek models.</a:t>
            </a:r>
          </a:p>
          <a:p xmlns:a="http://schemas.openxmlformats.org/drawingml/2006/main">
            <a:r>
              <a:t>How to read: Bars show changes in three accuracy tasks. The separate line shows the change in consequence text match.</a:t>
            </a:r>
          </a:p>
          <a:p xmlns:a="http://schemas.openxmlformats.org/drawingml/2006/main">
            <a:r>
              <a:t>Meaning: Qwen is higher on three tasks and lower on one. DeepSeek is higher on two and lower on two.</a:t>
            </a:r>
          </a:p>
          <a:p xmlns:a="http://schemas.openxmlformats.org/drawingml/2006/main">
            <a:r>
              <a:t>Limit: Release date describes the model, not the test date. All shown scores were run on May 28 or 29, 2026.</a:t>
            </a:r>
          </a:p>
          <a:p xmlns:a="http://schemas.openxmlformats.org/drawingml/2006/main">
            <a:r>
              <a:t>Reference only:</a:t>
            </a:r>
          </a:p>
          <a:p xmlns:a="http://schemas.openxmlformats.org/drawingml/2006/main">
            <a:r>
              <a:t>Sources: data/results/release_path_summary.csv, data/results/release_period_task_points.csv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map covers MoralBench, UniMoral, MoReBench, MoralLens, and Value Kaleidoscope.</a:t>
            </a:r>
          </a:p>
          <a:p xmlns:a="http://schemas.openxmlformats.org/drawingml/2006/main">
            <a:r>
              <a:t>How to read: Read each row from the paper question to the paper result and the closest CEI evidence.</a:t>
            </a:r>
          </a:p>
          <a:p xmlns:a="http://schemas.openxmlformats.org/drawingml/2006/main">
            <a:r>
              <a:t>Meaning: None of the CEI tests is documented as an exact repeat of a paper experiment.</a:t>
            </a:r>
          </a:p>
          <a:p xmlns:a="http://schemas.openxmlformats.org/drawingml/2006/main">
            <a:r>
              <a:t>Limit: The 37 row count on Slide 26 covers only UniMoral and ValuePrism, not all five papers.</a:t>
            </a:r>
          </a:p>
          <a:p xmlns:a="http://schemas.openxmlformats.org/drawingml/2006/main">
            <a:r>
              <a:t>Reference only:</a:t>
            </a:r>
          </a:p>
          <a:p xmlns:a="http://schemas.openxmlformats.org/drawingml/2006/main">
            <a:r>
              <a:t>Sources: data/paper_protocol_map.csv, data/paper_visual_results.csv, evidence/canonical-audit/PAPER_REPO_EVIDENCE_LEDGER.csv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evidence audit covers 143 saved model and task results. It asks which results may support the main findings.</a:t>
            </a:r>
          </a:p>
          <a:p xmlns:a="http://schemas.openxmlformats.org/drawingml/2006/main">
            <a:r>
              <a:t>How to read: The ring divides the results into four groups. The green group contains 78 main text results.</a:t>
            </a:r>
          </a:p>
          <a:p xmlns:a="http://schemas.openxmlformats.org/drawingml/2006/main">
            <a:r>
              <a:t>Meaning: Seventy eight of 143 results, or 55%, meet the rules for main findings.</a:t>
            </a:r>
          </a:p>
          <a:p xmlns:a="http://schemas.openxmlformats.org/drawingml/2006/main">
            <a:r>
              <a:t>Limit: This does not prove that we can reproduce the raw runs or that the tasks match human judgment. Excluded does not mean model failure.</a:t>
            </a:r>
          </a:p>
          <a:p xmlns:a="http://schemas.openxmlformats.org/drawingml/2006/main">
            <a:r>
              <a:t>Reference only:</a:t>
            </a:r>
          </a:p>
          <a:p xmlns:a="http://schemas.openxmlformats.org/drawingml/2006/main">
            <a:r>
              <a:t>Sources: evidence/canonical-audit/figures/data/audit_partition.csv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 same 143 CEI results are divided by how they may be used.</a:t>
            </a:r>
          </a:p>
          <a:p xmlns:a="http://schemas.openxmlformats.org/drawingml/2006/main">
            <a:r>
              <a:t>How to read: Follow each result group to the type of claim it can support.</a:t>
            </a:r>
          </a:p>
          <a:p xmlns:a="http://schemas.openxmlformats.org/drawingml/2006/main">
            <a:r>
              <a:t>Meaning: Main text results support task findings. Other groups support checks, a separate extension, or exclusion records.</a:t>
            </a:r>
          </a:p>
          <a:p xmlns:a="http://schemas.openxmlformats.org/drawingml/2006/main">
            <a:r>
              <a:t>Limit: Confirming that the files are intact does not make weak evidence stronger.</a:t>
            </a:r>
          </a:p>
          <a:p xmlns:a="http://schemas.openxmlformats.org/drawingml/2006/main">
            <a:r>
              <a:t>Reference only:</a:t>
            </a:r>
          </a:p>
          <a:p xmlns:a="http://schemas.openxmlformats.org/drawingml/2006/main">
            <a:r>
              <a:t>Sources: evidence/canonical-audit/figures/01_audit_partition_flow.png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results for the same five models on four tasks.</a:t>
            </a:r>
          </a:p>
          <a:p xmlns:a="http://schemas.openxmlformats.org/drawingml/2006/main">
            <a:r>
              <a:t>How to read: Each panel has its own score. A dot is a saved score. A line is its saved 95% range.</a:t>
            </a:r>
          </a:p>
          <a:p xmlns:a="http://schemas.openxmlformats.org/drawingml/2006/main">
            <a:r>
              <a:t>Meaning: The highest saved score belongs to different models on different MoralBench tasks.</a:t>
            </a:r>
          </a:p>
          <a:p xmlns:a="http://schemas.openxmlformats.org/drawingml/2006/main">
            <a:r>
              <a:t>Limit: Agreement and accuracy are different measures. The ranges do not directly test the gap between two models.</a:t>
            </a:r>
          </a:p>
          <a:p xmlns:a="http://schemas.openxmlformats.org/drawingml/2006/main">
            <a:r>
              <a:t>Reference only:</a:t>
            </a:r>
          </a:p>
          <a:p xmlns:a="http://schemas.openxmlformats.org/drawingml/2006/main">
            <a:r>
              <a:t>Sources: assets/results/01_common_roster_task_results.png, data/results/common_roster_primary.csv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forced-choice results. The question is whether the two tests identify a model leader.</a:t>
            </a:r>
          </a:p>
          <a:p xmlns:a="http://schemas.openxmlformats.org/drawingml/2006/main">
            <a:r>
              <a:t>How to read: Each count shows how many model pairs have overlapping score ranges.</a:t>
            </a:r>
          </a:p>
          <a:p xmlns:a="http://schemas.openxmlformats.org/drawingml/2006/main">
            <a:r>
              <a:t>Meaning: For each pair of models, their separate 95% score ranges overlap. The saved results do not show a clear leader.</a:t>
            </a:r>
          </a:p>
          <a:p xmlns:a="http://schemas.openxmlformats.org/drawingml/2006/main">
            <a:r>
              <a:t>Limit: This does not directly test the difference between two models. The saved scores for each question are missing.</a:t>
            </a:r>
          </a:p>
          <a:p xmlns:a="http://schemas.openxmlformats.org/drawingml/2006/main">
            <a:r>
              <a:t>Reference only:</a:t>
            </a:r>
          </a:p>
          <a:p xmlns:a="http://schemas.openxmlformats.org/drawingml/2006/main">
            <a:r>
              <a:t>Sources: assets/results/02_precision_by_task.png, evidence/canonical-audit/figures/data/primary_confidence_intervals.csv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MoralBench accuracy results based on 20 MFQ questions and 24 vignettes per model.</a:t>
            </a:r>
          </a:p>
          <a:p xmlns:a="http://schemas.openxmlformats.org/drawingml/2006/main">
            <a:r>
              <a:t>How to read: The dot is accuracy. The horizontal line is the saved 95% range.</a:t>
            </a:r>
          </a:p>
          <a:p xmlns:a="http://schemas.openxmlformats.org/drawingml/2006/main">
            <a:r>
              <a:t>Meaning: The available ranges are wide and do not resolve the small score gaps.</a:t>
            </a:r>
          </a:p>
          <a:p xmlns:a="http://schemas.openxmlformats.org/drawingml/2006/main">
            <a:r>
              <a:t>Limit: The saved data do not let us compare two models on the same questions. They also do not show whether the benchmark matches human judgment.</a:t>
            </a:r>
          </a:p>
          <a:p xmlns:a="http://schemas.openxmlformats.org/drawingml/2006/main">
            <a:r>
              <a:t>Reference only:</a:t>
            </a:r>
          </a:p>
          <a:p xmlns:a="http://schemas.openxmlformats.org/drawingml/2006/main">
            <a:r>
              <a:t>Sources: evidence/canonical-audit/figures/03_primary_uncertainty.png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Eight CEI MoralBench and UniMoral tasks use different kinds of scores. The question is whether they can form one overall score.</a:t>
            </a:r>
          </a:p>
          <a:p xmlns:a="http://schemas.openxmlformats.org/drawingml/2006/main">
            <a:r>
              <a:t>How to read: Each line runs from the lowest to the highest saved score for one task. Read the three score types separately.</a:t>
            </a:r>
          </a:p>
          <a:p xmlns:a="http://schemas.openxmlformats.org/drawingml/2006/main">
            <a:r>
              <a:t>Meaning: Models are closer on some tasks and farther apart on others. Averaging these panels would mix different measures.</a:t>
            </a:r>
          </a:p>
          <a:p xmlns:a="http://schemas.openxmlformats.org/drawingml/2006/main">
            <a:r>
              <a:t>Limit: A high score in one panel cannot be compared with a high score in another. There is no supported overall moral score.</a:t>
            </a:r>
          </a:p>
          <a:p xmlns:a="http://schemas.openxmlformats.org/drawingml/2006/main">
            <a:r>
              <a:t>Reference only:</a:t>
            </a:r>
          </a:p>
          <a:p xmlns:a="http://schemas.openxmlformats.org/drawingml/2006/main">
            <a:r>
              <a:t>Sources: evidence/canonical-audit/figures/04_task_diagnostic_spread.png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results across three model families and four tasks.</a:t>
            </a:r>
          </a:p>
          <a:p xmlns:a="http://schemas.openxmlformats.org/drawingml/2006/main">
            <a:r>
              <a:t>How to read: The top chart counts 12 family and task comparisons. The lower chart shows Gemma at three sizes.</a:t>
            </a:r>
          </a:p>
          <a:p xmlns:a="http://schemas.openxmlformats.org/drawingml/2006/main">
            <a:r>
              <a:t>Meaning: Only four comparisons rise at both steps. Gemma moves in opposite directions on two tasks.</a:t>
            </a:r>
          </a:p>
          <a:p xmlns:a="http://schemas.openxmlformats.org/drawingml/2006/main">
            <a:r>
              <a:t>Limit: Size is not isolated from training and release changes. No uncertainty ranges are saved.</a:t>
            </a:r>
          </a:p>
          <a:p xmlns:a="http://schemas.openxmlformats.org/drawingml/2006/main">
            <a:r>
              <a:t>Reference only:</a:t>
            </a:r>
          </a:p>
          <a:p xmlns:a="http://schemas.openxmlformats.org/drawingml/2006/main">
            <a:r>
              <a:t>Sources: assets/results/03_size_paths.png, data/results/size_path_summary.csv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action and typology results for Qwen, Gemma, and Llama.</a:t>
            </a:r>
          </a:p>
          <a:p xmlns:a="http://schemas.openxmlformats.org/drawingml/2006/main">
            <a:r>
              <a:t>How to read: Move left to right within one family. Each point names the model and its published size.</a:t>
            </a:r>
          </a:p>
          <a:p xmlns:a="http://schemas.openxmlformats.org/drawingml/2006/main">
            <a:r>
              <a:t>Meaning: Three of six comparisons change direction. Larger versions are not consistently more accurate on these two tasks.</a:t>
            </a:r>
          </a:p>
          <a:p xmlns:a="http://schemas.openxmlformats.org/drawingml/2006/main">
            <a:r>
              <a:t>Limit: The chart has no saved uncertainty ranges or raw run archive. The model versions differ in more than size.</a:t>
            </a:r>
          </a:p>
          <a:p xmlns:a="http://schemas.openxmlformats.org/drawingml/2006/main">
            <a:r>
              <a:t>Reference only:</a:t>
            </a:r>
          </a:p>
          <a:p xmlns:a="http://schemas.openxmlformats.org/drawingml/2006/main">
            <a:r>
              <a:t>Sources: assets/results/03_size_action_typology_detail.png, data/results/size_task_points.csv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consequence and ValuePrism relevance results across model sizes.</a:t>
            </a:r>
          </a:p>
          <a:p xmlns:a="http://schemas.openxmlformats.org/drawingml/2006/main">
            <a:r>
              <a:t>How to read: Move left to right within one family. Read consequence text match and relevance accuracy separately.</a:t>
            </a:r>
          </a:p>
          <a:p xmlns:a="http://schemas.openxmlformats.org/drawingml/2006/main">
            <a:r>
              <a:t>Meaning: Three of five complete comparisons change direction. No one size pattern holds across both tasks.</a:t>
            </a:r>
          </a:p>
          <a:p xmlns:a="http://schemas.openxmlformats.org/drawingml/2006/main">
            <a:r>
              <a:t>Limit: Text match and accuracy cannot be compared directly. CEI ValuePrism is not the Value Kaleidoscope paper test.</a:t>
            </a:r>
          </a:p>
          <a:p xmlns:a="http://schemas.openxmlformats.org/drawingml/2006/main">
            <a:r>
              <a:t>Reference only:</a:t>
            </a:r>
          </a:p>
          <a:p xmlns:a="http://schemas.openxmlformats.org/drawingml/2006/main">
            <a:r>
              <a:t>Sources: assets/results/03_size_consequence_relevance_detail.png, data/results/size_task_points.csv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an exploratory CEI UniMoral comparison of the first and last Qwen and DeepSeek models.</a:t>
            </a:r>
          </a:p>
          <a:p xmlns:a="http://schemas.openxmlformats.org/drawingml/2006/main">
            <a:r>
              <a:t>How to read: The horizontal value is later score minus earlier score. Right is higher. Left is lower.</a:t>
            </a:r>
          </a:p>
          <a:p xmlns:a="http://schemas.openxmlformats.org/drawingml/2006/main">
            <a:r>
              <a:t>Meaning: Qwen is higher on three of four tasks. DeepSeek is higher on two of four.</a:t>
            </a:r>
          </a:p>
          <a:p xmlns:a="http://schemas.openxmlformats.org/drawingml/2006/main">
            <a:r>
              <a:t>Limit: All scores were tested in May 2026. Looking only at first and last models can hide changes in between.</a:t>
            </a:r>
          </a:p>
          <a:p xmlns:a="http://schemas.openxmlformats.org/drawingml/2006/main">
            <a:r>
              <a:t>Reference only:</a:t>
            </a:r>
          </a:p>
          <a:p xmlns:a="http://schemas.openxmlformats.org/drawingml/2006/main">
            <a:r>
              <a:t>Sources: assets/results/04_release_period_paths.png, data/results/release_path_summary.csv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action and typology results across saved Qwen and DeepSeek release quarters.</a:t>
            </a:r>
          </a:p>
          <a:p xmlns:a="http://schemas.openxmlformats.org/drawingml/2006/main">
            <a:r>
              <a:t>How to read: Move left to right within one family. Each point names the model and its published size.</a:t>
            </a:r>
          </a:p>
          <a:p xmlns:a="http://schemas.openxmlformats.org/drawingml/2006/main">
            <a:r>
              <a:t>Meaning: DeepSeek changes direction on both tasks. The reported score depends on which saved model version is used.</a:t>
            </a:r>
          </a:p>
          <a:p xmlns:a="http://schemas.openxmlformats.org/drawingml/2006/main">
            <a:r>
              <a:t>Limit: Release quarter is model metadata, not test time. Training, size, architecture, and provider details can also differ. The available files have no saved uncertainty ranges or raw run archive.</a:t>
            </a:r>
          </a:p>
          <a:p xmlns:a="http://schemas.openxmlformats.org/drawingml/2006/main">
            <a:r>
              <a:t>Reference only:</a:t>
            </a:r>
          </a:p>
          <a:p xmlns:a="http://schemas.openxmlformats.org/drawingml/2006/main">
            <a:r>
              <a:t>Sources: assets/results/04_release_action_typology_detail.png, data/results/release_period_task_points.csv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consequence and ValuePrism relevance results across model release quarters.</a:t>
            </a:r>
          </a:p>
          <a:p xmlns:a="http://schemas.openxmlformats.org/drawingml/2006/main">
            <a:r>
              <a:t>How to read: Move left to right within one family. Read consequence text match and relevance accuracy separately.</a:t>
            </a:r>
          </a:p>
          <a:p xmlns:a="http://schemas.openxmlformats.org/drawingml/2006/main">
            <a:r>
              <a:t>Meaning: Later Qwen is lower on consequence text match and higher on ValuePrism relevance. DeepSeek ends higher on both.</a:t>
            </a:r>
          </a:p>
          <a:p xmlns:a="http://schemas.openxmlformats.org/drawingml/2006/main">
            <a:r>
              <a:t>Limit: Text match and accuracy cannot share one scale. Release quarter is model metadata, not test time. The available files have no saved uncertainty ranges or raw run archive.</a:t>
            </a:r>
          </a:p>
          <a:p xmlns:a="http://schemas.openxmlformats.org/drawingml/2006/main">
            <a:r>
              <a:t>Reference only:</a:t>
            </a:r>
          </a:p>
          <a:p xmlns:a="http://schemas.openxmlformats.org/drawingml/2006/main">
            <a:r>
              <a:t>Sources: assets/results/04_release_period_paths_detail_b.png, data/results/release_period_task_points.csv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six exploratory CEI UniMoral action results. The question is whether larger or later models always score higher.</a:t>
            </a:r>
          </a:p>
          <a:p xmlns:a="http://schemas.openxmlformats.org/drawingml/2006/main">
            <a:r>
              <a:t>How to read: The horizontal axis is release date. The vertical axis is action accuracy. Bubble area shows published model size.</a:t>
            </a:r>
          </a:p>
          <a:p xmlns:a="http://schemas.openxmlformats.org/drawingml/2006/main">
            <a:r>
              <a:t>Meaning: Three 671B DeepSeek releases range from .453 to .660. The six points do not form a steady size or date pattern.</a:t>
            </a:r>
          </a:p>
          <a:p xmlns:a="http://schemas.openxmlformats.org/drawingml/2006/main">
            <a:r>
              <a:t>Limit: Six results cannot show a general pattern. The chart has no uncertainty ranges, and some details about the models actually used were not saved.</a:t>
            </a:r>
          </a:p>
          <a:p xmlns:a="http://schemas.openxmlformats.org/drawingml/2006/main">
            <a:r>
              <a:t>Reference only:</a:t>
            </a:r>
          </a:p>
          <a:p xmlns:a="http://schemas.openxmlformats.org/drawingml/2006/main">
            <a:r>
              <a:t>Sources: data/model_release_periods.csv, data/results/release_period_task_points.csv, evidence/model-parameter-sources.csv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 MoralBench paper result, not a CEI result. The paper asks whether model choices align with human ratings.</a:t>
            </a:r>
          </a:p>
          <a:p xmlns:a="http://schemas.openxmlformats.org/drawingml/2006/main">
            <a:r>
              <a:t>How to read: Read the four assessments separately because they use different score scales.</a:t>
            </a:r>
          </a:p>
          <a:p xmlns:a="http://schemas.openxmlformats.org/drawingml/2006/main">
            <a:r>
              <a:t>Meaning: LLaMA-2 leads MFQ binary. GPT-4 leads vignette binary. GPT-3.5 leads both comparison tests.</a:t>
            </a:r>
          </a:p>
          <a:p xmlns:a="http://schemas.openxmlformats.org/drawingml/2006/main">
            <a:r>
              <a:t>Limit: The paper gives no confidence ranges for these tables. One printed Gemma total conflicts with its shown parts.</a:t>
            </a:r>
          </a:p>
          <a:p xmlns:a="http://schemas.openxmlformats.org/drawingml/2006/main">
            <a:r>
              <a:t>Reference only:</a:t>
            </a:r>
          </a:p>
          <a:p xmlns:a="http://schemas.openxmlformats.org/drawingml/2006/main">
            <a:r>
              <a:t>Sources: MoralBench paper Tables 1 and 2, data/paper_visual_results.csv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compares the UniMoral paper with CEI evidence. The paper studies action, moral type, factor, consequence, prompts, language, and story source.</a:t>
            </a:r>
          </a:p>
          <a:p xmlns:a="http://schemas.openxmlformats.org/drawingml/2006/main">
            <a:r>
              <a:t>How to read: Read each row from the paper question to the paper score and the related CEI measure.</a:t>
            </a:r>
          </a:p>
          <a:p xmlns:a="http://schemas.openxmlformats.org/drawingml/2006/main">
            <a:r>
              <a:t>Meaning: The paper reports that cues help, some languages score higher, and psychological stories score above Reddit stories. The saved CEI evidence does not test these comparisons.</a:t>
            </a:r>
          </a:p>
          <a:p xmlns:a="http://schemas.openxmlformats.org/drawingml/2006/main">
            <a:r>
              <a:t>Limit: Paper and CEI numbers are not directly comparable. The paper does not show a no-context baseline or clear significance tests for every condition claim. The consequence means were calculated from six paper table cells.</a:t>
            </a:r>
          </a:p>
          <a:p xmlns:a="http://schemas.openxmlformats.org/drawingml/2006/main">
            <a:r>
              <a:t>Reference only:</a:t>
            </a:r>
          </a:p>
          <a:p xmlns:a="http://schemas.openxmlformats.org/drawingml/2006/main">
            <a:r>
              <a:t>Sources: UniMoral paper, data/paper_visual_results.csv, evidence/canonical-audit/PAPER_REPO_EVIDENCE_LEDGER.csv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 MoReBench paper result. It asks whether a model's thinking trace, the written reasoning before its final answer, meets expert criteria.</a:t>
            </a:r>
          </a:p>
          <a:p xmlns:a="http://schemas.openxmlformats.org/drawingml/2006/main">
            <a:r>
              <a:t>How to read: Each bar shows how often one expert criterion was met in those traces.</a:t>
            </a:r>
          </a:p>
          <a:p xmlns:a="http://schemas.openxmlformats.org/drawingml/2006/main">
            <a:r>
              <a:t>Meaning: The paper table reports 81.1% for harmless outcomes and 47.9% for logical process.</a:t>
            </a:r>
          </a:p>
          <a:p xmlns:a="http://schemas.openxmlformats.org/drawingml/2006/main">
            <a:r>
              <a:t>Limit: These are not final-answer results. For models whose internal reasoning is not available, the paper says these traces may be generated summaries. The CEI keyword check is not the same review.</a:t>
            </a:r>
          </a:p>
          <a:p xmlns:a="http://schemas.openxmlformats.org/drawingml/2006/main">
            <a:r>
              <a:t>Reference only:</a:t>
            </a:r>
          </a:p>
          <a:p xmlns:a="http://schemas.openxmlformats.org/drawingml/2006/main">
            <a:r>
              <a:t>Sources: MoReBench paper displayed Table 2, data/paper_visual_results.csv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 MoralLens paper result. The paper asks what changes when a model reasons before choosing.</a:t>
            </a:r>
          </a:p>
          <a:p xmlns:a="http://schemas.openxmlformats.org/drawingml/2006/main">
            <a:r>
              <a:t>How to read: The left panel shows the reason score. The right panel shows how often the model chooses the larger group.</a:t>
            </a:r>
          </a:p>
          <a:p xmlns:a="http://schemas.openxmlformats.org/drawingml/2006/main">
            <a:r>
              <a:t>Meaning: Reasoning first moves the mean toward duty-based reasons and raises the larger-group choice rate.</a:t>
            </a:r>
          </a:p>
          <a:p xmlns:a="http://schemas.openxmlformats.org/drawingml/2006/main">
            <a:r>
              <a:t>Limit: Both reason scores remain above zero. The larger-group rate is not moral quality, and the CEI keyword check cannot repeat this test.</a:t>
            </a:r>
          </a:p>
          <a:p xmlns:a="http://schemas.openxmlformats.org/drawingml/2006/main">
            <a:r>
              <a:t>Reference only:</a:t>
            </a:r>
          </a:p>
          <a:p xmlns:a="http://schemas.openxmlformats.org/drawingml/2006/main">
            <a:r>
              <a:t>Sources: MoralLens paper Table 2, data/paper_visual_results.csv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 Value Kaleidoscope paper result for Kaleido models from 60M to 11B.</a:t>
            </a:r>
          </a:p>
          <a:p xmlns:a="http://schemas.openxmlformats.org/drawingml/2006/main">
            <a:r>
              <a:t>How to read: Higher is better for the two accuracy panels. Lower is better for the two perplexity panels.</a:t>
            </a:r>
          </a:p>
          <a:p xmlns:a="http://schemas.openxmlformats.org/drawingml/2006/main">
            <a:r>
              <a:t>Meaning: Most of the shown change occurs before 3B. The change from 3B to 11B is small on all four measures.</a:t>
            </a:r>
          </a:p>
          <a:p xmlns:a="http://schemas.openxmlformats.org/drawingml/2006/main">
            <a:r>
              <a:t>Limit: The paper gives no uncertainty ranges. Relevance and valence use GPT-4 targets, not human judgments. CEI ValuePrism uses different models and test steps.</a:t>
            </a:r>
          </a:p>
          <a:p xmlns:a="http://schemas.openxmlformats.org/drawingml/2006/main">
            <a:r>
              <a:t>Reference only:</a:t>
            </a:r>
          </a:p>
          <a:p xmlns:a="http://schemas.openxmlformats.org/drawingml/2006/main">
            <a:r>
              <a:t>Sources: Value Kaleidoscope paper Table 13, data/paper_visual_results.csv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compares 37 paper-to-CEI rows covering the UniMoral paper, the Value Kaleidoscope paper, and related CEI UniMoral and ValuePrism tests. It asks whether the tests are exact repeats.</a:t>
            </a:r>
          </a:p>
          <a:p xmlns:a="http://schemas.openxmlformats.org/drawingml/2006/main">
            <a:r>
              <a:t>How to read: Each column checks one part of the model, data, score, or test setup.</a:t>
            </a:r>
          </a:p>
          <a:p xmlns:a="http://schemas.openxmlformats.org/drawingml/2006/main">
            <a:r>
              <a:t>Meaning: None of the 37 rows matches exactly. Seventeen are related but different, four are indirect checks, and sixteen cannot be compared with the saved CEI evidence.</a:t>
            </a:r>
          </a:p>
          <a:p xmlns:a="http://schemas.openxmlformats.org/drawingml/2006/main">
            <a:r>
              <a:t>Limit: This count covers only UniMoral and ValuePrism. Related evidence does not repeat the paper test.</a:t>
            </a:r>
          </a:p>
          <a:p xmlns:a="http://schemas.openxmlformats.org/drawingml/2006/main">
            <a:r>
              <a:t>Reference only:</a:t>
            </a:r>
          </a:p>
          <a:p xmlns:a="http://schemas.openxmlformats.org/drawingml/2006/main">
            <a:r>
              <a:t>Sources: evidence/canonical-audit/figures/02_evidence_status_matrix.png, evidence/canonical-audit/PAPER_REPO_EVIDENCE_LEDGER.csv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a CEI research priority, not a model result. It asks which work would reduce the most uncertainty.</a:t>
            </a:r>
          </a:p>
          <a:p xmlns:a="http://schemas.openxmlformats.org/drawingml/2006/main">
            <a:r>
              <a:t>How to read: Read from top to bottom.</a:t>
            </a:r>
          </a:p>
          <a:p xmlns:a="http://schemas.openxmlformats.org/drawingml/2006/main">
            <a:r>
              <a:t>Meaning: Review parsing, labels, and scoring first. Then add human review before broad new runs.</a:t>
            </a:r>
          </a:p>
          <a:p xmlns:a="http://schemas.openxmlformats.org/drawingml/2006/main">
            <a:r>
              <a:t>Limit: This order is our research judgment. Run paid models only after these checks.</a:t>
            </a:r>
          </a:p>
          <a:p xmlns:a="http://schemas.openxmlformats.org/drawingml/2006/main">
            <a:r>
              <a:t>Reference only:</a:t>
            </a:r>
          </a:p>
          <a:p xmlns:a="http://schemas.openxmlformats.org/drawingml/2006/main">
            <a:r>
              <a:t>Sources: evidence/canonical-audit/figures/05_evidence_acquisition_priority.png, evidence/canonical-audit/RERUN_PRIORITY.md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CEI UniMoral results for the same five models on four tasks.</a:t>
            </a:r>
          </a:p>
          <a:p xmlns:a="http://schemas.openxmlformats.org/drawingml/2006/main">
            <a:r>
              <a:t>How to read: Each panel has its own score. A dot is a saved score. A line is its saved 95% range.</a:t>
            </a:r>
          </a:p>
          <a:p xmlns:a="http://schemas.openxmlformats.org/drawingml/2006/main">
            <a:r>
              <a:t>Meaning: The highest saved score belongs to different models on different UniMoral tasks.</a:t>
            </a:r>
          </a:p>
          <a:p xmlns:a="http://schemas.openxmlformats.org/drawingml/2006/main">
            <a:r>
              <a:t>Limit: Accuracy and text match are different measures. The ranges do not directly test the gap between two models.</a:t>
            </a:r>
          </a:p>
          <a:p xmlns:a="http://schemas.openxmlformats.org/drawingml/2006/main">
            <a:r>
              <a:t>Reference only:</a:t>
            </a:r>
          </a:p>
          <a:p xmlns:a="http://schemas.openxmlformats.org/drawingml/2006/main">
            <a:r>
              <a:t>Sources: assets/results/01_common_roster_task_results.png, data/results/common_roster_primary.csv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factor results for Qwen, Gemma, and Llama at three model sizes.</a:t>
            </a:r>
          </a:p>
          <a:p xmlns:a="http://schemas.openxmlformats.org/drawingml/2006/main">
            <a:r>
              <a:t>How to read: Move left to right within one family. Each point names the model and its published size.</a:t>
            </a:r>
          </a:p>
          <a:p xmlns:a="http://schemas.openxmlformats.org/drawingml/2006/main">
            <a:r>
              <a:t>Meaning: Gemma rises at both size steps. Qwen and Llama change direction across the three saved sizes.</a:t>
            </a:r>
          </a:p>
          <a:p xmlns:a="http://schemas.openxmlformats.org/drawingml/2006/main">
            <a:r>
              <a:t>Limit: The models differ in training as well as size, so size alone may not explain the scores. The available files have no saved uncertainty ranges or raw run archive.</a:t>
            </a:r>
          </a:p>
          <a:p xmlns:a="http://schemas.openxmlformats.org/drawingml/2006/main">
            <a:r>
              <a:t>Reference only:</a:t>
            </a:r>
          </a:p>
          <a:p xmlns:a="http://schemas.openxmlformats.org/drawingml/2006/main">
            <a:r>
              <a:t>Sources: assets/results/03_size_factor_detail.png, data/results/size_task_points.csv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ValuePrism valence results across saved Llama model sizes.</a:t>
            </a:r>
          </a:p>
          <a:p xmlns:a="http://schemas.openxmlformats.org/drawingml/2006/main">
            <a:r>
              <a:t>How to read: Move left to right along the Llama line. Each point names the model and its published size.</a:t>
            </a:r>
          </a:p>
          <a:p xmlns:a="http://schemas.openxmlformats.org/drawingml/2006/main">
            <a:r>
              <a:t>Meaning: The complete Llama path falls from 3B to 8B, then rises at 70B.</a:t>
            </a:r>
          </a:p>
          <a:p xmlns:a="http://schemas.openxmlformats.org/drawingml/2006/main">
            <a:r>
              <a:t>Limit: Only Llama has results at all three sizes. Qwen and Gemma do not. CEI ValuePrism is not the Value Kaleidoscope paper test. The available files have no saved uncertainty ranges or raw run archive.</a:t>
            </a:r>
          </a:p>
          <a:p xmlns:a="http://schemas.openxmlformats.org/drawingml/2006/main">
            <a:r>
              <a:t>Reference only:</a:t>
            </a:r>
          </a:p>
          <a:p xmlns:a="http://schemas.openxmlformats.org/drawingml/2006/main">
            <a:r>
              <a:t>Sources: assets/results/03_size_valence_detail.png, data/results/size_task_points.csv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UniMoral factor results across saved Qwen and DeepSeek release quarters.</a:t>
            </a:r>
          </a:p>
          <a:p xmlns:a="http://schemas.openxmlformats.org/drawingml/2006/main">
            <a:r>
              <a:t>How to read: Move left to right within one family. Each point names the model and its published size.</a:t>
            </a:r>
          </a:p>
          <a:p xmlns:a="http://schemas.openxmlformats.org/drawingml/2006/main">
            <a:r>
              <a:t>Meaning: From first to last, DeepSeek is lower by .038. Qwen changes by only .002.</a:t>
            </a:r>
          </a:p>
          <a:p xmlns:a="http://schemas.openxmlformats.org/drawingml/2006/main">
            <a:r>
              <a:t>Limit: Release quarter is model metadata, not test time, and does not explain why the score changed. All scores were tested in May 2026 and have no saved uncertainty ranges.</a:t>
            </a:r>
          </a:p>
          <a:p xmlns:a="http://schemas.openxmlformats.org/drawingml/2006/main">
            <a:r>
              <a:t>Reference only:</a:t>
            </a:r>
          </a:p>
          <a:p xmlns:a="http://schemas.openxmlformats.org/drawingml/2006/main">
            <a:r>
              <a:t>Sources: assets/results/04_release_factor_detail.png, data/results/release_period_task_points.csv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These are exploratory CEI ValuePrism valence results across saved Qwen and DeepSeek release quarters.</a:t>
            </a:r>
          </a:p>
          <a:p xmlns:a="http://schemas.openxmlformats.org/drawingml/2006/main">
            <a:r>
              <a:t>How to read: Move left to right within one family. Each point names the model and its published size.</a:t>
            </a:r>
          </a:p>
          <a:p xmlns:a="http://schemas.openxmlformats.org/drawingml/2006/main">
            <a:r>
              <a:t>Meaning: From first to last, Qwen is higher by .187 and DeepSeek is lower by .062.</a:t>
            </a:r>
          </a:p>
          <a:p xmlns:a="http://schemas.openxmlformats.org/drawingml/2006/main">
            <a:r>
              <a:t>Limit: Release quarter is model metadata, not test time. It does not explain the score change. CEI ValuePrism is not the paper test. The available files have no saved uncertainty ranges or raw run archive.</a:t>
            </a:r>
          </a:p>
          <a:p xmlns:a="http://schemas.openxmlformats.org/drawingml/2006/main">
            <a:r>
              <a:t>Reference only:</a:t>
            </a:r>
          </a:p>
          <a:p xmlns:a="http://schemas.openxmlformats.org/drawingml/2006/main">
            <a:r>
              <a:t>Sources: assets/results/04_release_valence_detail.png, data/results/release_period_task_points.csv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This is the decision summary for the CEI research lead. It asks what the team can report now.</a:t>
            </a:r>
          </a:p>
          <a:p xmlns:a="http://schemas.openxmlformats.org/drawingml/2006/main">
            <a:r>
              <a:t>How to read: The first row states the current claim. Later rows show what must improve before stronger claims.</a:t>
            </a:r>
          </a:p>
          <a:p xmlns:a="http://schemas.openxmlformats.org/drawingml/2006/main">
            <a:r>
              <a:t>Meaning: Share MoralBench and UniMoral task results with their limits. Do not give one overall model rank.</a:t>
            </a:r>
          </a:p>
          <a:p xmlns:a="http://schemas.openxmlformats.org/drawingml/2006/main">
            <a:r>
              <a:t>Limit: We cannot claim that CEI exactly repeated a paper or that one model is morally better. We still need better records and human review.</a:t>
            </a:r>
          </a:p>
          <a:p xmlns:a="http://schemas.openxmlformats.org/drawingml/2006/main">
            <a:r>
              <a:t>Reference only:</a:t>
            </a:r>
          </a:p>
          <a:p xmlns:a="http://schemas.openxmlformats.org/drawingml/2006/main">
            <a:r>
              <a:t>Sources: slides/cei-moral-psychology-results-deck.pptx, docs/RESEARCH_LEAD_BRIEF.md, evidence/canonical-audit/RERUN_PRIORITY.md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76406a0c514d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c8a0b47b0a43fa" /><Relationship Type="http://schemas.openxmlformats.org/officeDocument/2006/relationships/slideLayout" Target="/ppt/slideLayouts/slideLayout1.xml" Id="R01c4453edb6d41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4453edb6d41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005f3afd9c4228" /><Relationship Type="http://schemas.openxmlformats.org/officeDocument/2006/relationships/image" Target="/ppt/media/image.png" Id="Raf3c889653da46bf" /><Relationship Type="http://schemas.openxmlformats.org/officeDocument/2006/relationships/notesSlide" Target="/ppt/notesSlides/notesSlide1.xml" Id="Rde01f16207504c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a0be73fc174e27" /><Relationship Type="http://schemas.openxmlformats.org/officeDocument/2006/relationships/image" Target="/ppt/media/image2.png" Id="Rc2a68c1b368a4542" /><Relationship Type="http://schemas.openxmlformats.org/officeDocument/2006/relationships/notesSlide" Target="/ppt/notesSlides/notesSlide2.xml" Id="Rd94a71c2b86549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0dca46e88b4a68" /><Relationship Type="http://schemas.openxmlformats.org/officeDocument/2006/relationships/image" Target="/ppt/media/image3.png" Id="Rf9ddcbd1e3ad4483" /><Relationship Type="http://schemas.openxmlformats.org/officeDocument/2006/relationships/notesSlide" Target="/ppt/notesSlides/notesSlide3.xml" Id="Rdd0b2a647d0f4b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78f2d33f1a44fc" /><Relationship Type="http://schemas.openxmlformats.org/officeDocument/2006/relationships/image" Target="/ppt/media/image4.png" Id="R812ce56a0dea44c2" /><Relationship Type="http://schemas.openxmlformats.org/officeDocument/2006/relationships/notesSlide" Target="/ppt/notesSlides/notesSlide4.xml" Id="R61e07065c7b040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4b2b74d6ab4250" /><Relationship Type="http://schemas.openxmlformats.org/officeDocument/2006/relationships/image" Target="/ppt/media/image5.png" Id="R3ccb9fc60ee642d4" /><Relationship Type="http://schemas.openxmlformats.org/officeDocument/2006/relationships/notesSlide" Target="/ppt/notesSlides/notesSlide5.xml" Id="R73b42a866a3e41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70c051e27740f4" /><Relationship Type="http://schemas.openxmlformats.org/officeDocument/2006/relationships/image" Target="/ppt/media/image6.png" Id="Rea3958a769f44074" /><Relationship Type="http://schemas.openxmlformats.org/officeDocument/2006/relationships/notesSlide" Target="/ppt/notesSlides/notesSlide6.xml" Id="R22a631cb4d154f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3718193f74186" /><Relationship Type="http://schemas.openxmlformats.org/officeDocument/2006/relationships/notesSlide" Target="/ppt/notesSlides/notesSlide7.xml" Id="R17c7a3a0b8b644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d6858ac98142fb" /><Relationship Type="http://schemas.openxmlformats.org/officeDocument/2006/relationships/chart" Target="/ppt/slides/charts/chart1.xml" Id="R45b437be2ad54e1d" /><Relationship Type="http://schemas.openxmlformats.org/officeDocument/2006/relationships/notesSlide" Target="/ppt/notesSlides/notesSlide8.xml" Id="R53629019e35c41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93699f73e94a28" /><Relationship Type="http://schemas.openxmlformats.org/officeDocument/2006/relationships/image" Target="/ppt/media/image7.png" Id="R76c3b67a599148f6" /><Relationship Type="http://schemas.openxmlformats.org/officeDocument/2006/relationships/notesSlide" Target="/ppt/notesSlides/notesSlide9.xml" Id="R8cf5e6992fc348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37047b1d494ddb" /><Relationship Type="http://schemas.openxmlformats.org/officeDocument/2006/relationships/image" Target="/ppt/media/image8.png" Id="R90dd312bcc7e4ac6" /><Relationship Type="http://schemas.openxmlformats.org/officeDocument/2006/relationships/notesSlide" Target="/ppt/notesSlides/notesSlide10.xml" Id="Rddd97eca2d5f48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fac1261f204282" /><Relationship Type="http://schemas.openxmlformats.org/officeDocument/2006/relationships/image" Target="/ppt/media/image9.png" Id="R74c46a3bc2f54c35" /><Relationship Type="http://schemas.openxmlformats.org/officeDocument/2006/relationships/notesSlide" Target="/ppt/notesSlides/notesSlide11.xml" Id="R851708047b3b48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67f46e85f14edb" /><Relationship Type="http://schemas.openxmlformats.org/officeDocument/2006/relationships/image" Target="/ppt/media/image10.png" Id="Rb738a1e8e2e94eef" /><Relationship Type="http://schemas.openxmlformats.org/officeDocument/2006/relationships/notesSlide" Target="/ppt/notesSlides/notesSlide12.xml" Id="R407172a70e5943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c69328c73b4f73" /><Relationship Type="http://schemas.openxmlformats.org/officeDocument/2006/relationships/image" Target="/ppt/media/image11.png" Id="Rc755fbeb009c4ebc" /><Relationship Type="http://schemas.openxmlformats.org/officeDocument/2006/relationships/notesSlide" Target="/ppt/notesSlides/notesSlide13.xml" Id="Re99029ea7c044c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e154dfa9354e7c" /><Relationship Type="http://schemas.openxmlformats.org/officeDocument/2006/relationships/image" Target="/ppt/media/image12.png" Id="Rfdc358c20c6d45a7" /><Relationship Type="http://schemas.openxmlformats.org/officeDocument/2006/relationships/notesSlide" Target="/ppt/notesSlides/notesSlide14.xml" Id="R67efbdbac3de4e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d983590e7947a0" /><Relationship Type="http://schemas.openxmlformats.org/officeDocument/2006/relationships/image" Target="/ppt/media/image13.png" Id="R0f389cc4ebdb45d5" /><Relationship Type="http://schemas.openxmlformats.org/officeDocument/2006/relationships/notesSlide" Target="/ppt/notesSlides/notesSlide15.xml" Id="R5afde1bcb4374c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a45cc36fb74c09" /><Relationship Type="http://schemas.openxmlformats.org/officeDocument/2006/relationships/image" Target="/ppt/media/image14.png" Id="R9d5cf12177ae43f8" /><Relationship Type="http://schemas.openxmlformats.org/officeDocument/2006/relationships/notesSlide" Target="/ppt/notesSlides/notesSlide16.xml" Id="R69acebd7f64348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68fb3cb9c04fdc" /><Relationship Type="http://schemas.openxmlformats.org/officeDocument/2006/relationships/image" Target="/ppt/media/image15.png" Id="Rbbd909fb78294e90" /><Relationship Type="http://schemas.openxmlformats.org/officeDocument/2006/relationships/notesSlide" Target="/ppt/notesSlides/notesSlide17.xml" Id="R5005609a481542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ed5755559924876" /><Relationship Type="http://schemas.openxmlformats.org/officeDocument/2006/relationships/image" Target="/ppt/media/image16.png" Id="Rffc753b3abb44325" /><Relationship Type="http://schemas.openxmlformats.org/officeDocument/2006/relationships/notesSlide" Target="/ppt/notesSlides/notesSlide18.xml" Id="Rf50d59ab850144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39b062d5ccf4a49" /><Relationship Type="http://schemas.openxmlformats.org/officeDocument/2006/relationships/image" Target="/ppt/media/image17.png" Id="R6c745330728840ff" /><Relationship Type="http://schemas.openxmlformats.org/officeDocument/2006/relationships/notesSlide" Target="/ppt/notesSlides/notesSlide19.xml" Id="Ra4f6ff14ea6346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a6423f1606b409e" /><Relationship Type="http://schemas.openxmlformats.org/officeDocument/2006/relationships/notesSlide" Target="/ppt/notesSlides/notesSlide20.xml" Id="R5ebc59e6b6ef4f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a00f6a88e1442ce" /><Relationship Type="http://schemas.openxmlformats.org/officeDocument/2006/relationships/chart" Target="/ppt/slides/charts/chart2.xml" Id="R533051300f5c4a87" /><Relationship Type="http://schemas.openxmlformats.org/officeDocument/2006/relationships/chart" Target="/ppt/slides/charts/chart3.xml" Id="Rdf99ed661f2f456a" /><Relationship Type="http://schemas.openxmlformats.org/officeDocument/2006/relationships/chart" Target="/ppt/slides/charts/chart4.xml" Id="R5214585ab217471b" /><Relationship Type="http://schemas.openxmlformats.org/officeDocument/2006/relationships/chart" Target="/ppt/slides/charts/chart5.xml" Id="R9db5afe3d1794ee0" /><Relationship Type="http://schemas.openxmlformats.org/officeDocument/2006/relationships/notesSlide" Target="/ppt/notesSlides/notesSlide21.xml" Id="R273e0f54d30e4a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e70c1110e349b0" /><Relationship Type="http://schemas.openxmlformats.org/officeDocument/2006/relationships/notesSlide" Target="/ppt/notesSlides/notesSlide22.xml" Id="R68d405a70009429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31b36cc816047d0" /><Relationship Type="http://schemas.openxmlformats.org/officeDocument/2006/relationships/chart" Target="/ppt/slides/charts/chart6.xml" Id="Rd2a9151559bf4198" /><Relationship Type="http://schemas.openxmlformats.org/officeDocument/2006/relationships/notesSlide" Target="/ppt/notesSlides/notesSlide23.xml" Id="R8ef8f2a47e5946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734d42fbada46e2" /><Relationship Type="http://schemas.openxmlformats.org/officeDocument/2006/relationships/notesSlide" Target="/ppt/notesSlides/notesSlide24.xml" Id="Rf23fb9e69d4a47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24f58eee71f446f" /><Relationship Type="http://schemas.openxmlformats.org/officeDocument/2006/relationships/chart" Target="/ppt/slides/charts/chart7.xml" Id="Rf243ef6b07ad4acd" /><Relationship Type="http://schemas.openxmlformats.org/officeDocument/2006/relationships/chart" Target="/ppt/slides/charts/chart8.xml" Id="R5c0a7d22adaa4c2d" /><Relationship Type="http://schemas.openxmlformats.org/officeDocument/2006/relationships/chart" Target="/ppt/slides/charts/chart9.xml" Id="Rab84d43da08d43d1" /><Relationship Type="http://schemas.openxmlformats.org/officeDocument/2006/relationships/chart" Target="/ppt/slides/charts/chart10.xml" Id="Rd9f23f220e024a48" /><Relationship Type="http://schemas.openxmlformats.org/officeDocument/2006/relationships/notesSlide" Target="/ppt/notesSlides/notesSlide25.xml" Id="R3714f54e87ea42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cb43df26332459d" /><Relationship Type="http://schemas.openxmlformats.org/officeDocument/2006/relationships/notesSlide" Target="/ppt/notesSlides/notesSlide26.xml" Id="R45a35fbd3b7b40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2ab9bbddcae43c5" /><Relationship Type="http://schemas.openxmlformats.org/officeDocument/2006/relationships/notesSlide" Target="/ppt/notesSlides/notesSlide27.xml" Id="R3003fb603e73460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198703a9eed4ae7" /><Relationship Type="http://schemas.openxmlformats.org/officeDocument/2006/relationships/image" Target="/ppt/media/image18.png" Id="R9be9c74acc4448a8" /><Relationship Type="http://schemas.openxmlformats.org/officeDocument/2006/relationships/notesSlide" Target="/ppt/notesSlides/notesSlide28.xml" Id="Rb5741246336541d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43290a9abd442eb" /><Relationship Type="http://schemas.openxmlformats.org/officeDocument/2006/relationships/image" Target="/ppt/media/image19.png" Id="Rab02adc8e317451c" /><Relationship Type="http://schemas.openxmlformats.org/officeDocument/2006/relationships/notesSlide" Target="/ppt/notesSlides/notesSlide29.xml" Id="R430250c0f0e244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d4274b591b940dc" /><Relationship Type="http://schemas.openxmlformats.org/officeDocument/2006/relationships/image" Target="/ppt/media/image20.png" Id="R91ffd4da90e6485d" /><Relationship Type="http://schemas.openxmlformats.org/officeDocument/2006/relationships/notesSlide" Target="/ppt/notesSlides/notesSlide30.xml" Id="Ra9dbf2fb27994f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218f12e46994956" /><Relationship Type="http://schemas.openxmlformats.org/officeDocument/2006/relationships/image" Target="/ppt/media/image21.png" Id="Rd1338914848d4250" /><Relationship Type="http://schemas.openxmlformats.org/officeDocument/2006/relationships/notesSlide" Target="/ppt/notesSlides/notesSlide31.xml" Id="R425c4639d9b4427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f70293beeec48c9" /><Relationship Type="http://schemas.openxmlformats.org/officeDocument/2006/relationships/image" Target="/ppt/media/image22.png" Id="R5256056bc5214baa" /><Relationship Type="http://schemas.openxmlformats.org/officeDocument/2006/relationships/notesSlide" Target="/ppt/notesSlides/notesSlide32.xml" Id="Rec5a0554a13f413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0eabda8ac7b4da5" /><Relationship Type="http://schemas.openxmlformats.org/officeDocument/2006/relationships/image" Target="/ppt/media/image23.png" Id="R54d994249a77424b" /><Relationship Type="http://schemas.openxmlformats.org/officeDocument/2006/relationships/notesSlide" Target="/ppt/notesSlides/notesSlide33.xml" Id="R7cb3aabd101746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Audit cells</c:v>
          </c:tx>
          <c:dPt>
            <c:idx val="0"/>
            <c:spPr>
              <a:solidFill xmlns:a="http://schemas.openxmlformats.org/drawingml/2006/main">
                <a:srgbClr val="14856D"/>
              </a:solidFill>
            </c:spPr>
          </c:dPt>
          <c:dPt>
            <c:idx val="1"/>
            <c:spPr>
              <a:solidFill xmlns:a="http://schemas.openxmlformats.org/drawingml/2006/main">
                <a:srgbClr val="D3971E"/>
              </a:solidFill>
            </c:spPr>
          </c:dPt>
          <c:dPt>
            <c:idx val="2"/>
            <c:spPr>
              <a:solidFill xmlns:a="http://schemas.openxmlformats.org/drawingml/2006/main">
                <a:srgbClr val="2B78B8"/>
              </a:solidFill>
            </c:spPr>
          </c:dPt>
          <c:dPt>
            <c:idx val="3"/>
            <c:spPr>
              <a:solidFill xmlns:a="http://schemas.openxmlformats.org/drawingml/2006/main">
                <a:srgbClr val="66727E"/>
              </a:solidFill>
            </c:spPr>
          </c:dPt>
          <c:cat>
            <c:strRef>
              <c:f>'Chart Data'!$A$2:$A$5</c:f>
              <c:strCache>
                <c:ptCount val="4"/>
                <c:pt idx="0">
                  <c:v>Primary text</c:v>
                </c:pt>
                <c:pt idx="1">
                  <c:v>Sensitivity-only</c:v>
                </c:pt>
                <c:pt idx="2">
                  <c:v>Multimodal extension</c:v>
                </c:pt>
                <c:pt idx="3">
                  <c:v>Excluded</c:v>
                </c:pt>
              </c:strCache>
            </c:strRef>
          </c:cat>
          <c:val>
            <c:numRef>
              <c:f>'Chart Data'!$B$2:$B$5</c:f>
              <c:numCache>
                <c:formatCode>0</c:formatCode>
                <c:ptCount val="4"/>
                <c:pt idx="0">
                  <c:v>78</c:v>
                </c:pt>
                <c:pt idx="1">
                  <c:v>26</c:v>
                </c:pt>
                <c:pt idx="2">
                  <c:v>9</c:v>
                </c:pt>
                <c:pt idx="3">
                  <c:v>30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7212B"/>
                  </a:solidFill>
                  <a:latin typeface="Aptos"/>
                  <a:ea typeface="Aptos"/>
                  <a:cs typeface="Aptos"/>
                </a:defRPr>
              </a:pPr>
            </a:p>
          </c:txPr>
          <c:showLegendKey val="0"/>
          <c:showVal val="0"/>
          <c:showCatName val="0"/>
          <c:showSerName val="0"/>
          <c:showPercent val="0"/>
          <c:showBubbleSize val="0"/>
          <c:showLeaderLines val="0"/>
        </c:dLbls>
        <c:firstSliceAng val="270"/>
        <c:holeSize val="64"/>
      </c:doughnutChart>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Paper result</c:v>
          </c:tx>
          <c:spPr>
            <a:solidFill xmlns:a="http://schemas.openxmlformats.org/drawingml/2006/main">
              <a:srgbClr val="2B78B8"/>
            </a:solidFill>
          </c:spPr>
          <c:dPt>
            <c:idx val="0"/>
            <c:invertIfNegative val="0"/>
            <c:spPr>
              <a:solidFill xmlns:a="http://schemas.openxmlformats.org/drawingml/2006/main">
                <a:srgbClr val="2B78B8"/>
              </a:solidFill>
            </c:spPr>
          </c:dPt>
          <c:dPt>
            <c:idx val="1"/>
            <c:invertIfNegative val="0"/>
            <c:spPr>
              <a:solidFill xmlns:a="http://schemas.openxmlformats.org/drawingml/2006/main">
                <a:srgbClr val="CF5D4A"/>
              </a:solidFill>
            </c:spPr>
          </c:dPt>
          <c:dPt>
            <c:idx val="2"/>
            <c:invertIfNegative val="0"/>
            <c:spPr>
              <a:solidFill xmlns:a="http://schemas.openxmlformats.org/drawingml/2006/main">
                <a:srgbClr val="2B78B8"/>
              </a:solidFill>
            </c:spPr>
          </c:dPt>
          <c:dPt>
            <c:idx val="3"/>
            <c:invertIfNegative val="0"/>
            <c:spPr>
              <a:solidFill xmlns:a="http://schemas.openxmlformats.org/drawingml/2006/main">
                <a:srgbClr val="2B78B8"/>
              </a:solidFill>
            </c:spPr>
          </c:dPt>
          <c:dPt>
            <c:idx val="4"/>
            <c:invertIfNegative val="0"/>
            <c:spPr>
              <a:solidFill xmlns:a="http://schemas.openxmlformats.org/drawingml/2006/main">
                <a:srgbClr val="2B78B8"/>
              </a:solidFill>
            </c:spPr>
          </c:dPt>
          <c:cat>
            <c:strRef>
              <c:f>'Chart Data'!$A$2:$A$6</c:f>
              <c:strCache>
                <c:ptCount val="5"/>
                <c:pt idx="0">
                  <c:v>Zephyr</c:v>
                </c:pt>
                <c:pt idx="1">
                  <c:v>LLaMA-2</c:v>
                </c:pt>
                <c:pt idx="2">
                  <c:v>Gemma-1.1</c:v>
                </c:pt>
                <c:pt idx="3">
                  <c:v>GPT-3.5</c:v>
                </c:pt>
                <c:pt idx="4">
                  <c:v>GPT-4</c:v>
                </c:pt>
              </c:strCache>
            </c:strRef>
          </c:cat>
          <c:val>
            <c:numRef>
              <c:f>'Chart Data'!$B$2:$B$6</c:f>
              <c:numCache>
                <c:formatCode>0.0</c:formatCode>
                <c:ptCount val="5"/>
                <c:pt idx="0">
                  <c:v>54.2</c:v>
                </c:pt>
                <c:pt idx="1">
                  <c:v>58.5</c:v>
                </c:pt>
                <c:pt idx="2">
                  <c:v>49.9</c:v>
                </c:pt>
                <c:pt idx="3">
                  <c:v>54.7</c:v>
                </c:pt>
                <c:pt idx="4">
                  <c:v>56.6</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17212B"/>
                  </a:solidFill>
                  <a:latin typeface="Aptos"/>
                  <a:ea typeface="Aptos"/>
                  <a:cs typeface="Aptos"/>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65"/>
          <c:min val="0"/>
        </c:scaling>
        <c:delete val="0"/>
        <c:axPos val="b"/>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Paper summed score (raw)</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Paper result</c:v>
          </c:tx>
          <c:spPr>
            <a:solidFill xmlns:a="http://schemas.openxmlformats.org/drawingml/2006/main">
              <a:srgbClr val="2B78B8"/>
            </a:solidFill>
          </c:spPr>
          <c:dPt>
            <c:idx val="0"/>
            <c:invertIfNegative val="0"/>
            <c:spPr>
              <a:solidFill xmlns:a="http://schemas.openxmlformats.org/drawingml/2006/main">
                <a:srgbClr val="2B78B8"/>
              </a:solidFill>
            </c:spPr>
          </c:dPt>
          <c:dPt>
            <c:idx val="1"/>
            <c:invertIfNegative val="0"/>
            <c:spPr>
              <a:solidFill xmlns:a="http://schemas.openxmlformats.org/drawingml/2006/main">
                <a:srgbClr val="2B78B8"/>
              </a:solidFill>
            </c:spPr>
          </c:dPt>
          <c:dPt>
            <c:idx val="2"/>
            <c:invertIfNegative val="0"/>
            <c:spPr>
              <a:solidFill xmlns:a="http://schemas.openxmlformats.org/drawingml/2006/main">
                <a:srgbClr val="2B78B8"/>
              </a:solidFill>
            </c:spPr>
          </c:dPt>
          <c:dPt>
            <c:idx val="3"/>
            <c:invertIfNegative val="0"/>
            <c:spPr>
              <a:solidFill xmlns:a="http://schemas.openxmlformats.org/drawingml/2006/main">
                <a:srgbClr val="2B78B8"/>
              </a:solidFill>
            </c:spPr>
          </c:dPt>
          <c:dPt>
            <c:idx val="4"/>
            <c:invertIfNegative val="0"/>
            <c:spPr>
              <a:solidFill xmlns:a="http://schemas.openxmlformats.org/drawingml/2006/main">
                <a:srgbClr val="CF5D4A"/>
              </a:solidFill>
            </c:spPr>
          </c:dPt>
          <c:cat>
            <c:strRef>
              <c:f>'Chart Data'!$A$2:$A$6</c:f>
              <c:strCache>
                <c:ptCount val="5"/>
                <c:pt idx="0">
                  <c:v>Zephyr</c:v>
                </c:pt>
                <c:pt idx="1">
                  <c:v>LLaMA-2</c:v>
                </c:pt>
                <c:pt idx="2">
                  <c:v>Gemma-1.1</c:v>
                </c:pt>
                <c:pt idx="3">
                  <c:v>GPT-3.5</c:v>
                </c:pt>
                <c:pt idx="4">
                  <c:v>GPT-4</c:v>
                </c:pt>
              </c:strCache>
            </c:strRef>
          </c:cat>
          <c:val>
            <c:numRef>
              <c:f>'Chart Data'!$B$2:$B$6</c:f>
              <c:numCache>
                <c:formatCode>0.0</c:formatCode>
                <c:ptCount val="5"/>
                <c:pt idx="0">
                  <c:v>48.1</c:v>
                </c:pt>
                <c:pt idx="1">
                  <c:v>52.6</c:v>
                </c:pt>
                <c:pt idx="2">
                  <c:v>44.4</c:v>
                </c:pt>
                <c:pt idx="3">
                  <c:v>50.3</c:v>
                </c:pt>
                <c:pt idx="4">
                  <c:v>52.8</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17212B"/>
                  </a:solidFill>
                  <a:latin typeface="Aptos"/>
                  <a:ea typeface="Aptos"/>
                  <a:cs typeface="Aptos"/>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60"/>
          <c:min val="0"/>
        </c:scaling>
        <c:delete val="0"/>
        <c:axPos val="b"/>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Paper summed score (raw)</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Paper result</c:v>
          </c:tx>
          <c:spPr>
            <a:solidFill xmlns:a="http://schemas.openxmlformats.org/drawingml/2006/main">
              <a:srgbClr val="2B78B8"/>
            </a:solidFill>
          </c:spPr>
          <c:dPt>
            <c:idx val="0"/>
            <c:invertIfNegative val="0"/>
            <c:spPr>
              <a:solidFill xmlns:a="http://schemas.openxmlformats.org/drawingml/2006/main">
                <a:srgbClr val="2B78B8"/>
              </a:solidFill>
            </c:spPr>
          </c:dPt>
          <c:dPt>
            <c:idx val="1"/>
            <c:invertIfNegative val="0"/>
            <c:spPr>
              <a:solidFill xmlns:a="http://schemas.openxmlformats.org/drawingml/2006/main">
                <a:srgbClr val="2B78B8"/>
              </a:solidFill>
            </c:spPr>
          </c:dPt>
          <c:dPt>
            <c:idx val="2"/>
            <c:invertIfNegative val="0"/>
            <c:spPr>
              <a:solidFill xmlns:a="http://schemas.openxmlformats.org/drawingml/2006/main">
                <a:srgbClr val="2B78B8"/>
              </a:solidFill>
            </c:spPr>
          </c:dPt>
          <c:dPt>
            <c:idx val="3"/>
            <c:invertIfNegative val="0"/>
            <c:spPr>
              <a:solidFill xmlns:a="http://schemas.openxmlformats.org/drawingml/2006/main">
                <a:srgbClr val="CF5D4A"/>
              </a:solidFill>
            </c:spPr>
          </c:dPt>
          <c:dPt>
            <c:idx val="4"/>
            <c:invertIfNegative val="0"/>
            <c:spPr>
              <a:solidFill xmlns:a="http://schemas.openxmlformats.org/drawingml/2006/main">
                <a:srgbClr val="2B78B8"/>
              </a:solidFill>
            </c:spPr>
          </c:dPt>
          <c:cat>
            <c:strRef>
              <c:f>'Chart Data'!$A$2:$A$6</c:f>
              <c:strCache>
                <c:ptCount val="5"/>
                <c:pt idx="0">
                  <c:v>Zephyr</c:v>
                </c:pt>
                <c:pt idx="1">
                  <c:v>LLaMA-2</c:v>
                </c:pt>
                <c:pt idx="2">
                  <c:v>Gemma-1.1</c:v>
                </c:pt>
                <c:pt idx="3">
                  <c:v>GPT-3.5</c:v>
                </c:pt>
                <c:pt idx="4">
                  <c:v>GPT-4</c:v>
                </c:pt>
              </c:strCache>
            </c:strRef>
          </c:cat>
          <c:val>
            <c:numRef>
              <c:f>'Chart Data'!$B$2:$B$6</c:f>
              <c:numCache>
                <c:formatCode>0.0</c:formatCode>
                <c:ptCount val="5"/>
                <c:pt idx="0">
                  <c:v>8.2</c:v>
                </c:pt>
                <c:pt idx="1">
                  <c:v>8</c:v>
                </c:pt>
                <c:pt idx="2">
                  <c:v>9.6</c:v>
                </c:pt>
                <c:pt idx="3">
                  <c:v>12.4</c:v>
                </c:pt>
                <c:pt idx="4">
                  <c:v>9.8</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17212B"/>
                  </a:solidFill>
                  <a:latin typeface="Aptos"/>
                  <a:ea typeface="Aptos"/>
                  <a:cs typeface="Aptos"/>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20"/>
          <c:min val="0"/>
        </c:scaling>
        <c:delete val="0"/>
        <c:axPos val="b"/>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Mean correct choices (retained N=20)</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Paper result</c:v>
          </c:tx>
          <c:spPr>
            <a:solidFill xmlns:a="http://schemas.openxmlformats.org/drawingml/2006/main">
              <a:srgbClr val="2B78B8"/>
            </a:solidFill>
          </c:spPr>
          <c:dPt>
            <c:idx val="0"/>
            <c:invertIfNegative val="0"/>
            <c:spPr>
              <a:solidFill xmlns:a="http://schemas.openxmlformats.org/drawingml/2006/main">
                <a:srgbClr val="2B78B8"/>
              </a:solidFill>
            </c:spPr>
          </c:dPt>
          <c:dPt>
            <c:idx val="1"/>
            <c:invertIfNegative val="0"/>
            <c:spPr>
              <a:solidFill xmlns:a="http://schemas.openxmlformats.org/drawingml/2006/main">
                <a:srgbClr val="2B78B8"/>
              </a:solidFill>
            </c:spPr>
          </c:dPt>
          <c:dPt>
            <c:idx val="2"/>
            <c:invertIfNegative val="0"/>
            <c:spPr>
              <a:solidFill xmlns:a="http://schemas.openxmlformats.org/drawingml/2006/main">
                <a:srgbClr val="2B78B8"/>
              </a:solidFill>
            </c:spPr>
          </c:dPt>
          <c:dPt>
            <c:idx val="3"/>
            <c:invertIfNegative val="0"/>
            <c:spPr>
              <a:solidFill xmlns:a="http://schemas.openxmlformats.org/drawingml/2006/main">
                <a:srgbClr val="CF5D4A"/>
              </a:solidFill>
            </c:spPr>
          </c:dPt>
          <c:dPt>
            <c:idx val="4"/>
            <c:invertIfNegative val="0"/>
            <c:spPr>
              <a:solidFill xmlns:a="http://schemas.openxmlformats.org/drawingml/2006/main">
                <a:srgbClr val="2B78B8"/>
              </a:solidFill>
            </c:spPr>
          </c:dPt>
          <c:cat>
            <c:strRef>
              <c:f>'Chart Data'!$A$2:$A$6</c:f>
              <c:strCache>
                <c:ptCount val="5"/>
                <c:pt idx="0">
                  <c:v>Zephyr</c:v>
                </c:pt>
                <c:pt idx="1">
                  <c:v>LLaMA-2</c:v>
                </c:pt>
                <c:pt idx="2">
                  <c:v>Gemma-1.1</c:v>
                </c:pt>
                <c:pt idx="3">
                  <c:v>GPT-3.5</c:v>
                </c:pt>
                <c:pt idx="4">
                  <c:v>GPT-4</c:v>
                </c:pt>
              </c:strCache>
            </c:strRef>
          </c:cat>
          <c:val>
            <c:numRef>
              <c:f>'Chart Data'!$B$2:$B$6</c:f>
              <c:numCache>
                <c:formatCode>0.0</c:formatCode>
                <c:ptCount val="5"/>
                <c:pt idx="0">
                  <c:v>10.4</c:v>
                </c:pt>
                <c:pt idx="1">
                  <c:v>13.2</c:v>
                </c:pt>
                <c:pt idx="2">
                  <c:v>10.8</c:v>
                </c:pt>
                <c:pt idx="3">
                  <c:v>14.2</c:v>
                </c:pt>
                <c:pt idx="4">
                  <c:v>13.8</c:v>
                </c:pt>
              </c:numCache>
            </c:numRef>
          </c:val>
        </c:ser>
        <c:dLbls>
          <c:txPr>
            <a:bodyPr xmlns:a="http://schemas.openxmlformats.org/drawingml/2006/main" anchorCtr="1"/>
            <a:lstStyle xmlns:a="http://schemas.openxmlformats.org/drawingml/2006/main"/>
            <a:p xmlns:a="http://schemas.openxmlformats.org/drawingml/2006/main">
              <a:pPr>
                <a:defRPr sz="750" b="1">
                  <a:solidFill>
                    <a:srgbClr val="17212B"/>
                  </a:solidFill>
                  <a:latin typeface="Aptos"/>
                  <a:ea typeface="Aptos"/>
                  <a:cs typeface="Aptos"/>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24"/>
          <c:min val="0"/>
        </c:scaling>
        <c:delete val="0"/>
        <c:axPos val="b"/>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Mean correct choices (retained N=24)</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Displayed Table 2 average</c:v>
          </c:tx>
          <c:spPr>
            <a:solidFill xmlns:a="http://schemas.openxmlformats.org/drawingml/2006/main">
              <a:srgbClr val="2B78B8"/>
            </a:solidFill>
          </c:spPr>
          <c:dPt>
            <c:idx val="0"/>
            <c:invertIfNegative val="0"/>
            <c:spPr>
              <a:solidFill xmlns:a="http://schemas.openxmlformats.org/drawingml/2006/main">
                <a:srgbClr val="2B78B8"/>
              </a:solidFill>
            </c:spPr>
          </c:dPt>
          <c:dPt>
            <c:idx val="1"/>
            <c:invertIfNegative val="0"/>
            <c:spPr>
              <a:solidFill xmlns:a="http://schemas.openxmlformats.org/drawingml/2006/main">
                <a:srgbClr val="2B78B8"/>
              </a:solidFill>
            </c:spPr>
          </c:dPt>
          <c:dPt>
            <c:idx val="2"/>
            <c:invertIfNegative val="0"/>
            <c:spPr>
              <a:solidFill xmlns:a="http://schemas.openxmlformats.org/drawingml/2006/main">
                <a:srgbClr val="CF5D4A"/>
              </a:solidFill>
            </c:spPr>
          </c:dPt>
          <c:dPt>
            <c:idx val="3"/>
            <c:invertIfNegative val="0"/>
            <c:spPr>
              <a:solidFill xmlns:a="http://schemas.openxmlformats.org/drawingml/2006/main">
                <a:srgbClr val="D3971E"/>
              </a:solidFill>
            </c:spPr>
          </c:dPt>
          <c:dPt>
            <c:idx val="4"/>
            <c:invertIfNegative val="0"/>
            <c:spPr>
              <a:solidFill xmlns:a="http://schemas.openxmlformats.org/drawingml/2006/main">
                <a:srgbClr val="14856D"/>
              </a:solidFill>
            </c:spPr>
          </c:dPt>
          <c:cat>
            <c:strRef>
              <c:f>'Chart Data'!$A$2:$A$6</c:f>
              <c:strCache>
                <c:ptCount val="5"/>
                <c:pt idx="0">
                  <c:v>Identify / recall</c:v>
                </c:pt>
                <c:pt idx="1">
                  <c:v>Process clear</c:v>
                </c:pt>
                <c:pt idx="2">
                  <c:v>Process logical</c:v>
                </c:pt>
                <c:pt idx="3">
                  <c:v>Outcome helpful</c:v>
                </c:pt>
                <c:pt idx="4">
                  <c:v>Outcome harmless</c:v>
                </c:pt>
              </c:strCache>
            </c:strRef>
          </c:cat>
          <c:val>
            <c:numRef>
              <c:f>'Chart Data'!$B$2:$B$6</c:f>
              <c:numCache>
                <c:formatCode>0.0</c:formatCode>
                <c:ptCount val="5"/>
                <c:pt idx="0">
                  <c:v>52.7</c:v>
                </c:pt>
                <c:pt idx="1">
                  <c:v>53.6</c:v>
                </c:pt>
                <c:pt idx="2">
                  <c:v>47.9</c:v>
                </c:pt>
                <c:pt idx="3">
                  <c:v>50.1</c:v>
                </c:pt>
                <c:pt idx="4">
                  <c:v>81.1</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7212B"/>
                  </a:solidFill>
                  <a:latin typeface="Aptos"/>
                  <a:ea typeface="Aptos"/>
                  <a:cs typeface="Aptos"/>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Aptos"/>
                <a:ea typeface="Aptos"/>
                <a:cs typeface="Aptos"/>
              </a:defRPr>
            </a:pPr>
          </a:p>
        </c:txPr>
        <c:crossAx val="48672768"/>
      </c:catAx>
      <c:valAx>
        <c:axId val="48672768"/>
        <c:scaling>
          <c:orientation val="minMax"/>
          <c:max val="100"/>
          <c:min val="0"/>
        </c:scaling>
        <c:delete val="0"/>
        <c:axPos val="b"/>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Expert criteria satisfied (%)</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27E"/>
                </a:solidFill>
                <a:latin typeface="Aptos"/>
                <a:ea typeface="Aptos"/>
                <a:cs typeface="Aptos"/>
              </a:defRPr>
            </a:pPr>
          </a:p>
        </c:txPr>
        <c:crossAx val="48650112"/>
        <c:crossBetween val="between"/>
        <c:majorUnit val="20"/>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Relevance accuracy</c:v>
          </c:tx>
          <c:spPr>
            <a:ln xmlns:a="http://schemas.openxmlformats.org/drawingml/2006/main" w="38100">
              <a:solidFill>
                <a:srgbClr val="14856D"/>
              </a:solidFill>
              <a:prstDash val="solid"/>
            </a:ln>
          </c:spPr>
          <c:marker>
            <c:symbol val="circle"/>
            <c:size val="8"/>
            <c:spPr>
              <a:solidFill xmlns:a="http://schemas.openxmlformats.org/drawingml/2006/main">
                <a:srgbClr val="14856D"/>
              </a:solidFill>
            </c:spPr>
          </c:marker>
          <c:cat>
            <c:strRef>
              <c:f>'Chart Data'!$A$2:$A$6</c:f>
              <c:strCache>
                <c:ptCount val="5"/>
                <c:pt idx="0">
                  <c:v>60M</c:v>
                </c:pt>
                <c:pt idx="1">
                  <c:v>220M</c:v>
                </c:pt>
                <c:pt idx="2">
                  <c:v>770M</c:v>
                </c:pt>
                <c:pt idx="3">
                  <c:v>3B</c:v>
                </c:pt>
                <c:pt idx="4">
                  <c:v>11B</c:v>
                </c:pt>
              </c:strCache>
            </c:strRef>
          </c:cat>
          <c:val>
            <c:numRef>
              <c:f>'Chart Data'!$B$2:$B$6</c:f>
              <c:numCache>
                <c:formatCode>0.000</c:formatCode>
                <c:ptCount val="5"/>
                <c:pt idx="0">
                  <c:v>0.66</c:v>
                </c:pt>
                <c:pt idx="1">
                  <c:v>0.835</c:v>
                </c:pt>
                <c:pt idx="2">
                  <c:v>0.872</c:v>
                </c:pt>
                <c:pt idx="3">
                  <c:v>0.884</c:v>
                </c:pt>
                <c:pt idx="4">
                  <c:v>0.891</c:v>
                </c:pt>
              </c:numCache>
            </c:numRef>
          </c:val>
          <c:smooth val="0"/>
        </c:ser>
        <c:dLbls>
          <c:txPr>
            <a:bodyPr xmlns:a="http://schemas.openxmlformats.org/drawingml/2006/main" anchorCtr="1"/>
            <a:lstStyle xmlns:a="http://schemas.openxmlformats.org/drawingml/2006/main"/>
            <a:p xmlns:a="http://schemas.openxmlformats.org/drawingml/2006/main">
              <a:pPr>
                <a:defRPr sz="675" b="1">
                  <a:solidFill>
                    <a:srgbClr val="17212B"/>
                  </a:solidFill>
                  <a:latin typeface="Aptos"/>
                  <a:ea typeface="Aptos"/>
                  <a:cs typeface="Apto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Kaleido variant · categorical spacing</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8D9D5"/>
            </a:solidFill>
            <a:prstDash val="solid"/>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Test accuracy (fraction)</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Valence accuracy</c:v>
          </c:tx>
          <c:spPr>
            <a:ln xmlns:a="http://schemas.openxmlformats.org/drawingml/2006/main" w="38100">
              <a:solidFill>
                <a:srgbClr val="2B78B8"/>
              </a:solidFill>
              <a:prstDash val="solid"/>
            </a:ln>
          </c:spPr>
          <c:marker>
            <c:symbol val="circle"/>
            <c:size val="8"/>
            <c:spPr>
              <a:solidFill xmlns:a="http://schemas.openxmlformats.org/drawingml/2006/main">
                <a:srgbClr val="2B78B8"/>
              </a:solidFill>
            </c:spPr>
          </c:marker>
          <c:cat>
            <c:strRef>
              <c:f>'Chart Data'!$A$2:$A$6</c:f>
              <c:strCache>
                <c:ptCount val="5"/>
                <c:pt idx="0">
                  <c:v>60M</c:v>
                </c:pt>
                <c:pt idx="1">
                  <c:v>220M</c:v>
                </c:pt>
                <c:pt idx="2">
                  <c:v>770M</c:v>
                </c:pt>
                <c:pt idx="3">
                  <c:v>3B</c:v>
                </c:pt>
                <c:pt idx="4">
                  <c:v>11B</c:v>
                </c:pt>
              </c:strCache>
            </c:strRef>
          </c:cat>
          <c:val>
            <c:numRef>
              <c:f>'Chart Data'!$B$2:$B$6</c:f>
              <c:numCache>
                <c:formatCode>0.000</c:formatCode>
                <c:ptCount val="5"/>
                <c:pt idx="0">
                  <c:v>0.597</c:v>
                </c:pt>
                <c:pt idx="1">
                  <c:v>0.745</c:v>
                </c:pt>
                <c:pt idx="2">
                  <c:v>0.792</c:v>
                </c:pt>
                <c:pt idx="3">
                  <c:v>0.808</c:v>
                </c:pt>
                <c:pt idx="4">
                  <c:v>0.819</c:v>
                </c:pt>
              </c:numCache>
            </c:numRef>
          </c:val>
          <c:smooth val="0"/>
        </c:ser>
        <c:dLbls>
          <c:txPr>
            <a:bodyPr xmlns:a="http://schemas.openxmlformats.org/drawingml/2006/main" anchorCtr="1"/>
            <a:lstStyle xmlns:a="http://schemas.openxmlformats.org/drawingml/2006/main"/>
            <a:p xmlns:a="http://schemas.openxmlformats.org/drawingml/2006/main">
              <a:pPr>
                <a:defRPr sz="675" b="1">
                  <a:solidFill>
                    <a:srgbClr val="17212B"/>
                  </a:solidFill>
                  <a:latin typeface="Aptos"/>
                  <a:ea typeface="Aptos"/>
                  <a:cs typeface="Apto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Kaleido variant · categorical spacing</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8D9D5"/>
            </a:solidFill>
            <a:prstDash val="solid"/>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Test accuracy (fraction)</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varyColors val="0"/>
        <c:ser>
          <c:idx val="0"/>
          <c:order val="0"/>
          <c:tx>
            <c:v>Generation perplexity ↓</c:v>
          </c:tx>
          <c:spPr>
            <a:ln xmlns:a="http://schemas.openxmlformats.org/drawingml/2006/main" w="38100">
              <a:solidFill>
                <a:srgbClr val="D3971E"/>
              </a:solidFill>
              <a:prstDash val="solid"/>
            </a:ln>
          </c:spPr>
          <c:marker>
            <c:symbol val="circle"/>
            <c:size val="8"/>
            <c:spPr>
              <a:solidFill xmlns:a="http://schemas.openxmlformats.org/drawingml/2006/main">
                <a:srgbClr val="D3971E"/>
              </a:solidFill>
            </c:spPr>
          </c:marker>
          <c:cat>
            <c:strRef>
              <c:f>'Chart Data'!$A$2:$A$6</c:f>
              <c:strCache>
                <c:ptCount val="5"/>
                <c:pt idx="0">
                  <c:v>60M</c:v>
                </c:pt>
                <c:pt idx="1">
                  <c:v>220M</c:v>
                </c:pt>
                <c:pt idx="2">
                  <c:v>770M</c:v>
                </c:pt>
                <c:pt idx="3">
                  <c:v>3B</c:v>
                </c:pt>
                <c:pt idx="4">
                  <c:v>11B</c:v>
                </c:pt>
              </c:strCache>
            </c:strRef>
          </c:cat>
          <c:val>
            <c:numRef>
              <c:f>'Chart Data'!$B$2:$B$6</c:f>
              <c:numCache>
                <c:formatCode>0.00</c:formatCode>
                <c:ptCount val="5"/>
                <c:pt idx="0">
                  <c:v>2.86</c:v>
                </c:pt>
                <c:pt idx="1">
                  <c:v>2.53</c:v>
                </c:pt>
                <c:pt idx="2">
                  <c:v>2.34</c:v>
                </c:pt>
                <c:pt idx="3">
                  <c:v>2.23</c:v>
                </c:pt>
                <c:pt idx="4">
                  <c:v>2.22</c:v>
                </c:pt>
              </c:numCache>
            </c:numRef>
          </c:val>
          <c:smooth val="0"/>
        </c:ser>
        <c:dLbls>
          <c:txPr>
            <a:bodyPr xmlns:a="http://schemas.openxmlformats.org/drawingml/2006/main" anchorCtr="1"/>
            <a:lstStyle xmlns:a="http://schemas.openxmlformats.org/drawingml/2006/main"/>
            <a:p xmlns:a="http://schemas.openxmlformats.org/drawingml/2006/main">
              <a:pPr>
                <a:defRPr sz="675" b="1">
                  <a:solidFill>
                    <a:srgbClr val="17212B"/>
                  </a:solidFill>
                  <a:latin typeface="Aptos"/>
                  <a:ea typeface="Aptos"/>
                  <a:cs typeface="Apto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Kaleido variant · categorical spacing</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8D9D5"/>
            </a:solidFill>
            <a:prstDash val="solid"/>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3"/>
          <c:min val="2"/>
        </c:scaling>
        <c:delete val="0"/>
        <c:axPos val="l"/>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Perplexity</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varyColors val="0"/>
        <c:ser>
          <c:idx val="0"/>
          <c:order val="0"/>
          <c:tx>
            <c:v>Explanation perplexity ↓</c:v>
          </c:tx>
          <c:spPr>
            <a:ln xmlns:a="http://schemas.openxmlformats.org/drawingml/2006/main" w="38100">
              <a:solidFill>
                <a:srgbClr val="6E5AA8"/>
              </a:solidFill>
              <a:prstDash val="solid"/>
            </a:ln>
          </c:spPr>
          <c:marker>
            <c:symbol val="circle"/>
            <c:size val="8"/>
            <c:spPr>
              <a:solidFill xmlns:a="http://schemas.openxmlformats.org/drawingml/2006/main">
                <a:srgbClr val="6E5AA8"/>
              </a:solidFill>
            </c:spPr>
          </c:marker>
          <c:cat>
            <c:strRef>
              <c:f>'Chart Data'!$A$2:$A$6</c:f>
              <c:strCache>
                <c:ptCount val="5"/>
                <c:pt idx="0">
                  <c:v>60M</c:v>
                </c:pt>
                <c:pt idx="1">
                  <c:v>220M</c:v>
                </c:pt>
                <c:pt idx="2">
                  <c:v>770M</c:v>
                </c:pt>
                <c:pt idx="3">
                  <c:v>3B</c:v>
                </c:pt>
                <c:pt idx="4">
                  <c:v>11B</c:v>
                </c:pt>
              </c:strCache>
            </c:strRef>
          </c:cat>
          <c:val>
            <c:numRef>
              <c:f>'Chart Data'!$B$2:$B$6</c:f>
              <c:numCache>
                <c:formatCode>0.00</c:formatCode>
                <c:ptCount val="5"/>
                <c:pt idx="0">
                  <c:v>5.7</c:v>
                </c:pt>
                <c:pt idx="1">
                  <c:v>4.23</c:v>
                </c:pt>
                <c:pt idx="2">
                  <c:v>3.52</c:v>
                </c:pt>
                <c:pt idx="3">
                  <c:v>3.14</c:v>
                </c:pt>
                <c:pt idx="4">
                  <c:v>2.99</c:v>
                </c:pt>
              </c:numCache>
            </c:numRef>
          </c:val>
          <c:smooth val="0"/>
        </c:ser>
        <c:dLbls>
          <c:txPr>
            <a:bodyPr xmlns:a="http://schemas.openxmlformats.org/drawingml/2006/main" anchorCtr="1"/>
            <a:lstStyle xmlns:a="http://schemas.openxmlformats.org/drawingml/2006/main"/>
            <a:p xmlns:a="http://schemas.openxmlformats.org/drawingml/2006/main">
              <a:pPr>
                <a:defRPr sz="675" b="1">
                  <a:solidFill>
                    <a:srgbClr val="17212B"/>
                  </a:solidFill>
                  <a:latin typeface="Aptos"/>
                  <a:ea typeface="Aptos"/>
                  <a:cs typeface="Apto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Kaleido variant · categorical spacing</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8D9D5"/>
            </a:solidFill>
            <a:prstDash val="solid"/>
          </a:ln>
        </c:spPr>
        <c:txPr>
          <a:bodyPr xmlns:a="http://schemas.openxmlformats.org/drawingml/2006/main" anchorCtr="1"/>
          <a:lstStyle xmlns:a="http://schemas.openxmlformats.org/drawingml/2006/main"/>
          <a:p xmlns:a="http://schemas.openxmlformats.org/drawingml/2006/main">
            <a:pPr>
              <a:defRPr sz="750">
                <a:solidFill>
                  <a:srgbClr val="17212B"/>
                </a:solidFill>
                <a:latin typeface="Aptos"/>
                <a:ea typeface="Aptos"/>
                <a:cs typeface="Aptos"/>
              </a:defRPr>
            </a:pPr>
          </a:p>
        </c:txPr>
        <c:crossAx val="48672768"/>
      </c:catAx>
      <c:valAx>
        <c:axId val="48672768"/>
        <c:scaling>
          <c:orientation val="minMax"/>
          <c:max val="6"/>
          <c:min val="2.5"/>
        </c:scaling>
        <c:delete val="0"/>
        <c:axPos val="l"/>
        <c:majorGridlines>
          <c:spPr>
            <a:ln xmlns:a="http://schemas.openxmlformats.org/drawingml/2006/main" w="9525">
              <a:solidFill>
                <a:srgbClr val="D8D9D5"/>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Perplexity</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66727E"/>
                </a:solidFill>
                <a:latin typeface="Aptos"/>
                <a:ea typeface="Aptos"/>
                <a:cs typeface="Aptos"/>
              </a:defRPr>
            </a:pPr>
          </a:p>
        </c:txPr>
        <c:crossAx val="48650112"/>
        <c:crossBetween val="between"/>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3c889653da46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7754550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2a68c1b368a45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4828845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9ddcbd1e3ad448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126525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2ce56a0dea44c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2781862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ccb9fc60ee642d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9949820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a3958a769f4407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67173988"/>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425F039-3806-467B-8170-FC07B56C8145}"/>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Five papers ask different questions. None is exactly repeated here.</a:t>
            </a:r>
          </a:p>
        </p:txBody>
      </p:sp>
      <p:sp>
        <p:nvSpPr>
          <p:cNvPr id="2" name="slide-subtitle">
            <a:extLst xmlns:a="http://schemas.openxmlformats.org/drawingml/2006/main">
              <a:ext uri="{FF2B5EF4-FFF2-40B4-BE49-F238E27FC236}">
                <a16:creationId xmlns:a16="http://schemas.microsoft.com/office/drawing/2014/main" id="{B350335D-349C-4DCA-A661-C2C0C90D3352}"/>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Paper results and CEI results use different models, data, prompts, or scores.</a:t>
            </a:r>
          </a:p>
        </p:txBody>
      </p:sp>
      <p:sp>
        <p:nvSpPr>
          <p:cNvPr id="3" name="">
            <a:extLst xmlns:a="http://schemas.openxmlformats.org/drawingml/2006/main">
              <a:ext uri="{FF2B5EF4-FFF2-40B4-BE49-F238E27FC236}">
                <a16:creationId xmlns:a16="http://schemas.microsoft.com/office/drawing/2014/main" id="{4CC97069-58A2-4B46-8666-2A48A71987C9}"/>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graphicFrame>
        <p:nvGraphicFramePr>
          <p:cNvPr id="9" name=""/>
          <p:cNvGraphicFramePr/>
          <p:nvPr/>
        </p:nvGraphicFramePr>
        <p:xfrm>
          <a:off xmlns:a="http://schemas.openxmlformats.org/drawingml/2006/main" x="781050" y="1619250"/>
          <a:ext xmlns:a="http://schemas.openxmlformats.org/drawingml/2006/main" cx="10629900" cy="4038600"/>
        </p:xfrm>
        <a:graphic xmlns:a="http://schemas.openxmlformats.org/drawingml/2006/main">
          <a:graphicData uri="http://schemas.openxmlformats.org/drawingml/2006/table">
            <a:tbl>
              <a:tblPr/>
              <a:tblGrid>
                <a:gridCol w="1666875"/>
                <a:gridCol w="3524250"/>
                <a:gridCol w="3000375"/>
                <a:gridCol w="2438400"/>
              </a:tblGrid>
              <a:tr h="673100">
                <a:tc>
                  <a:txBody>
                    <a:bodyPr/>
                    <a:lstStyle/>
                    <a:p>
                      <a:r>
                        <a:rPr sz="1050" b="1">
                          <a:solidFill>
                            <a:srgbClr val="FFFFFF"/>
                          </a:solidFill>
                          <a:latin typeface="Aptos"/>
                          <a:ea typeface="Aptos"/>
                          <a:cs typeface="Aptos"/>
                        </a:rPr>
                        <a:t>Paper</a:t>
                      </a:r>
                    </a:p>
                  </a:txBody>
                  <a:tcPr marL="95250" marR="95250" marT="57150" marB="57150">
                    <a:solidFill>
                      <a:srgbClr val="CF5D4A"/>
                    </a:solidFill>
                  </a:tcPr>
                </a:tc>
                <a:tc>
                  <a:txBody>
                    <a:bodyPr/>
                    <a:lstStyle/>
                    <a:p>
                      <a:r>
                        <a:rPr sz="1050" b="1">
                          <a:solidFill>
                            <a:srgbClr val="FFFFFF"/>
                          </a:solidFill>
                          <a:latin typeface="Aptos"/>
                          <a:ea typeface="Aptos"/>
                          <a:cs typeface="Aptos"/>
                        </a:rPr>
                        <a:t>What it asks</a:t>
                      </a:r>
                    </a:p>
                  </a:txBody>
                  <a:tcPr marL="95250" marR="95250" marT="57150" marB="57150">
                    <a:solidFill>
                      <a:srgbClr val="CF5D4A"/>
                    </a:solidFill>
                  </a:tcPr>
                </a:tc>
                <a:tc>
                  <a:txBody>
                    <a:bodyPr/>
                    <a:lstStyle/>
                    <a:p>
                      <a:r>
                        <a:rPr sz="1050" b="1">
                          <a:solidFill>
                            <a:srgbClr val="FFFFFF"/>
                          </a:solidFill>
                          <a:latin typeface="Aptos"/>
                          <a:ea typeface="Aptos"/>
                          <a:cs typeface="Aptos"/>
                        </a:rPr>
                        <a:t>Headline paper result</a:t>
                      </a:r>
                    </a:p>
                  </a:txBody>
                  <a:tcPr marL="95250" marR="95250" marT="57150" marB="57150">
                    <a:solidFill>
                      <a:srgbClr val="CF5D4A"/>
                    </a:solidFill>
                  </a:tcPr>
                </a:tc>
                <a:tc>
                  <a:txBody>
                    <a:bodyPr/>
                    <a:lstStyle/>
                    <a:p>
                      <a:r>
                        <a:rPr sz="1050" b="1">
                          <a:solidFill>
                            <a:srgbClr val="FFFFFF"/>
                          </a:solidFill>
                          <a:latin typeface="Aptos"/>
                          <a:ea typeface="Aptos"/>
                          <a:cs typeface="Aptos"/>
                        </a:rPr>
                        <a:t>Closest CEI evidence</a:t>
                      </a:r>
                    </a:p>
                  </a:txBody>
                  <a:tcPr marL="95250" marR="95250" marT="57150" marB="57150">
                    <a:solidFill>
                      <a:srgbClr val="CF5D4A"/>
                    </a:solidFill>
                  </a:tcPr>
                </a:tc>
              </a:tr>
              <a:tr h="673100">
                <a:tc>
                  <a:txBody>
                    <a:bodyPr/>
                    <a:lstStyle/>
                    <a:p>
                      <a:r>
                        <a:rPr sz="1050" b="1">
                          <a:solidFill>
                            <a:srgbClr val="17212B"/>
                          </a:solidFill>
                          <a:latin typeface="Aptos"/>
                          <a:ea typeface="Aptos"/>
                          <a:cs typeface="Aptos"/>
                        </a:rPr>
                        <a:t>MoralBench</a:t>
                      </a:r>
                    </a:p>
                  </a:txBody>
                  <a:tcPr marL="95250" marR="95250" marT="57150" marB="57150">
                    <a:solidFill>
                      <a:srgbClr val="FFFFFF"/>
                    </a:solidFill>
                  </a:tcPr>
                </a:tc>
                <a:tc>
                  <a:txBody>
                    <a:bodyPr/>
                    <a:lstStyle/>
                    <a:p>
                      <a:r>
                        <a:rPr sz="1050">
                          <a:solidFill>
                            <a:srgbClr val="17212B"/>
                          </a:solidFill>
                          <a:latin typeface="Aptos"/>
                          <a:ea typeface="Aptos"/>
                          <a:cs typeface="Aptos"/>
                        </a:rPr>
                        <a:t>Do model choices track human ratings?</a:t>
                      </a:r>
                    </a:p>
                  </a:txBody>
                  <a:tcPr marL="95250" marR="95250" marT="57150" marB="57150">
                    <a:solidFill>
                      <a:srgbClr val="FFFFFF"/>
                    </a:solidFill>
                  </a:tcPr>
                </a:tc>
                <a:tc>
                  <a:txBody>
                    <a:bodyPr/>
                    <a:lstStyle/>
                    <a:p>
                      <a:r>
                        <a:rPr sz="1050" b="1">
                          <a:solidFill>
                            <a:srgbClr val="17212B"/>
                          </a:solidFill>
                          <a:latin typeface="Aptos"/>
                          <a:ea typeface="Aptos"/>
                          <a:cs typeface="Aptos"/>
                        </a:rPr>
                        <a:t>Different models lead its four assessments</a:t>
                      </a:r>
                    </a:p>
                  </a:txBody>
                  <a:tcPr marL="95250" marR="95250" marT="57150" marB="57150">
                    <a:solidFill>
                      <a:srgbClr val="FFFFFF"/>
                    </a:solidFill>
                  </a:tcPr>
                </a:tc>
                <a:tc>
                  <a:txBody>
                    <a:bodyPr/>
                    <a:lstStyle/>
                    <a:p>
                      <a:r>
                        <a:rPr sz="1050">
                          <a:solidFill>
                            <a:srgbClr val="17212B"/>
                          </a:solidFill>
                          <a:latin typeface="Aptos"/>
                          <a:ea typeface="Aptos"/>
                          <a:cs typeface="Aptos"/>
                        </a:rPr>
                        <a:t>Related tasks, different setup</a:t>
                      </a:r>
                    </a:p>
                  </a:txBody>
                  <a:tcPr marL="95250" marR="95250" marT="57150" marB="57150">
                    <a:solidFill>
                      <a:srgbClr val="FFFFFF"/>
                    </a:solidFill>
                  </a:tcPr>
                </a:tc>
              </a:tr>
              <a:tr h="673100">
                <a:tc>
                  <a:txBody>
                    <a:bodyPr/>
                    <a:lstStyle/>
                    <a:p>
                      <a:r>
                        <a:rPr sz="1050" b="1">
                          <a:solidFill>
                            <a:srgbClr val="17212B"/>
                          </a:solidFill>
                          <a:latin typeface="Aptos"/>
                          <a:ea typeface="Aptos"/>
                          <a:cs typeface="Aptos"/>
                        </a:rPr>
                        <a:t>UniMoral</a:t>
                      </a:r>
                    </a:p>
                  </a:txBody>
                  <a:tcPr marL="95250" marR="95250" marT="57150" marB="57150">
                    <a:solidFill>
                      <a:srgbClr val="FFFFFF"/>
                    </a:solidFill>
                  </a:tcPr>
                </a:tc>
                <a:tc>
                  <a:txBody>
                    <a:bodyPr/>
                    <a:lstStyle/>
                    <a:p>
                      <a:r>
                        <a:rPr sz="1050">
                          <a:solidFill>
                            <a:srgbClr val="17212B"/>
                          </a:solidFill>
                          <a:latin typeface="Aptos"/>
                          <a:ea typeface="Aptos"/>
                          <a:cs typeface="Aptos"/>
                        </a:rPr>
                        <a:t>Can models predict actions, types, factors, and consequences?</a:t>
                      </a:r>
                    </a:p>
                  </a:txBody>
                  <a:tcPr marL="95250" marR="95250" marT="57150" marB="57150">
                    <a:solidFill>
                      <a:srgbClr val="FFFFFF"/>
                    </a:solidFill>
                  </a:tcPr>
                </a:tc>
                <a:tc>
                  <a:txBody>
                    <a:bodyPr/>
                    <a:lstStyle/>
                    <a:p>
                      <a:r>
                        <a:rPr sz="1050" b="1">
                          <a:solidFill>
                            <a:srgbClr val="17212B"/>
                          </a:solidFill>
                          <a:latin typeface="Aptos"/>
                          <a:ea typeface="Aptos"/>
                          <a:cs typeface="Aptos"/>
                        </a:rPr>
                        <a:t>Llama action F1 ranges from .506 to .662</a:t>
                      </a:r>
                    </a:p>
                  </a:txBody>
                  <a:tcPr marL="95250" marR="95250" marT="57150" marB="57150">
                    <a:solidFill>
                      <a:srgbClr val="FFFFFF"/>
                    </a:solidFill>
                  </a:tcPr>
                </a:tc>
                <a:tc>
                  <a:txBody>
                    <a:bodyPr/>
                    <a:lstStyle/>
                    <a:p>
                      <a:r>
                        <a:rPr sz="1050">
                          <a:solidFill>
                            <a:srgbClr val="17212B"/>
                          </a:solidFill>
                          <a:latin typeface="Aptos"/>
                          <a:ea typeface="Aptos"/>
                          <a:cs typeface="Aptos"/>
                        </a:rPr>
                        <a:t>Narrower versions of four tasks</a:t>
                      </a:r>
                    </a:p>
                  </a:txBody>
                  <a:tcPr marL="95250" marR="95250" marT="57150" marB="57150">
                    <a:solidFill>
                      <a:srgbClr val="FFFFFF"/>
                    </a:solidFill>
                  </a:tcPr>
                </a:tc>
              </a:tr>
              <a:tr h="673100">
                <a:tc>
                  <a:txBody>
                    <a:bodyPr/>
                    <a:lstStyle/>
                    <a:p>
                      <a:r>
                        <a:rPr sz="1050" b="1">
                          <a:solidFill>
                            <a:srgbClr val="17212B"/>
                          </a:solidFill>
                          <a:latin typeface="Aptos"/>
                          <a:ea typeface="Aptos"/>
                          <a:cs typeface="Aptos"/>
                        </a:rPr>
                        <a:t>MoReBench</a:t>
                      </a:r>
                    </a:p>
                  </a:txBody>
                  <a:tcPr marL="95250" marR="95250" marT="57150" marB="57150">
                    <a:solidFill>
                      <a:srgbClr val="FFFFFF"/>
                    </a:solidFill>
                  </a:tcPr>
                </a:tc>
                <a:tc>
                  <a:txBody>
                    <a:bodyPr/>
                    <a:lstStyle/>
                    <a:p>
                      <a:r>
                        <a:rPr sz="1050">
                          <a:solidFill>
                            <a:srgbClr val="17212B"/>
                          </a:solidFill>
                          <a:latin typeface="Aptos"/>
                          <a:ea typeface="Aptos"/>
                          <a:cs typeface="Aptos"/>
                        </a:rPr>
                        <a:t>Does reasoning meet expert criteria?</a:t>
                      </a:r>
                    </a:p>
                  </a:txBody>
                  <a:tcPr marL="95250" marR="95250" marT="57150" marB="57150">
                    <a:solidFill>
                      <a:srgbClr val="FFFFFF"/>
                    </a:solidFill>
                  </a:tcPr>
                </a:tc>
                <a:tc>
                  <a:txBody>
                    <a:bodyPr/>
                    <a:lstStyle/>
                    <a:p>
                      <a:r>
                        <a:rPr sz="1050" b="1">
                          <a:solidFill>
                            <a:srgbClr val="17212B"/>
                          </a:solidFill>
                          <a:latin typeface="Aptos"/>
                          <a:ea typeface="Aptos"/>
                          <a:cs typeface="Aptos"/>
                        </a:rPr>
                        <a:t>Harmless 81.1%; logical 47.9%</a:t>
                      </a:r>
                    </a:p>
                  </a:txBody>
                  <a:tcPr marL="95250" marR="95250" marT="57150" marB="57150">
                    <a:solidFill>
                      <a:srgbClr val="FFFFFF"/>
                    </a:solidFill>
                  </a:tcPr>
                </a:tc>
                <a:tc>
                  <a:txBody>
                    <a:bodyPr/>
                    <a:lstStyle/>
                    <a:p>
                      <a:r>
                        <a:rPr sz="1050">
                          <a:solidFill>
                            <a:srgbClr val="17212B"/>
                          </a:solidFill>
                          <a:latin typeface="Aptos"/>
                          <a:ea typeface="Aptos"/>
                          <a:cs typeface="Aptos"/>
                        </a:rPr>
                        <a:t>Keyword check only</a:t>
                      </a:r>
                    </a:p>
                  </a:txBody>
                  <a:tcPr marL="95250" marR="95250" marT="57150" marB="57150">
                    <a:solidFill>
                      <a:srgbClr val="FFFFFF"/>
                    </a:solidFill>
                  </a:tcPr>
                </a:tc>
              </a:tr>
              <a:tr h="673100">
                <a:tc>
                  <a:txBody>
                    <a:bodyPr/>
                    <a:lstStyle/>
                    <a:p>
                      <a:r>
                        <a:rPr sz="1050" b="1">
                          <a:solidFill>
                            <a:srgbClr val="17212B"/>
                          </a:solidFill>
                          <a:latin typeface="Aptos"/>
                          <a:ea typeface="Aptos"/>
                          <a:cs typeface="Aptos"/>
                        </a:rPr>
                        <a:t>MoralLens</a:t>
                      </a:r>
                    </a:p>
                  </a:txBody>
                  <a:tcPr marL="95250" marR="95250" marT="57150" marB="57150">
                    <a:solidFill>
                      <a:srgbClr val="FFFFFF"/>
                    </a:solidFill>
                  </a:tcPr>
                </a:tc>
                <a:tc>
                  <a:txBody>
                    <a:bodyPr/>
                    <a:lstStyle/>
                    <a:p>
                      <a:r>
                        <a:rPr sz="1050">
                          <a:solidFill>
                            <a:srgbClr val="17212B"/>
                          </a:solidFill>
                          <a:latin typeface="Aptos"/>
                          <a:ea typeface="Aptos"/>
                          <a:cs typeface="Aptos"/>
                        </a:rPr>
                        <a:t>Does reasoning order change reasons and choices?</a:t>
                      </a:r>
                    </a:p>
                  </a:txBody>
                  <a:tcPr marL="95250" marR="95250" marT="57150" marB="57150">
                    <a:solidFill>
                      <a:srgbClr val="FFFFFF"/>
                    </a:solidFill>
                  </a:tcPr>
                </a:tc>
                <a:tc>
                  <a:txBody>
                    <a:bodyPr/>
                    <a:lstStyle/>
                    <a:p>
                      <a:r>
                        <a:rPr sz="1050" b="1">
                          <a:solidFill>
                            <a:srgbClr val="17212B"/>
                          </a:solidFill>
                          <a:latin typeface="Aptos"/>
                          <a:ea typeface="Aptos"/>
                          <a:cs typeface="Aptos"/>
                        </a:rPr>
                        <a:t>CD GAP .230 to .052; utility .641 to .792</a:t>
                      </a:r>
                    </a:p>
                  </a:txBody>
                  <a:tcPr marL="95250" marR="95250" marT="57150" marB="57150">
                    <a:solidFill>
                      <a:srgbClr val="FFFFFF"/>
                    </a:solidFill>
                  </a:tcPr>
                </a:tc>
                <a:tc>
                  <a:txBody>
                    <a:bodyPr/>
                    <a:lstStyle/>
                    <a:p>
                      <a:r>
                        <a:rPr sz="1050">
                          <a:solidFill>
                            <a:srgbClr val="17212B"/>
                          </a:solidFill>
                          <a:latin typeface="Aptos"/>
                          <a:ea typeface="Aptos"/>
                          <a:cs typeface="Aptos"/>
                        </a:rPr>
                        <a:t>Keyword check only</a:t>
                      </a:r>
                    </a:p>
                  </a:txBody>
                  <a:tcPr marL="95250" marR="95250" marT="57150" marB="57150">
                    <a:solidFill>
                      <a:srgbClr val="FFFFFF"/>
                    </a:solidFill>
                  </a:tcPr>
                </a:tc>
              </a:tr>
              <a:tr h="673100">
                <a:tc>
                  <a:txBody>
                    <a:bodyPr/>
                    <a:lstStyle/>
                    <a:p>
                      <a:r>
                        <a:rPr sz="1050" b="1">
                          <a:solidFill>
                            <a:srgbClr val="17212B"/>
                          </a:solidFill>
                          <a:latin typeface="Aptos"/>
                          <a:ea typeface="Aptos"/>
                          <a:cs typeface="Aptos"/>
                        </a:rPr>
                        <a:t>Value Kaleidoscope</a:t>
                      </a:r>
                    </a:p>
                  </a:txBody>
                  <a:tcPr marL="95250" marR="95250" marT="57150" marB="57150">
                    <a:solidFill>
                      <a:srgbClr val="FFFFFF"/>
                    </a:solidFill>
                  </a:tcPr>
                </a:tc>
                <a:tc>
                  <a:txBody>
                    <a:bodyPr/>
                    <a:lstStyle/>
                    <a:p>
                      <a:r>
                        <a:rPr sz="1050">
                          <a:solidFill>
                            <a:srgbClr val="17212B"/>
                          </a:solidFill>
                          <a:latin typeface="Aptos"/>
                          <a:ea typeface="Aptos"/>
                          <a:cs typeface="Aptos"/>
                        </a:rPr>
                        <a:t>How do value tasks change with model size?</a:t>
                      </a:r>
                    </a:p>
                  </a:txBody>
                  <a:tcPr marL="95250" marR="95250" marT="57150" marB="57150">
                    <a:solidFill>
                      <a:srgbClr val="FFFFFF"/>
                    </a:solidFill>
                  </a:tcPr>
                </a:tc>
                <a:tc>
                  <a:txBody>
                    <a:bodyPr/>
                    <a:lstStyle/>
                    <a:p>
                      <a:r>
                        <a:rPr sz="1050" b="1">
                          <a:solidFill>
                            <a:srgbClr val="17212B"/>
                          </a:solidFill>
                          <a:latin typeface="Aptos"/>
                          <a:ea typeface="Aptos"/>
                          <a:cs typeface="Aptos"/>
                        </a:rPr>
                        <a:t>Most gains occur before 3B</a:t>
                      </a:r>
                    </a:p>
                  </a:txBody>
                  <a:tcPr marL="95250" marR="95250" marT="57150" marB="57150">
                    <a:solidFill>
                      <a:srgbClr val="FFFFFF"/>
                    </a:solidFill>
                  </a:tcPr>
                </a:tc>
                <a:tc>
                  <a:txBody>
                    <a:bodyPr/>
                    <a:lstStyle/>
                    <a:p>
                      <a:r>
                        <a:rPr sz="1050">
                          <a:solidFill>
                            <a:srgbClr val="17212B"/>
                          </a:solidFill>
                          <a:latin typeface="Aptos"/>
                          <a:ea typeface="Aptos"/>
                          <a:cs typeface="Aptos"/>
                        </a:rPr>
                        <a:t>Different models and scoring</a:t>
                      </a:r>
                    </a:p>
                  </a:txBody>
                  <a:tcPr marL="95250" marR="95250" marT="57150" marB="571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A4A30C-80C7-436F-B2FC-FC131B25C87A}"/>
              </a:ext>
            </a:extLst>
          </p:cNvPr>
          <p:cNvSpPr>
            <a:spLocks xmlns:a="http://schemas.openxmlformats.org/drawingml/2006/main" noGrp="1"/>
          </p:cNvSpPr>
          <p:nvPr/>
        </p:nvSpPr>
        <p:spPr>
          <a:xfrm xmlns:a="http://schemas.openxmlformats.org/drawingml/2006/main">
            <a:off x="876300" y="59055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1">
                <a:solidFill>
                  <a:srgbClr val="17212B"/>
                </a:solidFill>
                <a:latin typeface="Aptos"/>
                <a:ea typeface="Aptos"/>
                <a:cs typeface="Aptos"/>
              </a:defRPr>
            </a:pPr>
            <a:r>
              <a:rPr sz="1425" b="1">
                <a:solidFill>
                  <a:srgbClr val="17212B"/>
                </a:solidFill>
                <a:latin typeface="Aptos"/>
                <a:ea typeface="Aptos"/>
                <a:cs typeface="Aptos"/>
              </a:rPr>
              <a:t>Keep paper scores and CEI scores separate. They answer related but different questions.</a:t>
            </a:r>
          </a:p>
        </p:txBody>
      </p:sp>
    </p:spTree>
    <p:extLst>
      <p:ext uri="{BB962C8B-B14F-4D97-AF65-F5344CB8AC3E}">
        <p14:creationId xmlns:p14="http://schemas.microsoft.com/office/powerpoint/2010/main" val="124296859"/>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7594702A-70CD-4FE3-9CD9-FD35C593B832}"/>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CEI evidence audit: 78 of 143 results support main findings</a:t>
            </a:r>
          </a:p>
        </p:txBody>
      </p:sp>
      <p:sp>
        <p:nvSpPr>
          <p:cNvPr id="2" name="slide-subtitle">
            <a:extLst xmlns:a="http://schemas.openxmlformats.org/drawingml/2006/main">
              <a:ext uri="{FF2B5EF4-FFF2-40B4-BE49-F238E27FC236}">
                <a16:creationId xmlns:a16="http://schemas.microsoft.com/office/drawing/2014/main" id="{47AD62C7-094F-405B-A577-E737B9C356FA}"/>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The other 65 results are checks, a separate multimodal extension, or exclusions.</a:t>
            </a:r>
          </a:p>
        </p:txBody>
      </p:sp>
      <p:sp>
        <p:nvSpPr>
          <p:cNvPr id="3" name="">
            <a:extLst xmlns:a="http://schemas.openxmlformats.org/drawingml/2006/main">
              <a:ext uri="{FF2B5EF4-FFF2-40B4-BE49-F238E27FC236}">
                <a16:creationId xmlns:a16="http://schemas.microsoft.com/office/drawing/2014/main" id="{9E7C064E-F6FF-45DC-9FF6-0EC65D3A61FB}"/>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graphicFrame>
        <p:nvGraphicFramePr>
          <p:cNvPr id="23" name="Chart"/>
          <p:cNvGraphicFramePr/>
          <p:nvPr/>
        </p:nvGraphicFramePr>
        <p:xfrm>
          <a:off xmlns:a="http://schemas.openxmlformats.org/drawingml/2006/main" x="876300" y="1695450"/>
          <a:ext xmlns:a="http://schemas.openxmlformats.org/drawingml/2006/main" cx="5905500" cy="4095750"/>
        </p:xfrm>
        <a:graphic xmlns:a="http://schemas.openxmlformats.org/drawingml/2006/main">
          <a:graphicData uri="http://schemas.openxmlformats.org/drawingml/2006/chart">
            <c:chart xmlns:r="http://schemas.openxmlformats.org/officeDocument/2006/relationships" xmlns:c="http://schemas.openxmlformats.org/drawingml/2006/chart" r:id="R45b437be2ad54e1d"/>
          </a:graphicData>
        </a:graphic>
      </p:graphicFrame>
      <p:sp>
        <p:nvSpPr>
          <p:cNvPr id="5" name="">
            <a:extLst xmlns:a="http://schemas.openxmlformats.org/drawingml/2006/main">
              <a:ext uri="{FF2B5EF4-FFF2-40B4-BE49-F238E27FC236}">
                <a16:creationId xmlns:a16="http://schemas.microsoft.com/office/drawing/2014/main" id="{B0707B65-DCAE-47A0-9646-9E1ABA796E6C}"/>
              </a:ext>
            </a:extLst>
          </p:cNvPr>
          <p:cNvSpPr>
            <a:spLocks xmlns:a="http://schemas.openxmlformats.org/drawingml/2006/main" noGrp="1"/>
          </p:cNvSpPr>
          <p:nvPr/>
        </p:nvSpPr>
        <p:spPr>
          <a:xfrm xmlns:a="http://schemas.openxmlformats.org/drawingml/2006/main">
            <a:off x="3000375" y="32385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3300" b="1">
                <a:solidFill>
                  <a:srgbClr val="17212B"/>
                </a:solidFill>
                <a:latin typeface="Aptos"/>
                <a:ea typeface="Aptos"/>
                <a:cs typeface="Aptos"/>
              </a:defRPr>
            </a:pPr>
            <a:r>
              <a:rPr sz="3300" b="1">
                <a:solidFill>
                  <a:srgbClr val="17212B"/>
                </a:solidFill>
                <a:latin typeface="Aptos"/>
                <a:ea typeface="Aptos"/>
                <a:cs typeface="Aptos"/>
              </a:rPr>
              <a:t>143</a:t>
            </a:r>
          </a:p>
        </p:txBody>
      </p:sp>
      <p:sp>
        <p:nvSpPr>
          <p:cNvPr id="6" name="">
            <a:extLst xmlns:a="http://schemas.openxmlformats.org/drawingml/2006/main">
              <a:ext uri="{FF2B5EF4-FFF2-40B4-BE49-F238E27FC236}">
                <a16:creationId xmlns:a16="http://schemas.microsoft.com/office/drawing/2014/main" id="{023D09AC-84C6-4487-966D-FA2057D7713B}"/>
              </a:ext>
            </a:extLst>
          </p:cNvPr>
          <p:cNvSpPr>
            <a:spLocks xmlns:a="http://schemas.openxmlformats.org/drawingml/2006/main" noGrp="1"/>
          </p:cNvSpPr>
          <p:nvPr/>
        </p:nvSpPr>
        <p:spPr>
          <a:xfrm xmlns:a="http://schemas.openxmlformats.org/drawingml/2006/main">
            <a:off x="300037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0">
                <a:solidFill>
                  <a:srgbClr val="66727E"/>
                </a:solidFill>
                <a:latin typeface="Aptos"/>
                <a:ea typeface="Aptos"/>
                <a:cs typeface="Aptos"/>
              </a:defRPr>
            </a:pPr>
            <a:r>
              <a:rPr sz="1200" b="0">
                <a:solidFill>
                  <a:srgbClr val="66727E"/>
                </a:solidFill>
                <a:latin typeface="Aptos"/>
                <a:ea typeface="Aptos"/>
                <a:cs typeface="Aptos"/>
              </a:rPr>
              <a:t>audit cells</a:t>
            </a:r>
          </a:p>
        </p:txBody>
      </p:sp>
      <p:sp>
        <p:nvSpPr>
          <p:cNvPr id="7" name="">
            <a:extLst xmlns:a="http://schemas.openxmlformats.org/drawingml/2006/main">
              <a:ext uri="{FF2B5EF4-FFF2-40B4-BE49-F238E27FC236}">
                <a16:creationId xmlns:a16="http://schemas.microsoft.com/office/drawing/2014/main" id="{C75A0C9F-52F1-4033-ACCA-95102A1767A4}"/>
              </a:ext>
            </a:extLst>
          </p:cNvPr>
          <p:cNvSpPr>
            <a:spLocks xmlns:a="http://schemas.openxmlformats.org/drawingml/2006/main" noGrp="1"/>
          </p:cNvSpPr>
          <p:nvPr/>
        </p:nvSpPr>
        <p:spPr>
          <a:xfrm xmlns:a="http://schemas.openxmlformats.org/drawingml/2006/main">
            <a:off x="7505700" y="2162175"/>
            <a:ext cx="171450" cy="171450"/>
          </a:xfrm>
          <a:prstGeom xmlns:a="http://schemas.openxmlformats.org/drawingml/2006/main" prst="ellipse">
            <a:avLst/>
          </a:prstGeom>
          <a:solidFill xmlns:a="http://schemas.openxmlformats.org/drawingml/2006/main">
            <a:srgbClr val="14856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FE9B85-EE4B-48AE-A48A-CC9ED9A9AC13}"/>
              </a:ext>
            </a:extLst>
          </p:cNvPr>
          <p:cNvSpPr>
            <a:spLocks xmlns:a="http://schemas.openxmlformats.org/drawingml/2006/main" noGrp="1"/>
          </p:cNvSpPr>
          <p:nvPr/>
        </p:nvSpPr>
        <p:spPr>
          <a:xfrm xmlns:a="http://schemas.openxmlformats.org/drawingml/2006/main">
            <a:off x="7810500" y="20955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12B"/>
                </a:solidFill>
                <a:latin typeface="Aptos"/>
                <a:ea typeface="Aptos"/>
                <a:cs typeface="Aptos"/>
              </a:defRPr>
            </a:pPr>
            <a:r>
              <a:rPr sz="1425" b="1">
                <a:solidFill>
                  <a:srgbClr val="17212B"/>
                </a:solidFill>
                <a:latin typeface="Aptos"/>
                <a:ea typeface="Aptos"/>
                <a:cs typeface="Aptos"/>
              </a:rPr>
              <a:t>78 · Main text · 55%</a:t>
            </a:r>
          </a:p>
        </p:txBody>
      </p:sp>
      <p:sp>
        <p:nvSpPr>
          <p:cNvPr id="9" name="">
            <a:extLst xmlns:a="http://schemas.openxmlformats.org/drawingml/2006/main">
              <a:ext uri="{FF2B5EF4-FFF2-40B4-BE49-F238E27FC236}">
                <a16:creationId xmlns:a16="http://schemas.microsoft.com/office/drawing/2014/main" id="{347A4122-E29D-407D-9BF6-A588BF2E8E5F}"/>
              </a:ext>
            </a:extLst>
          </p:cNvPr>
          <p:cNvSpPr>
            <a:spLocks xmlns:a="http://schemas.openxmlformats.org/drawingml/2006/main" noGrp="1"/>
          </p:cNvSpPr>
          <p:nvPr/>
        </p:nvSpPr>
        <p:spPr>
          <a:xfrm xmlns:a="http://schemas.openxmlformats.org/drawingml/2006/main">
            <a:off x="7810500" y="23907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Support the main task findings</a:t>
            </a:r>
          </a:p>
        </p:txBody>
      </p:sp>
      <p:sp>
        <p:nvSpPr>
          <p:cNvPr id="10" name="">
            <a:extLst xmlns:a="http://schemas.openxmlformats.org/drawingml/2006/main">
              <a:ext uri="{FF2B5EF4-FFF2-40B4-BE49-F238E27FC236}">
                <a16:creationId xmlns:a16="http://schemas.microsoft.com/office/drawing/2014/main" id="{7F1200CE-5664-41F0-9275-FAFCD55D5DFB}"/>
              </a:ext>
            </a:extLst>
          </p:cNvPr>
          <p:cNvSpPr>
            <a:spLocks xmlns:a="http://schemas.openxmlformats.org/drawingml/2006/main" noGrp="1"/>
          </p:cNvSpPr>
          <p:nvPr/>
        </p:nvSpPr>
        <p:spPr>
          <a:xfrm xmlns:a="http://schemas.openxmlformats.org/drawingml/2006/main">
            <a:off x="7505700" y="2943225"/>
            <a:ext cx="171450" cy="171450"/>
          </a:xfrm>
          <a:prstGeom xmlns:a="http://schemas.openxmlformats.org/drawingml/2006/main" prst="ellipse">
            <a:avLst/>
          </a:prstGeom>
          <a:solidFill xmlns:a="http://schemas.openxmlformats.org/drawingml/2006/main">
            <a:srgbClr val="D3971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5B93B7-84A0-43BE-907C-1AECD4C896F9}"/>
              </a:ext>
            </a:extLst>
          </p:cNvPr>
          <p:cNvSpPr>
            <a:spLocks xmlns:a="http://schemas.openxmlformats.org/drawingml/2006/main" noGrp="1"/>
          </p:cNvSpPr>
          <p:nvPr/>
        </p:nvSpPr>
        <p:spPr>
          <a:xfrm xmlns:a="http://schemas.openxmlformats.org/drawingml/2006/main">
            <a:off x="7810500" y="28765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12B"/>
                </a:solidFill>
                <a:latin typeface="Aptos"/>
                <a:ea typeface="Aptos"/>
                <a:cs typeface="Aptos"/>
              </a:defRPr>
            </a:pPr>
            <a:r>
              <a:rPr sz="1425" b="1">
                <a:solidFill>
                  <a:srgbClr val="17212B"/>
                </a:solidFill>
                <a:latin typeface="Aptos"/>
                <a:ea typeface="Aptos"/>
                <a:cs typeface="Aptos"/>
              </a:rPr>
              <a:t>26 · Checks only · 18%</a:t>
            </a:r>
          </a:p>
        </p:txBody>
      </p:sp>
      <p:sp>
        <p:nvSpPr>
          <p:cNvPr id="12" name="">
            <a:extLst xmlns:a="http://schemas.openxmlformats.org/drawingml/2006/main">
              <a:ext uri="{FF2B5EF4-FFF2-40B4-BE49-F238E27FC236}">
                <a16:creationId xmlns:a16="http://schemas.microsoft.com/office/drawing/2014/main" id="{A4EB5E60-99C8-432A-8999-D9DEA5E3C6AF}"/>
              </a:ext>
            </a:extLst>
          </p:cNvPr>
          <p:cNvSpPr>
            <a:spLocks xmlns:a="http://schemas.openxmlformats.org/drawingml/2006/main" noGrp="1"/>
          </p:cNvSpPr>
          <p:nvPr/>
        </p:nvSpPr>
        <p:spPr>
          <a:xfrm xmlns:a="http://schemas.openxmlformats.org/drawingml/2006/main">
            <a:off x="7810500" y="31718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Use to test robustness</a:t>
            </a:r>
          </a:p>
        </p:txBody>
      </p:sp>
      <p:sp>
        <p:nvSpPr>
          <p:cNvPr id="13" name="">
            <a:extLst xmlns:a="http://schemas.openxmlformats.org/drawingml/2006/main">
              <a:ext uri="{FF2B5EF4-FFF2-40B4-BE49-F238E27FC236}">
                <a16:creationId xmlns:a16="http://schemas.microsoft.com/office/drawing/2014/main" id="{397CCE73-CF5E-4952-888F-6CB90C97A878}"/>
              </a:ext>
            </a:extLst>
          </p:cNvPr>
          <p:cNvSpPr>
            <a:spLocks xmlns:a="http://schemas.openxmlformats.org/drawingml/2006/main" noGrp="1"/>
          </p:cNvSpPr>
          <p:nvPr/>
        </p:nvSpPr>
        <p:spPr>
          <a:xfrm xmlns:a="http://schemas.openxmlformats.org/drawingml/2006/main">
            <a:off x="7505700" y="3724275"/>
            <a:ext cx="171450" cy="171450"/>
          </a:xfrm>
          <a:prstGeom xmlns:a="http://schemas.openxmlformats.org/drawingml/2006/main" prst="ellipse">
            <a:avLst/>
          </a:prstGeom>
          <a:solidFill xmlns:a="http://schemas.openxmlformats.org/drawingml/2006/main">
            <a:srgbClr val="2B78B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DDC284F-692C-4C33-B92F-3C108A832E1F}"/>
              </a:ext>
            </a:extLst>
          </p:cNvPr>
          <p:cNvSpPr>
            <a:spLocks xmlns:a="http://schemas.openxmlformats.org/drawingml/2006/main" noGrp="1"/>
          </p:cNvSpPr>
          <p:nvPr/>
        </p:nvSpPr>
        <p:spPr>
          <a:xfrm xmlns:a="http://schemas.openxmlformats.org/drawingml/2006/main">
            <a:off x="7810500" y="36576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12B"/>
                </a:solidFill>
                <a:latin typeface="Aptos"/>
                <a:ea typeface="Aptos"/>
                <a:cs typeface="Aptos"/>
              </a:defRPr>
            </a:pPr>
            <a:r>
              <a:rPr sz="1425" b="1">
                <a:solidFill>
                  <a:srgbClr val="17212B"/>
                </a:solidFill>
                <a:latin typeface="Aptos"/>
                <a:ea typeface="Aptos"/>
                <a:cs typeface="Aptos"/>
              </a:rPr>
              <a:t>9 · Multimodal · 6%</a:t>
            </a:r>
          </a:p>
        </p:txBody>
      </p:sp>
      <p:sp>
        <p:nvSpPr>
          <p:cNvPr id="15" name="">
            <a:extLst xmlns:a="http://schemas.openxmlformats.org/drawingml/2006/main">
              <a:ext uri="{FF2B5EF4-FFF2-40B4-BE49-F238E27FC236}">
                <a16:creationId xmlns:a16="http://schemas.microsoft.com/office/drawing/2014/main" id="{C3F0EA1A-1C48-4673-AE86-8C39A68F62EE}"/>
              </a:ext>
            </a:extLst>
          </p:cNvPr>
          <p:cNvSpPr>
            <a:spLocks xmlns:a="http://schemas.openxmlformats.org/drawingml/2006/main" noGrp="1"/>
          </p:cNvSpPr>
          <p:nvPr/>
        </p:nvSpPr>
        <p:spPr>
          <a:xfrm xmlns:a="http://schemas.openxmlformats.org/drawingml/2006/main">
            <a:off x="7810500" y="39528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Report as a separate extension</a:t>
            </a:r>
          </a:p>
        </p:txBody>
      </p:sp>
      <p:sp>
        <p:nvSpPr>
          <p:cNvPr id="16" name="">
            <a:extLst xmlns:a="http://schemas.openxmlformats.org/drawingml/2006/main">
              <a:ext uri="{FF2B5EF4-FFF2-40B4-BE49-F238E27FC236}">
                <a16:creationId xmlns:a16="http://schemas.microsoft.com/office/drawing/2014/main" id="{F81C81DD-4000-4B9C-91E1-AF4B50420ACF}"/>
              </a:ext>
            </a:extLst>
          </p:cNvPr>
          <p:cNvSpPr>
            <a:spLocks xmlns:a="http://schemas.openxmlformats.org/drawingml/2006/main" noGrp="1"/>
          </p:cNvSpPr>
          <p:nvPr/>
        </p:nvSpPr>
        <p:spPr>
          <a:xfrm xmlns:a="http://schemas.openxmlformats.org/drawingml/2006/main">
            <a:off x="7505700" y="4505325"/>
            <a:ext cx="171450" cy="171450"/>
          </a:xfrm>
          <a:prstGeom xmlns:a="http://schemas.openxmlformats.org/drawingml/2006/main" prst="ellipse">
            <a:avLst/>
          </a:prstGeom>
          <a:solidFill xmlns:a="http://schemas.openxmlformats.org/drawingml/2006/main">
            <a:srgbClr val="66727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9C4F42-0D7E-4FFC-83C5-39B69FF00C20}"/>
              </a:ext>
            </a:extLst>
          </p:cNvPr>
          <p:cNvSpPr>
            <a:spLocks xmlns:a="http://schemas.openxmlformats.org/drawingml/2006/main" noGrp="1"/>
          </p:cNvSpPr>
          <p:nvPr/>
        </p:nvSpPr>
        <p:spPr>
          <a:xfrm xmlns:a="http://schemas.openxmlformats.org/drawingml/2006/main">
            <a:off x="7810500" y="44386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17212B"/>
                </a:solidFill>
                <a:latin typeface="Aptos"/>
                <a:ea typeface="Aptos"/>
                <a:cs typeface="Aptos"/>
              </a:defRPr>
            </a:pPr>
            <a:r>
              <a:rPr sz="1425" b="1">
                <a:solidFill>
                  <a:srgbClr val="17212B"/>
                </a:solidFill>
                <a:latin typeface="Aptos"/>
                <a:ea typeface="Aptos"/>
                <a:cs typeface="Aptos"/>
              </a:rPr>
              <a:t>30 · Excluded · 21%</a:t>
            </a:r>
          </a:p>
        </p:txBody>
      </p:sp>
      <p:sp>
        <p:nvSpPr>
          <p:cNvPr id="18" name="">
            <a:extLst xmlns:a="http://schemas.openxmlformats.org/drawingml/2006/main">
              <a:ext uri="{FF2B5EF4-FFF2-40B4-BE49-F238E27FC236}">
                <a16:creationId xmlns:a16="http://schemas.microsoft.com/office/drawing/2014/main" id="{80F98C30-10F9-4FB8-A83F-FEE60BE503E5}"/>
              </a:ext>
            </a:extLst>
          </p:cNvPr>
          <p:cNvSpPr>
            <a:spLocks xmlns:a="http://schemas.openxmlformats.org/drawingml/2006/main" noGrp="1"/>
          </p:cNvSpPr>
          <p:nvPr/>
        </p:nvSpPr>
        <p:spPr>
          <a:xfrm xmlns:a="http://schemas.openxmlformats.org/drawingml/2006/main">
            <a:off x="7810500" y="47339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Do not use for model claims</a:t>
            </a:r>
          </a:p>
        </p:txBody>
      </p:sp>
      <p:sp>
        <p:nvSpPr>
          <p:cNvPr id="19" name="">
            <a:extLst xmlns:a="http://schemas.openxmlformats.org/drawingml/2006/main">
              <a:ext uri="{FF2B5EF4-FFF2-40B4-BE49-F238E27FC236}">
                <a16:creationId xmlns:a16="http://schemas.microsoft.com/office/drawing/2014/main" id="{3B15177F-66AF-4F96-AF48-C892465516DF}"/>
              </a:ext>
            </a:extLst>
          </p:cNvPr>
          <p:cNvSpPr>
            <a:spLocks xmlns:a="http://schemas.openxmlformats.org/drawingml/2006/main" noGrp="1"/>
          </p:cNvSpPr>
          <p:nvPr/>
        </p:nvSpPr>
        <p:spPr>
          <a:xfrm xmlns:a="http://schemas.openxmlformats.org/drawingml/2006/main">
            <a:off x="7448550" y="57912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167"/>
          </a:bodyPr>
          <a:lstStyle xmlns:a="http://schemas.openxmlformats.org/drawingml/2006/main"/>
          <a:p xmlns:a="http://schemas.openxmlformats.org/drawingml/2006/main">
            <a:pPr algn="l">
              <a:defRPr sz="1200" b="1">
                <a:solidFill>
                  <a:srgbClr val="2B78B8"/>
                </a:solidFill>
                <a:latin typeface="Aptos"/>
                <a:ea typeface="Aptos"/>
                <a:cs typeface="Aptos"/>
              </a:defRPr>
            </a:pPr>
            <a:r>
              <a:rPr sz="1200" b="1">
                <a:solidFill>
                  <a:srgbClr val="2B78B8"/>
                </a:solidFill>
                <a:latin typeface="Aptos"/>
                <a:ea typeface="Aptos"/>
                <a:cs typeface="Aptos"/>
              </a:rPr>
              <a:t>The other 65 results should not be used for headline model claims.</a:t>
            </a:r>
          </a:p>
        </p:txBody>
      </p:sp>
    </p:spTree>
    <p:extLst>
      <p:ext uri="{BB962C8B-B14F-4D97-AF65-F5344CB8AC3E}">
        <p14:creationId xmlns:p14="http://schemas.microsoft.com/office/powerpoint/2010/main" val="180143318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DDA5AFC-4BCE-4EFC-AECC-FAC79628D8E6}"/>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CEI evidence audit: what each result group can support</a:t>
            </a:r>
          </a:p>
        </p:txBody>
      </p:sp>
      <p:sp>
        <p:nvSpPr>
          <p:cNvPr id="2" name="slide-subtitle">
            <a:extLst xmlns:a="http://schemas.openxmlformats.org/drawingml/2006/main">
              <a:ext uri="{FF2B5EF4-FFF2-40B4-BE49-F238E27FC236}">
                <a16:creationId xmlns:a16="http://schemas.microsoft.com/office/drawing/2014/main" id="{B2CAD70A-EC45-4B21-9313-BFE642B9BC3E}"/>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143 saved results are split into main findings, checks, multimodal results, and exclusions.</a:t>
            </a:r>
          </a:p>
        </p:txBody>
      </p:sp>
      <p:sp>
        <p:nvSpPr>
          <p:cNvPr id="3" name="">
            <a:extLst xmlns:a="http://schemas.openxmlformats.org/drawingml/2006/main">
              <a:ext uri="{FF2B5EF4-FFF2-40B4-BE49-F238E27FC236}">
                <a16:creationId xmlns:a16="http://schemas.microsoft.com/office/drawing/2014/main" id="{285838F5-DB11-4C72-85C8-FDC9440DD39C}"/>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c3b67a599148f6"/>
          <a:stretch xmlns:a="http://schemas.openxmlformats.org/drawingml/2006/main"/>
        </p:blipFill>
        <p:spPr>
          <a:xfrm xmlns:a="http://schemas.openxmlformats.org/drawingml/2006/main">
            <a:off x="816595" y="1447800"/>
            <a:ext cx="10558811"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B0D3E32-9840-488D-9609-30A53E20BD7D}"/>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A file check confirms that the package is intact. It does not make weak or excluded evidence stronger.</a:t>
            </a:r>
          </a:p>
        </p:txBody>
      </p:sp>
    </p:spTree>
    <p:extLst>
      <p:ext uri="{BB962C8B-B14F-4D97-AF65-F5344CB8AC3E}">
        <p14:creationId xmlns:p14="http://schemas.microsoft.com/office/powerpoint/2010/main" val="1682584336"/>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6E7111C-E656-41FF-8EEF-999945E66DA2}"/>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MoralBench: different models have the highest saved score</a:t>
            </a:r>
          </a:p>
        </p:txBody>
      </p:sp>
      <p:sp>
        <p:nvSpPr>
          <p:cNvPr id="2" name="slide-subtitle">
            <a:extLst xmlns:a="http://schemas.openxmlformats.org/drawingml/2006/main">
              <a:ext uri="{FF2B5EF4-FFF2-40B4-BE49-F238E27FC236}">
                <a16:creationId xmlns:a16="http://schemas.microsoft.com/office/drawing/2014/main" id="{BFFAAABE-2B27-4D4D-8B6F-259F8187079E}"/>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CEI local result. x = model; y = task score; dot = score; line = saved 95% range.</a:t>
            </a:r>
          </a:p>
        </p:txBody>
      </p:sp>
      <p:sp>
        <p:nvSpPr>
          <p:cNvPr id="3" name="">
            <a:extLst xmlns:a="http://schemas.openxmlformats.org/drawingml/2006/main">
              <a:ext uri="{FF2B5EF4-FFF2-40B4-BE49-F238E27FC236}">
                <a16:creationId xmlns:a16="http://schemas.microsoft.com/office/drawing/2014/main" id="{230D5BBA-89B3-4E54-9175-C4B27C7DD43E}"/>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0dd312bcc7e4ac6"/>
          <a:stretch xmlns:a="http://schemas.openxmlformats.org/drawingml/2006/main"/>
        </p:blipFill>
        <p:spPr>
          <a:xfrm xmlns:a="http://schemas.openxmlformats.org/drawingml/2006/main">
            <a:off x="685800" y="2392723"/>
            <a:ext cx="10820400" cy="29202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46A58A-D537-4152-8BD6-7EF0B777973F}"/>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Agreement and accuracy stay separate. These ranges are not direct tests between two models.</a:t>
            </a:r>
          </a:p>
        </p:txBody>
      </p:sp>
    </p:spTree>
    <p:extLst>
      <p:ext uri="{BB962C8B-B14F-4D97-AF65-F5344CB8AC3E}">
        <p14:creationId xmlns:p14="http://schemas.microsoft.com/office/powerpoint/2010/main" val="1177362321"/>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E5AD9E5-6F9F-4C9A-812C-58210CDA136C}"/>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MoralBench: all model pairs have overlapping 95% ranges</a:t>
            </a:r>
          </a:p>
        </p:txBody>
      </p:sp>
      <p:sp>
        <p:nvSpPr>
          <p:cNvPr id="2" name="slide-subtitle">
            <a:extLst xmlns:a="http://schemas.openxmlformats.org/drawingml/2006/main">
              <a:ext uri="{FF2B5EF4-FFF2-40B4-BE49-F238E27FC236}">
                <a16:creationId xmlns:a16="http://schemas.microsoft.com/office/drawing/2014/main" id="{F62E1B4A-6199-438B-ADC0-2450EAC367BD}"/>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CEI local result. 28 of 28 MFQ pairs and 45 of 45 vignette pairs overlap.</a:t>
            </a:r>
          </a:p>
        </p:txBody>
      </p:sp>
      <p:sp>
        <p:nvSpPr>
          <p:cNvPr id="3" name="">
            <a:extLst xmlns:a="http://schemas.openxmlformats.org/drawingml/2006/main">
              <a:ext uri="{FF2B5EF4-FFF2-40B4-BE49-F238E27FC236}">
                <a16:creationId xmlns:a16="http://schemas.microsoft.com/office/drawing/2014/main" id="{E29D0376-9585-4287-897A-724933D3FD84}"/>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4c46a3bc2f54c35"/>
          <a:stretch xmlns:a="http://schemas.openxmlformats.org/drawingml/2006/main"/>
        </p:blipFill>
        <p:spPr>
          <a:xfrm xmlns:a="http://schemas.openxmlformats.org/drawingml/2006/main">
            <a:off x="685800" y="2231624"/>
            <a:ext cx="10820400" cy="32424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7A7C34-CD54-4E70-A2DE-A086881FCB0A}"/>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This is not a direct model-pair test. Question-level scores and stronger uncertainty estimates are missing.</a:t>
            </a:r>
          </a:p>
        </p:txBody>
      </p:sp>
    </p:spTree>
    <p:extLst>
      <p:ext uri="{BB962C8B-B14F-4D97-AF65-F5344CB8AC3E}">
        <p14:creationId xmlns:p14="http://schemas.microsoft.com/office/powerpoint/2010/main" val="1432545005"/>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59784FF-AA35-4222-A942-E67D2D00794B}"/>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MoralBench: all 18 saved intervals are wider than .30</a:t>
            </a:r>
          </a:p>
        </p:txBody>
      </p:sp>
      <p:sp>
        <p:nvSpPr>
          <p:cNvPr id="2" name="slide-subtitle">
            <a:extLst xmlns:a="http://schemas.openxmlformats.org/drawingml/2006/main">
              <a:ext uri="{FF2B5EF4-FFF2-40B4-BE49-F238E27FC236}">
                <a16:creationId xmlns:a16="http://schemas.microsoft.com/office/drawing/2014/main" id="{33AFCAB4-43D5-419E-B730-8F1AAC412974}"/>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CEI local result. x = accuracy; y = model; dot = score; line = saved 95% range.</a:t>
            </a:r>
          </a:p>
        </p:txBody>
      </p:sp>
      <p:sp>
        <p:nvSpPr>
          <p:cNvPr id="3" name="">
            <a:extLst xmlns:a="http://schemas.openxmlformats.org/drawingml/2006/main">
              <a:ext uri="{FF2B5EF4-FFF2-40B4-BE49-F238E27FC236}">
                <a16:creationId xmlns:a16="http://schemas.microsoft.com/office/drawing/2014/main" id="{7A4B1B43-F13B-41B7-9560-DDD97F1DDFE0}"/>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38a1e8e2e94eef"/>
          <a:stretch xmlns:a="http://schemas.openxmlformats.org/drawingml/2006/main"/>
        </p:blipFill>
        <p:spPr>
          <a:xfrm xmlns:a="http://schemas.openxmlformats.org/drawingml/2006/main">
            <a:off x="1094156" y="1447800"/>
            <a:ext cx="10003688"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27099F-A646-4195-BE3A-7889375B2AB6}"/>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The calculation does not use paired model answers or related-question structure. It does not test human validity.</a:t>
            </a:r>
          </a:p>
        </p:txBody>
      </p:sp>
    </p:spTree>
    <p:extLst>
      <p:ext uri="{BB962C8B-B14F-4D97-AF65-F5344CB8AC3E}">
        <p14:creationId xmlns:p14="http://schemas.microsoft.com/office/powerpoint/2010/main" val="159704668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69453DD-FEDB-468F-B940-B7CD0AC8D626}"/>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MoralBench + UniMoral: keep the 3 score types separate</a:t>
            </a:r>
          </a:p>
        </p:txBody>
      </p:sp>
      <p:sp>
        <p:nvSpPr>
          <p:cNvPr id="2" name="slide-subtitle">
            <a:extLst xmlns:a="http://schemas.openxmlformats.org/drawingml/2006/main">
              <a:ext uri="{FF2B5EF4-FFF2-40B4-BE49-F238E27FC236}">
                <a16:creationId xmlns:a16="http://schemas.microsoft.com/office/drawing/2014/main" id="{AFDF87D9-4F0C-47B4-BDB6-282DE36B81FF}"/>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CEI local result. x = score within one metric; each line = one task's five-model range.</a:t>
            </a:r>
          </a:p>
        </p:txBody>
      </p:sp>
      <p:sp>
        <p:nvSpPr>
          <p:cNvPr id="3" name="">
            <a:extLst xmlns:a="http://schemas.openxmlformats.org/drawingml/2006/main">
              <a:ext uri="{FF2B5EF4-FFF2-40B4-BE49-F238E27FC236}">
                <a16:creationId xmlns:a16="http://schemas.microsoft.com/office/drawing/2014/main" id="{F4ABB19E-17EF-463B-A69D-D1130FC15188}"/>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755fbeb009c4ebc"/>
          <a:stretch xmlns:a="http://schemas.openxmlformats.org/drawingml/2006/main"/>
        </p:blipFill>
        <p:spPr>
          <a:xfrm xmlns:a="http://schemas.openxmlformats.org/drawingml/2006/main">
            <a:off x="2202650" y="1447800"/>
            <a:ext cx="7786700"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509260-8109-4450-979A-760D9D006828}"/>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A high score in one panel cannot be compared with a high score in another. There is no overall moral score here.</a:t>
            </a:r>
          </a:p>
        </p:txBody>
      </p:sp>
    </p:spTree>
    <p:extLst>
      <p:ext uri="{BB962C8B-B14F-4D97-AF65-F5344CB8AC3E}">
        <p14:creationId xmlns:p14="http://schemas.microsoft.com/office/powerpoint/2010/main" val="1567147437"/>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774273-8635-43A3-95F1-6FC42BB0116C}"/>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only 4 of 12 family and task comparisons rise twice</a:t>
            </a:r>
          </a:p>
        </p:txBody>
      </p:sp>
      <p:sp>
        <p:nvSpPr>
          <p:cNvPr id="2" name="slide-subtitle">
            <a:extLst xmlns:a="http://schemas.openxmlformats.org/drawingml/2006/main">
              <a:ext uri="{FF2B5EF4-FFF2-40B4-BE49-F238E27FC236}">
                <a16:creationId xmlns:a16="http://schemas.microsoft.com/office/drawing/2014/main" id="{EC83ECAC-7428-40AC-BF52-28F1C6809835}"/>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Bars = 12 comparisons; lines = Gemma at 4B, 12B, and 27B.</a:t>
            </a:r>
          </a:p>
        </p:txBody>
      </p:sp>
      <p:sp>
        <p:nvSpPr>
          <p:cNvPr id="3" name="">
            <a:extLst xmlns:a="http://schemas.openxmlformats.org/drawingml/2006/main">
              <a:ext uri="{FF2B5EF4-FFF2-40B4-BE49-F238E27FC236}">
                <a16:creationId xmlns:a16="http://schemas.microsoft.com/office/drawing/2014/main" id="{0AA9C701-EBDD-4F9D-BE1F-00921A9F3FDA}"/>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dc358c20c6d45a7"/>
          <a:stretch xmlns:a="http://schemas.openxmlformats.org/drawingml/2006/main"/>
        </p:blipFill>
        <p:spPr>
          <a:xfrm xmlns:a="http://schemas.openxmlformats.org/drawingml/2006/main">
            <a:off x="2157886" y="1447800"/>
            <a:ext cx="7876228"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19D543-5E26-414C-A644-469D5F380A99}"/>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The Gemma vertical axis is zoomed. Size is not the only model difference. No uncertainty ranges were saved.</a:t>
            </a:r>
          </a:p>
        </p:txBody>
      </p:sp>
    </p:spTree>
    <p:extLst>
      <p:ext uri="{BB962C8B-B14F-4D97-AF65-F5344CB8AC3E}">
        <p14:creationId xmlns:p14="http://schemas.microsoft.com/office/powerpoint/2010/main" val="1072240250"/>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311F1BC-5D55-4F67-867A-05B2C6507E3D}"/>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size: 3 of 6 family and task comparisons change direction</a:t>
            </a:r>
          </a:p>
        </p:txBody>
      </p:sp>
      <p:sp>
        <p:nvSpPr>
          <p:cNvPr id="2" name="slide-subtitle">
            <a:extLst xmlns:a="http://schemas.openxmlformats.org/drawingml/2006/main">
              <a:ext uri="{FF2B5EF4-FFF2-40B4-BE49-F238E27FC236}">
                <a16:creationId xmlns:a16="http://schemas.microsoft.com/office/drawing/2014/main" id="{8D89BC6F-2D0B-4726-B0AE-3CA16E412EAD}"/>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published size category, ordered only; y = accuracy; labels = model + B.</a:t>
            </a:r>
          </a:p>
        </p:txBody>
      </p:sp>
      <p:sp>
        <p:nvSpPr>
          <p:cNvPr id="3" name="">
            <a:extLst xmlns:a="http://schemas.openxmlformats.org/drawingml/2006/main">
              <a:ext uri="{FF2B5EF4-FFF2-40B4-BE49-F238E27FC236}">
                <a16:creationId xmlns:a16="http://schemas.microsoft.com/office/drawing/2014/main" id="{FA01F481-0627-491B-ABC7-CDE76B10265C}"/>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f389cc4ebdb45d5"/>
          <a:stretch xmlns:a="http://schemas.openxmlformats.org/drawingml/2006/main"/>
        </p:blipFill>
        <p:spPr>
          <a:xfrm xmlns:a="http://schemas.openxmlformats.org/drawingml/2006/main">
            <a:off x="834459" y="1447800"/>
            <a:ext cx="10523083"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FBC33E-D55A-417D-9489-2F8F06C462EF}"/>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Each line stays within one family and task. No saved uncertainty ranges or raw run archive are available.</a:t>
            </a:r>
          </a:p>
        </p:txBody>
      </p:sp>
    </p:spTree>
    <p:extLst>
      <p:ext uri="{BB962C8B-B14F-4D97-AF65-F5344CB8AC3E}">
        <p14:creationId xmlns:p14="http://schemas.microsoft.com/office/powerpoint/2010/main" val="1137947202"/>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13741E8-775F-4A33-AE29-15372FB716A2}"/>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and ValuePrism size: 3 of 5 comparisons change direction</a:t>
            </a:r>
          </a:p>
        </p:txBody>
      </p:sp>
      <p:sp>
        <p:nvSpPr>
          <p:cNvPr id="2" name="slide-subtitle">
            <a:extLst xmlns:a="http://schemas.openxmlformats.org/drawingml/2006/main">
              <a:ext uri="{FF2B5EF4-FFF2-40B4-BE49-F238E27FC236}">
                <a16:creationId xmlns:a16="http://schemas.microsoft.com/office/drawing/2014/main" id="{A067291A-51CF-4E2D-8E16-301D0A49DEED}"/>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published size category, ordered only; y = named metric; labels = model + B.</a:t>
            </a:r>
          </a:p>
        </p:txBody>
      </p:sp>
      <p:sp>
        <p:nvSpPr>
          <p:cNvPr id="3" name="">
            <a:extLst xmlns:a="http://schemas.openxmlformats.org/drawingml/2006/main">
              <a:ext uri="{FF2B5EF4-FFF2-40B4-BE49-F238E27FC236}">
                <a16:creationId xmlns:a16="http://schemas.microsoft.com/office/drawing/2014/main" id="{4B3D0DD2-D44C-4DF0-BFFA-8F4C9A010AAF}"/>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d5cf12177ae43f8"/>
          <a:stretch xmlns:a="http://schemas.openxmlformats.org/drawingml/2006/main"/>
        </p:blipFill>
        <p:spPr>
          <a:xfrm xmlns:a="http://schemas.openxmlformats.org/drawingml/2006/main">
            <a:off x="834459" y="1447800"/>
            <a:ext cx="10523083"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201BC8-0312-471C-AF49-085C3844F740}"/>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The CEI ValuePrism test is not a repeat of the paper's Kaleido experiment. No uncertainty ranges were saved.</a:t>
            </a:r>
          </a:p>
        </p:txBody>
      </p:sp>
    </p:spTree>
    <p:extLst>
      <p:ext uri="{BB962C8B-B14F-4D97-AF65-F5344CB8AC3E}">
        <p14:creationId xmlns:p14="http://schemas.microsoft.com/office/powerpoint/2010/main" val="180775509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2A6FA4D-A259-4C25-9C1E-A73485EDFF03}"/>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Qwen is higher on 3 tasks; DeepSeek on 2</a:t>
            </a:r>
          </a:p>
        </p:txBody>
      </p:sp>
      <p:sp>
        <p:nvSpPr>
          <p:cNvPr id="2" name="slide-subtitle">
            <a:extLst xmlns:a="http://schemas.openxmlformats.org/drawingml/2006/main">
              <a:ext uri="{FF2B5EF4-FFF2-40B4-BE49-F238E27FC236}">
                <a16:creationId xmlns:a16="http://schemas.microsoft.com/office/drawing/2014/main" id="{37E177BA-5BAB-4A0C-8584-BE5B816ABF97}"/>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later minus earlier score; y = task; metrics stay separate.</a:t>
            </a:r>
          </a:p>
        </p:txBody>
      </p:sp>
      <p:sp>
        <p:nvSpPr>
          <p:cNvPr id="3" name="">
            <a:extLst xmlns:a="http://schemas.openxmlformats.org/drawingml/2006/main">
              <a:ext uri="{FF2B5EF4-FFF2-40B4-BE49-F238E27FC236}">
                <a16:creationId xmlns:a16="http://schemas.microsoft.com/office/drawing/2014/main" id="{E83929C9-5858-4999-826E-7EB2B0A043B1}"/>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bd909fb78294e90"/>
          <a:stretch xmlns:a="http://schemas.openxmlformats.org/drawingml/2006/main"/>
        </p:blipFill>
        <p:spPr>
          <a:xfrm xmlns:a="http://schemas.openxmlformats.org/drawingml/2006/main">
            <a:off x="2157886" y="1447800"/>
            <a:ext cx="7876228"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E1C4021-DEB3-4041-A434-207918D5D3A0}"/>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All scores were tested on May 28 or 29, 2026. Release date describes the model, not the test date.</a:t>
            </a:r>
          </a:p>
        </p:txBody>
      </p:sp>
    </p:spTree>
    <p:extLst>
      <p:ext uri="{BB962C8B-B14F-4D97-AF65-F5344CB8AC3E}">
        <p14:creationId xmlns:p14="http://schemas.microsoft.com/office/powerpoint/2010/main" val="1774077641"/>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A6BB195-7373-4E1B-8821-FD959D7BFEB5}"/>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DeepSeek reverses on UniMoral action and typology</a:t>
            </a:r>
          </a:p>
        </p:txBody>
      </p:sp>
      <p:sp>
        <p:nvSpPr>
          <p:cNvPr id="2" name="slide-subtitle">
            <a:extLst xmlns:a="http://schemas.openxmlformats.org/drawingml/2006/main">
              <a:ext uri="{FF2B5EF4-FFF2-40B4-BE49-F238E27FC236}">
                <a16:creationId xmlns:a16="http://schemas.microsoft.com/office/drawing/2014/main" id="{505AD76A-0F00-4A2E-928B-611C319A096C}"/>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model release quarter; y = accuracy; labels = model + B.</a:t>
            </a:r>
          </a:p>
        </p:txBody>
      </p:sp>
      <p:sp>
        <p:nvSpPr>
          <p:cNvPr id="3" name="">
            <a:extLst xmlns:a="http://schemas.openxmlformats.org/drawingml/2006/main">
              <a:ext uri="{FF2B5EF4-FFF2-40B4-BE49-F238E27FC236}">
                <a16:creationId xmlns:a16="http://schemas.microsoft.com/office/drawing/2014/main" id="{7B4EF9F8-93FC-48FF-8C9C-30757CCAA257}"/>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fc753b3abb44325"/>
          <a:stretch xmlns:a="http://schemas.openxmlformats.org/drawingml/2006/main"/>
        </p:blipFill>
        <p:spPr>
          <a:xfrm xmlns:a="http://schemas.openxmlformats.org/drawingml/2006/main">
            <a:off x="834459" y="1447800"/>
            <a:ext cx="10523083" cy="4810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21A03C-1E5B-4721-86E7-C5674616B525}"/>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Release quarter is model metadata, not test time. The lines do not show a cause. The available files have no saved uncertainty ranges or raw run archive.</a:t>
            </a:r>
          </a:p>
        </p:txBody>
      </p:sp>
    </p:spTree>
    <p:extLst>
      <p:ext uri="{BB962C8B-B14F-4D97-AF65-F5344CB8AC3E}">
        <p14:creationId xmlns:p14="http://schemas.microsoft.com/office/powerpoint/2010/main" val="573838656"/>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F7326C8-C232-403F-A299-C48D52E59E5D}"/>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893"/>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and ValuePrism: later Qwen falls on consequence and rises on relevance</a:t>
            </a:r>
          </a:p>
        </p:txBody>
      </p:sp>
      <p:sp>
        <p:nvSpPr>
          <p:cNvPr id="2" name="slide-subtitle">
            <a:extLst xmlns:a="http://schemas.openxmlformats.org/drawingml/2006/main">
              <a:ext uri="{FF2B5EF4-FFF2-40B4-BE49-F238E27FC236}">
                <a16:creationId xmlns:a16="http://schemas.microsoft.com/office/drawing/2014/main" id="{8810FA45-6B69-435A-B05C-037C2C74A9E8}"/>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model release quarter; y = named metric; labels = model + B.</a:t>
            </a:r>
          </a:p>
        </p:txBody>
      </p:sp>
      <p:sp>
        <p:nvSpPr>
          <p:cNvPr id="3" name="">
            <a:extLst xmlns:a="http://schemas.openxmlformats.org/drawingml/2006/main">
              <a:ext uri="{FF2B5EF4-FFF2-40B4-BE49-F238E27FC236}">
                <a16:creationId xmlns:a16="http://schemas.microsoft.com/office/drawing/2014/main" id="{AFCE0527-A45E-4D09-8398-919303EFFE6E}"/>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c745330728840ff"/>
          <a:stretch xmlns:a="http://schemas.openxmlformats.org/drawingml/2006/main"/>
        </p:blipFill>
        <p:spPr>
          <a:xfrm xmlns:a="http://schemas.openxmlformats.org/drawingml/2006/main">
            <a:off x="685800" y="1522788"/>
            <a:ext cx="10820400" cy="4660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AA499A-D33B-47E4-81D0-413C0DAAA8FF}"/>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Consequence uses text match. Relevance uses accuracy. Release quarter is model metadata. The available files have no saved uncertainty ranges or raw run archive.</a:t>
            </a:r>
          </a:p>
        </p:txBody>
      </p:sp>
    </p:spTree>
    <p:extLst>
      <p:ext uri="{BB962C8B-B14F-4D97-AF65-F5344CB8AC3E}">
        <p14:creationId xmlns:p14="http://schemas.microsoft.com/office/powerpoint/2010/main" val="751855566"/>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A9A14EFA-9019-40DC-8380-AE0D5D8413AC}"/>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action: 671B DeepSeek releases range from .453 to .660</a:t>
            </a:r>
          </a:p>
        </p:txBody>
      </p:sp>
      <p:sp>
        <p:nvSpPr>
          <p:cNvPr id="2" name="slide-subtitle">
            <a:extLst xmlns:a="http://schemas.openxmlformats.org/drawingml/2006/main">
              <a:ext uri="{FF2B5EF4-FFF2-40B4-BE49-F238E27FC236}">
                <a16:creationId xmlns:a16="http://schemas.microsoft.com/office/drawing/2014/main" id="{26FE80DB-46FF-40B5-93FF-AFEE665AE38C}"/>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Every point names the model, release date, published size, and CEI accuracy.</a:t>
            </a:r>
          </a:p>
        </p:txBody>
      </p:sp>
      <p:sp>
        <p:nvSpPr>
          <p:cNvPr id="3" name="">
            <a:extLst xmlns:a="http://schemas.openxmlformats.org/drawingml/2006/main">
              <a:ext uri="{FF2B5EF4-FFF2-40B4-BE49-F238E27FC236}">
                <a16:creationId xmlns:a16="http://schemas.microsoft.com/office/drawing/2014/main" id="{1400D0B4-F4A7-4088-B922-B9346E0ABF0C}"/>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4CAED1A9-C807-45DD-89D7-680834710720}"/>
              </a:ext>
            </a:extLst>
          </p:cNvPr>
          <p:cNvSpPr>
            <a:spLocks xmlns:a="http://schemas.openxmlformats.org/drawingml/2006/main" noGrp="1"/>
          </p:cNvSpPr>
          <p:nvPr/>
        </p:nvSpPr>
        <p:spPr>
          <a:xfrm xmlns:a="http://schemas.openxmlformats.org/drawingml/2006/main">
            <a:off x="1047750" y="5524500"/>
            <a:ext cx="7715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5" name="">
            <a:extLst xmlns:a="http://schemas.openxmlformats.org/drawingml/2006/main">
              <a:ext uri="{FF2B5EF4-FFF2-40B4-BE49-F238E27FC236}">
                <a16:creationId xmlns:a16="http://schemas.microsoft.com/office/drawing/2014/main" id="{3E240599-5D7B-4CC1-B1B3-890B909FECA9}"/>
              </a:ext>
            </a:extLst>
          </p:cNvPr>
          <p:cNvSpPr>
            <a:spLocks xmlns:a="http://schemas.openxmlformats.org/drawingml/2006/main" noGrp="1"/>
          </p:cNvSpPr>
          <p:nvPr/>
        </p:nvSpPr>
        <p:spPr>
          <a:xfrm xmlns:a="http://schemas.openxmlformats.org/drawingml/2006/main">
            <a:off x="590550" y="54102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0">
                <a:solidFill>
                  <a:srgbClr val="66727E"/>
                </a:solidFill>
                <a:latin typeface="Aptos"/>
                <a:ea typeface="Aptos"/>
                <a:cs typeface="Aptos"/>
              </a:defRPr>
            </a:pPr>
            <a:r>
              <a:rPr sz="975" b="0">
                <a:solidFill>
                  <a:srgbClr val="66727E"/>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B8F91C2D-2397-4380-90F8-CB123CC4E531}"/>
              </a:ext>
            </a:extLst>
          </p:cNvPr>
          <p:cNvSpPr>
            <a:spLocks xmlns:a="http://schemas.openxmlformats.org/drawingml/2006/main" noGrp="1"/>
          </p:cNvSpPr>
          <p:nvPr/>
        </p:nvSpPr>
        <p:spPr>
          <a:xfrm xmlns:a="http://schemas.openxmlformats.org/drawingml/2006/main">
            <a:off x="1047750" y="4363641"/>
            <a:ext cx="7715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7" name="">
            <a:extLst xmlns:a="http://schemas.openxmlformats.org/drawingml/2006/main">
              <a:ext uri="{FF2B5EF4-FFF2-40B4-BE49-F238E27FC236}">
                <a16:creationId xmlns:a16="http://schemas.microsoft.com/office/drawing/2014/main" id="{5B556B9C-7BBA-40BF-8DF5-D53D21E14608}"/>
              </a:ext>
            </a:extLst>
          </p:cNvPr>
          <p:cNvSpPr>
            <a:spLocks xmlns:a="http://schemas.openxmlformats.org/drawingml/2006/main" noGrp="1"/>
          </p:cNvSpPr>
          <p:nvPr/>
        </p:nvSpPr>
        <p:spPr>
          <a:xfrm xmlns:a="http://schemas.openxmlformats.org/drawingml/2006/main">
            <a:off x="590550" y="4249341"/>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0">
                <a:solidFill>
                  <a:srgbClr val="66727E"/>
                </a:solidFill>
                <a:latin typeface="Aptos"/>
                <a:ea typeface="Aptos"/>
                <a:cs typeface="Aptos"/>
              </a:defRPr>
            </a:pPr>
            <a:r>
              <a:rPr sz="975" b="0">
                <a:solidFill>
                  <a:srgbClr val="66727E"/>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F0F21158-63B4-49DF-9764-92077950EE02}"/>
              </a:ext>
            </a:extLst>
          </p:cNvPr>
          <p:cNvSpPr>
            <a:spLocks xmlns:a="http://schemas.openxmlformats.org/drawingml/2006/main" noGrp="1"/>
          </p:cNvSpPr>
          <p:nvPr/>
        </p:nvSpPr>
        <p:spPr>
          <a:xfrm xmlns:a="http://schemas.openxmlformats.org/drawingml/2006/main">
            <a:off x="1047750" y="3202781"/>
            <a:ext cx="7715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9" name="">
            <a:extLst xmlns:a="http://schemas.openxmlformats.org/drawingml/2006/main">
              <a:ext uri="{FF2B5EF4-FFF2-40B4-BE49-F238E27FC236}">
                <a16:creationId xmlns:a16="http://schemas.microsoft.com/office/drawing/2014/main" id="{FD59447D-98C2-41FA-AF18-426853922B59}"/>
              </a:ext>
            </a:extLst>
          </p:cNvPr>
          <p:cNvSpPr>
            <a:spLocks xmlns:a="http://schemas.openxmlformats.org/drawingml/2006/main" noGrp="1"/>
          </p:cNvSpPr>
          <p:nvPr/>
        </p:nvSpPr>
        <p:spPr>
          <a:xfrm xmlns:a="http://schemas.openxmlformats.org/drawingml/2006/main">
            <a:off x="590550" y="3088481"/>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0">
                <a:solidFill>
                  <a:srgbClr val="66727E"/>
                </a:solidFill>
                <a:latin typeface="Aptos"/>
                <a:ea typeface="Aptos"/>
                <a:cs typeface="Aptos"/>
              </a:defRPr>
            </a:pPr>
            <a:r>
              <a:rPr sz="975" b="0">
                <a:solidFill>
                  <a:srgbClr val="66727E"/>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7E2472A1-CD69-4414-A91B-45D9747D9F2D}"/>
              </a:ext>
            </a:extLst>
          </p:cNvPr>
          <p:cNvSpPr>
            <a:spLocks xmlns:a="http://schemas.openxmlformats.org/drawingml/2006/main" noGrp="1"/>
          </p:cNvSpPr>
          <p:nvPr/>
        </p:nvSpPr>
        <p:spPr>
          <a:xfrm xmlns:a="http://schemas.openxmlformats.org/drawingml/2006/main">
            <a:off x="1047750" y="2041922"/>
            <a:ext cx="7715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1" name="">
            <a:extLst xmlns:a="http://schemas.openxmlformats.org/drawingml/2006/main">
              <a:ext uri="{FF2B5EF4-FFF2-40B4-BE49-F238E27FC236}">
                <a16:creationId xmlns:a16="http://schemas.microsoft.com/office/drawing/2014/main" id="{16A2601B-D75E-40CD-80B9-905B9F7395FE}"/>
              </a:ext>
            </a:extLst>
          </p:cNvPr>
          <p:cNvSpPr>
            <a:spLocks xmlns:a="http://schemas.openxmlformats.org/drawingml/2006/main" noGrp="1"/>
          </p:cNvSpPr>
          <p:nvPr/>
        </p:nvSpPr>
        <p:spPr>
          <a:xfrm xmlns:a="http://schemas.openxmlformats.org/drawingml/2006/main">
            <a:off x="590550" y="1927622"/>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0">
                <a:solidFill>
                  <a:srgbClr val="66727E"/>
                </a:solidFill>
                <a:latin typeface="Aptos"/>
                <a:ea typeface="Aptos"/>
                <a:cs typeface="Aptos"/>
              </a:defRPr>
            </a:pPr>
            <a:r>
              <a:rPr sz="975" b="0">
                <a:solidFill>
                  <a:srgbClr val="66727E"/>
                </a:solidFill>
                <a:latin typeface="Aptos"/>
                <a:ea typeface="Aptos"/>
                <a:cs typeface="Aptos"/>
              </a:rPr>
              <a:t>0.7</a:t>
            </a:r>
          </a:p>
        </p:txBody>
      </p:sp>
      <p:sp>
        <p:nvSpPr>
          <p:cNvPr id="12" name="">
            <a:extLst xmlns:a="http://schemas.openxmlformats.org/drawingml/2006/main">
              <a:ext uri="{FF2B5EF4-FFF2-40B4-BE49-F238E27FC236}">
                <a16:creationId xmlns:a16="http://schemas.microsoft.com/office/drawing/2014/main" id="{78A52FD7-D051-403D-B854-7F07E734B1AC}"/>
              </a:ext>
            </a:extLst>
          </p:cNvPr>
          <p:cNvSpPr>
            <a:spLocks xmlns:a="http://schemas.openxmlformats.org/drawingml/2006/main" noGrp="1"/>
          </p:cNvSpPr>
          <p:nvPr/>
        </p:nvSpPr>
        <p:spPr>
          <a:xfrm xmlns:a="http://schemas.openxmlformats.org/drawingml/2006/main">
            <a:off x="1047750" y="1809750"/>
            <a:ext cx="0" cy="371475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3" name="">
            <a:extLst xmlns:a="http://schemas.openxmlformats.org/drawingml/2006/main">
              <a:ext uri="{FF2B5EF4-FFF2-40B4-BE49-F238E27FC236}">
                <a16:creationId xmlns:a16="http://schemas.microsoft.com/office/drawing/2014/main" id="{276BA486-1F6A-44AE-B800-054E7947ABDF}"/>
              </a:ext>
            </a:extLst>
          </p:cNvPr>
          <p:cNvSpPr>
            <a:spLocks xmlns:a="http://schemas.openxmlformats.org/drawingml/2006/main" noGrp="1"/>
          </p:cNvSpPr>
          <p:nvPr/>
        </p:nvSpPr>
        <p:spPr>
          <a:xfrm xmlns:a="http://schemas.openxmlformats.org/drawingml/2006/main">
            <a:off x="590550" y="56007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ctr">
              <a:defRPr sz="975" b="0">
                <a:solidFill>
                  <a:srgbClr val="66727E"/>
                </a:solidFill>
                <a:latin typeface="Aptos"/>
                <a:ea typeface="Aptos"/>
                <a:cs typeface="Aptos"/>
              </a:defRPr>
            </a:pPr>
            <a:r>
              <a:rPr sz="975" b="0">
                <a:solidFill>
                  <a:srgbClr val="66727E"/>
                </a:solidFill>
                <a:latin typeface="Aptos"/>
                <a:ea typeface="Aptos"/>
                <a:cs typeface="Aptos"/>
              </a:rPr>
              <a:t>Sep 2024</a:t>
            </a:r>
          </a:p>
        </p:txBody>
      </p:sp>
      <p:sp>
        <p:nvSpPr>
          <p:cNvPr id="14" name="">
            <a:extLst xmlns:a="http://schemas.openxmlformats.org/drawingml/2006/main">
              <a:ext uri="{FF2B5EF4-FFF2-40B4-BE49-F238E27FC236}">
                <a16:creationId xmlns:a16="http://schemas.microsoft.com/office/drawing/2014/main" id="{9383B9AA-3BEE-4A6D-A14F-D3C2862AC5EA}"/>
              </a:ext>
            </a:extLst>
          </p:cNvPr>
          <p:cNvSpPr>
            <a:spLocks xmlns:a="http://schemas.openxmlformats.org/drawingml/2006/main" noGrp="1"/>
          </p:cNvSpPr>
          <p:nvPr/>
        </p:nvSpPr>
        <p:spPr>
          <a:xfrm xmlns:a="http://schemas.openxmlformats.org/drawingml/2006/main">
            <a:off x="3296478" y="1809750"/>
            <a:ext cx="0" cy="371475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5" name="">
            <a:extLst xmlns:a="http://schemas.openxmlformats.org/drawingml/2006/main">
              <a:ext uri="{FF2B5EF4-FFF2-40B4-BE49-F238E27FC236}">
                <a16:creationId xmlns:a16="http://schemas.microsoft.com/office/drawing/2014/main" id="{074561DA-97DB-438A-A22E-0E1D44083C34}"/>
              </a:ext>
            </a:extLst>
          </p:cNvPr>
          <p:cNvSpPr>
            <a:spLocks xmlns:a="http://schemas.openxmlformats.org/drawingml/2006/main" noGrp="1"/>
          </p:cNvSpPr>
          <p:nvPr/>
        </p:nvSpPr>
        <p:spPr>
          <a:xfrm xmlns:a="http://schemas.openxmlformats.org/drawingml/2006/main">
            <a:off x="2839278" y="56007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ctr">
              <a:defRPr sz="975" b="0">
                <a:solidFill>
                  <a:srgbClr val="66727E"/>
                </a:solidFill>
                <a:latin typeface="Aptos"/>
                <a:ea typeface="Aptos"/>
                <a:cs typeface="Aptos"/>
              </a:defRPr>
            </a:pPr>
            <a:r>
              <a:rPr sz="975" b="0">
                <a:solidFill>
                  <a:srgbClr val="66727E"/>
                </a:solidFill>
                <a:latin typeface="Aptos"/>
                <a:ea typeface="Aptos"/>
                <a:cs typeface="Aptos"/>
              </a:rPr>
              <a:t>Mar 2025</a:t>
            </a:r>
          </a:p>
        </p:txBody>
      </p:sp>
      <p:sp>
        <p:nvSpPr>
          <p:cNvPr id="16" name="">
            <a:extLst xmlns:a="http://schemas.openxmlformats.org/drawingml/2006/main">
              <a:ext uri="{FF2B5EF4-FFF2-40B4-BE49-F238E27FC236}">
                <a16:creationId xmlns:a16="http://schemas.microsoft.com/office/drawing/2014/main" id="{492B66BD-52EA-45A9-A82B-504941628085}"/>
              </a:ext>
            </a:extLst>
          </p:cNvPr>
          <p:cNvSpPr>
            <a:spLocks xmlns:a="http://schemas.openxmlformats.org/drawingml/2006/main" noGrp="1"/>
          </p:cNvSpPr>
          <p:nvPr/>
        </p:nvSpPr>
        <p:spPr>
          <a:xfrm xmlns:a="http://schemas.openxmlformats.org/drawingml/2006/main">
            <a:off x="5582478" y="1809750"/>
            <a:ext cx="0" cy="371475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7" name="">
            <a:extLst xmlns:a="http://schemas.openxmlformats.org/drawingml/2006/main">
              <a:ext uri="{FF2B5EF4-FFF2-40B4-BE49-F238E27FC236}">
                <a16:creationId xmlns:a16="http://schemas.microsoft.com/office/drawing/2014/main" id="{E7DA8AA5-BC63-4C47-971A-962506CD7862}"/>
              </a:ext>
            </a:extLst>
          </p:cNvPr>
          <p:cNvSpPr>
            <a:spLocks xmlns:a="http://schemas.openxmlformats.org/drawingml/2006/main" noGrp="1"/>
          </p:cNvSpPr>
          <p:nvPr/>
        </p:nvSpPr>
        <p:spPr>
          <a:xfrm xmlns:a="http://schemas.openxmlformats.org/drawingml/2006/main">
            <a:off x="5125278" y="56007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ctr">
              <a:defRPr sz="975" b="0">
                <a:solidFill>
                  <a:srgbClr val="66727E"/>
                </a:solidFill>
                <a:latin typeface="Aptos"/>
                <a:ea typeface="Aptos"/>
                <a:cs typeface="Aptos"/>
              </a:defRPr>
            </a:pPr>
            <a:r>
              <a:rPr sz="975" b="0">
                <a:solidFill>
                  <a:srgbClr val="66727E"/>
                </a:solidFill>
                <a:latin typeface="Aptos"/>
                <a:ea typeface="Aptos"/>
                <a:cs typeface="Aptos"/>
              </a:rPr>
              <a:t>Sep 2025</a:t>
            </a:r>
          </a:p>
        </p:txBody>
      </p:sp>
      <p:sp>
        <p:nvSpPr>
          <p:cNvPr id="18" name="">
            <a:extLst xmlns:a="http://schemas.openxmlformats.org/drawingml/2006/main">
              <a:ext uri="{FF2B5EF4-FFF2-40B4-BE49-F238E27FC236}">
                <a16:creationId xmlns:a16="http://schemas.microsoft.com/office/drawing/2014/main" id="{E8F3C79A-0FBC-44F9-8CD4-D95FD0946A28}"/>
              </a:ext>
            </a:extLst>
          </p:cNvPr>
          <p:cNvSpPr>
            <a:spLocks xmlns:a="http://schemas.openxmlformats.org/drawingml/2006/main" noGrp="1"/>
          </p:cNvSpPr>
          <p:nvPr/>
        </p:nvSpPr>
        <p:spPr>
          <a:xfrm xmlns:a="http://schemas.openxmlformats.org/drawingml/2006/main">
            <a:off x="7831207" y="1809750"/>
            <a:ext cx="0" cy="371475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9" name="">
            <a:extLst xmlns:a="http://schemas.openxmlformats.org/drawingml/2006/main">
              <a:ext uri="{FF2B5EF4-FFF2-40B4-BE49-F238E27FC236}">
                <a16:creationId xmlns:a16="http://schemas.microsoft.com/office/drawing/2014/main" id="{08918ADD-92AF-4A73-82F0-94D085F5F1EA}"/>
              </a:ext>
            </a:extLst>
          </p:cNvPr>
          <p:cNvSpPr>
            <a:spLocks xmlns:a="http://schemas.openxmlformats.org/drawingml/2006/main" noGrp="1"/>
          </p:cNvSpPr>
          <p:nvPr/>
        </p:nvSpPr>
        <p:spPr>
          <a:xfrm xmlns:a="http://schemas.openxmlformats.org/drawingml/2006/main">
            <a:off x="7374007" y="56007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ctr">
              <a:defRPr sz="975" b="0">
                <a:solidFill>
                  <a:srgbClr val="66727E"/>
                </a:solidFill>
                <a:latin typeface="Aptos"/>
                <a:ea typeface="Aptos"/>
                <a:cs typeface="Aptos"/>
              </a:defRPr>
            </a:pPr>
            <a:r>
              <a:rPr sz="975" b="0">
                <a:solidFill>
                  <a:srgbClr val="66727E"/>
                </a:solidFill>
                <a:latin typeface="Aptos"/>
                <a:ea typeface="Aptos"/>
                <a:cs typeface="Aptos"/>
              </a:rPr>
              <a:t>Mar 2026</a:t>
            </a:r>
          </a:p>
        </p:txBody>
      </p:sp>
      <p:sp>
        <p:nvSpPr>
          <p:cNvPr id="20" name="">
            <a:extLst xmlns:a="http://schemas.openxmlformats.org/drawingml/2006/main">
              <a:ext uri="{FF2B5EF4-FFF2-40B4-BE49-F238E27FC236}">
                <a16:creationId xmlns:a16="http://schemas.microsoft.com/office/drawing/2014/main" id="{52A78A19-4EDF-44E5-B96A-311BB2E14258}"/>
              </a:ext>
            </a:extLst>
          </p:cNvPr>
          <p:cNvSpPr>
            <a:spLocks xmlns:a="http://schemas.openxmlformats.org/drawingml/2006/main" noGrp="1"/>
          </p:cNvSpPr>
          <p:nvPr/>
        </p:nvSpPr>
        <p:spPr>
          <a:xfrm xmlns:a="http://schemas.openxmlformats.org/drawingml/2006/main">
            <a:off x="1047750" y="5524500"/>
            <a:ext cx="7715250" cy="0"/>
          </a:xfrm>
          <a:prstGeom xmlns:a="http://schemas.openxmlformats.org/drawingml/2006/main" prst="line">
            <a:avLst/>
          </a:prstGeom>
          <a:noFill xmlns:a="http://schemas.openxmlformats.org/drawingml/2006/main"/>
          <a:ln xmlns:a="http://schemas.openxmlformats.org/drawingml/2006/main" w="19050">
            <a:solidFill>
              <a:srgbClr val="17212B"/>
            </a:solidFill>
            <a:prstDash val="solid"/>
          </a:ln>
        </p:spPr>
      </p:sp>
      <p:sp>
        <p:nvSpPr>
          <p:cNvPr id="21" name="">
            <a:extLst xmlns:a="http://schemas.openxmlformats.org/drawingml/2006/main">
              <a:ext uri="{FF2B5EF4-FFF2-40B4-BE49-F238E27FC236}">
                <a16:creationId xmlns:a16="http://schemas.microsoft.com/office/drawing/2014/main" id="{FBBE7E95-F035-47BA-8972-FF768E654AB9}"/>
              </a:ext>
            </a:extLst>
          </p:cNvPr>
          <p:cNvSpPr>
            <a:spLocks xmlns:a="http://schemas.openxmlformats.org/drawingml/2006/main" noGrp="1"/>
          </p:cNvSpPr>
          <p:nvPr/>
        </p:nvSpPr>
        <p:spPr>
          <a:xfrm xmlns:a="http://schemas.openxmlformats.org/drawingml/2006/main">
            <a:off x="1047750" y="1809750"/>
            <a:ext cx="0" cy="3714750"/>
          </a:xfrm>
          <a:prstGeom xmlns:a="http://schemas.openxmlformats.org/drawingml/2006/main" prst="line">
            <a:avLst/>
          </a:prstGeom>
          <a:noFill xmlns:a="http://schemas.openxmlformats.org/drawingml/2006/main"/>
          <a:ln xmlns:a="http://schemas.openxmlformats.org/drawingml/2006/main" w="19050">
            <a:solidFill>
              <a:srgbClr val="17212B"/>
            </a:solidFill>
            <a:prstDash val="solid"/>
          </a:ln>
        </p:spPr>
      </p:sp>
      <p:sp>
        <p:nvSpPr>
          <p:cNvPr id="22" name="">
            <a:extLst xmlns:a="http://schemas.openxmlformats.org/drawingml/2006/main">
              <a:ext uri="{FF2B5EF4-FFF2-40B4-BE49-F238E27FC236}">
                <a16:creationId xmlns:a16="http://schemas.microsoft.com/office/drawing/2014/main" id="{C74F7F8F-B7A4-41A7-A9C0-39CB98A7B79E}"/>
              </a:ext>
            </a:extLst>
          </p:cNvPr>
          <p:cNvSpPr>
            <a:spLocks xmlns:a="http://schemas.openxmlformats.org/drawingml/2006/main" noGrp="1"/>
          </p:cNvSpPr>
          <p:nvPr/>
        </p:nvSpPr>
        <p:spPr>
          <a:xfrm xmlns:a="http://schemas.openxmlformats.org/drawingml/2006/main">
            <a:off x="3762375" y="59245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Model release date</a:t>
            </a:r>
          </a:p>
        </p:txBody>
      </p:sp>
      <p:sp>
        <p:nvSpPr>
          <p:cNvPr id="23" name="">
            <a:extLst xmlns:a="http://schemas.openxmlformats.org/drawingml/2006/main">
              <a:ext uri="{FF2B5EF4-FFF2-40B4-BE49-F238E27FC236}">
                <a16:creationId xmlns:a16="http://schemas.microsoft.com/office/drawing/2014/main" id="{6D648B44-CE5E-43B8-8201-924419821E2C}"/>
              </a:ext>
            </a:extLst>
          </p:cNvPr>
          <p:cNvSpPr>
            <a:spLocks xmlns:a="http://schemas.openxmlformats.org/drawingml/2006/main" noGrp="1"/>
          </p:cNvSpPr>
          <p:nvPr/>
        </p:nvSpPr>
        <p:spPr>
          <a:xfrm xmlns:a="http://schemas.openxmlformats.org/drawingml/2006/main" rot="-5400000">
            <a:off x="95250" y="31432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111"/>
          </a:bodyP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UniMoral action accuracy</a:t>
            </a:r>
          </a:p>
        </p:txBody>
      </p:sp>
      <p:sp>
        <p:nvSpPr>
          <p:cNvPr id="24" name="">
            <a:extLst xmlns:a="http://schemas.openxmlformats.org/drawingml/2006/main">
              <a:ext uri="{FF2B5EF4-FFF2-40B4-BE49-F238E27FC236}">
                <a16:creationId xmlns:a16="http://schemas.microsoft.com/office/drawing/2014/main" id="{421BFECE-B2FC-4B5C-BE2C-F8B2953BFBF2}"/>
              </a:ext>
            </a:extLst>
          </p:cNvPr>
          <p:cNvSpPr>
            <a:spLocks xmlns:a="http://schemas.openxmlformats.org/drawingml/2006/main" noGrp="1"/>
          </p:cNvSpPr>
          <p:nvPr/>
        </p:nvSpPr>
        <p:spPr>
          <a:xfrm xmlns:a="http://schemas.openxmlformats.org/drawingml/2006/main">
            <a:off x="1214230" y="2740445"/>
            <a:ext cx="114300" cy="114300"/>
          </a:xfrm>
          <a:prstGeom xmlns:a="http://schemas.openxmlformats.org/drawingml/2006/main" prst="ellipse">
            <a:avLst/>
          </a:prstGeom>
          <a:solidFill xmlns:a="http://schemas.openxmlformats.org/drawingml/2006/main">
            <a:srgbClr val="14856D">
              <a:alpha val="80000"/>
            </a:srgbClr>
          </a:solidFill>
          <a:ln xmlns:a="http://schemas.openxmlformats.org/drawingml/2006/main" w="19050">
            <a:solidFill>
              <a:srgbClr val="FFFFFF"/>
            </a:solidFill>
            <a:prstDash val="solid"/>
          </a:ln>
        </p:spPr>
      </p:sp>
      <p:sp>
        <p:nvSpPr>
          <p:cNvPr id="25" name="">
            <a:extLst xmlns:a="http://schemas.openxmlformats.org/drawingml/2006/main">
              <a:ext uri="{FF2B5EF4-FFF2-40B4-BE49-F238E27FC236}">
                <a16:creationId xmlns:a16="http://schemas.microsoft.com/office/drawing/2014/main" id="{6752E774-7054-476B-8799-3EFAC874BF4A}"/>
              </a:ext>
            </a:extLst>
          </p:cNvPr>
          <p:cNvSpPr>
            <a:spLocks xmlns:a="http://schemas.openxmlformats.org/drawingml/2006/main" noGrp="1"/>
          </p:cNvSpPr>
          <p:nvPr/>
        </p:nvSpPr>
        <p:spPr>
          <a:xfrm xmlns:a="http://schemas.openxmlformats.org/drawingml/2006/main">
            <a:off x="1366630" y="2245145"/>
            <a:ext cx="1676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Qwen2.5-7B Instruct</a:t>
            </a:r>
          </a:p>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2024-09-19 · 7.61B total</a:t>
            </a:r>
          </a:p>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accuracy 0.635</a:t>
            </a:r>
          </a:p>
        </p:txBody>
      </p:sp>
      <p:sp>
        <p:nvSpPr>
          <p:cNvPr id="26" name="">
            <a:extLst xmlns:a="http://schemas.openxmlformats.org/drawingml/2006/main">
              <a:ext uri="{FF2B5EF4-FFF2-40B4-BE49-F238E27FC236}">
                <a16:creationId xmlns:a16="http://schemas.microsoft.com/office/drawing/2014/main" id="{A1CC83EE-5807-4FB0-9514-6744667EFC1D}"/>
              </a:ext>
            </a:extLst>
          </p:cNvPr>
          <p:cNvSpPr>
            <a:spLocks xmlns:a="http://schemas.openxmlformats.org/drawingml/2006/main" noGrp="1"/>
          </p:cNvSpPr>
          <p:nvPr/>
        </p:nvSpPr>
        <p:spPr>
          <a:xfrm xmlns:a="http://schemas.openxmlformats.org/drawingml/2006/main">
            <a:off x="3045586" y="4375446"/>
            <a:ext cx="1073285" cy="1073285"/>
          </a:xfrm>
          <a:prstGeom xmlns:a="http://schemas.openxmlformats.org/drawingml/2006/main" prst="ellipse">
            <a:avLst/>
          </a:prstGeom>
          <a:solidFill xmlns:a="http://schemas.openxmlformats.org/drawingml/2006/main">
            <a:srgbClr val="6E5AA8">
              <a:alpha val="80000"/>
            </a:srgbClr>
          </a:solidFill>
          <a:ln xmlns:a="http://schemas.openxmlformats.org/drawingml/2006/main" w="19050">
            <a:solidFill>
              <a:srgbClr val="FFFFFF"/>
            </a:solidFill>
            <a:prstDash val="solid"/>
          </a:ln>
        </p:spPr>
      </p:sp>
      <p:sp>
        <p:nvSpPr>
          <p:cNvPr id="27" name="">
            <a:extLst xmlns:a="http://schemas.openxmlformats.org/drawingml/2006/main">
              <a:ext uri="{FF2B5EF4-FFF2-40B4-BE49-F238E27FC236}">
                <a16:creationId xmlns:a16="http://schemas.microsoft.com/office/drawing/2014/main" id="{63F07D37-9F59-4459-80EA-58CE66FE6AFD}"/>
              </a:ext>
            </a:extLst>
          </p:cNvPr>
          <p:cNvSpPr>
            <a:spLocks xmlns:a="http://schemas.openxmlformats.org/drawingml/2006/main" noGrp="1"/>
          </p:cNvSpPr>
          <p:nvPr/>
        </p:nvSpPr>
        <p:spPr>
          <a:xfrm xmlns:a="http://schemas.openxmlformats.org/drawingml/2006/main">
            <a:off x="4096578" y="4797789"/>
            <a:ext cx="200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62"/>
          </a:bodyPr>
          <a:lstStyle xmlns:a="http://schemas.openxmlformats.org/drawingml/2006/main"/>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DeepSeek V3-0324</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2025-03-24 · 671B main / 37B active</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accuracy 0.453</a:t>
            </a:r>
          </a:p>
        </p:txBody>
      </p:sp>
      <p:sp>
        <p:nvSpPr>
          <p:cNvPr id="28" name="">
            <a:extLst xmlns:a="http://schemas.openxmlformats.org/drawingml/2006/main">
              <a:ext uri="{FF2B5EF4-FFF2-40B4-BE49-F238E27FC236}">
                <a16:creationId xmlns:a16="http://schemas.microsoft.com/office/drawing/2014/main" id="{C3458915-DE09-4603-A9F4-6DE2044CD934}"/>
              </a:ext>
            </a:extLst>
          </p:cNvPr>
          <p:cNvSpPr>
            <a:spLocks xmlns:a="http://schemas.openxmlformats.org/drawingml/2006/main" noGrp="1"/>
          </p:cNvSpPr>
          <p:nvPr/>
        </p:nvSpPr>
        <p:spPr>
          <a:xfrm xmlns:a="http://schemas.openxmlformats.org/drawingml/2006/main">
            <a:off x="4909173" y="1968880"/>
            <a:ext cx="1073285" cy="1073285"/>
          </a:xfrm>
          <a:prstGeom xmlns:a="http://schemas.openxmlformats.org/drawingml/2006/main" prst="ellipse">
            <a:avLst/>
          </a:prstGeom>
          <a:solidFill xmlns:a="http://schemas.openxmlformats.org/drawingml/2006/main">
            <a:srgbClr val="6E5AA8">
              <a:alpha val="80000"/>
            </a:srgbClr>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DDCFAAAD-C4E8-4455-A4CD-63D949F34824}"/>
              </a:ext>
            </a:extLst>
          </p:cNvPr>
          <p:cNvSpPr>
            <a:spLocks xmlns:a="http://schemas.openxmlformats.org/drawingml/2006/main" noGrp="1"/>
          </p:cNvSpPr>
          <p:nvPr/>
        </p:nvSpPr>
        <p:spPr>
          <a:xfrm xmlns:a="http://schemas.openxmlformats.org/drawingml/2006/main">
            <a:off x="3407465" y="1667323"/>
            <a:ext cx="200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562"/>
          </a:bodyPr>
          <a:lstStyle xmlns:a="http://schemas.openxmlformats.org/drawingml/2006/main"/>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DeepSeek V3.1</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2025-08-21 · 671B main / 37B active</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accuracy 0.660</a:t>
            </a:r>
          </a:p>
        </p:txBody>
      </p:sp>
      <p:sp>
        <p:nvSpPr>
          <p:cNvPr id="30" name="">
            <a:extLst xmlns:a="http://schemas.openxmlformats.org/drawingml/2006/main">
              <a:ext uri="{FF2B5EF4-FFF2-40B4-BE49-F238E27FC236}">
                <a16:creationId xmlns:a16="http://schemas.microsoft.com/office/drawing/2014/main" id="{5211224B-DAE3-4DD0-88A3-0E423F500861}"/>
              </a:ext>
            </a:extLst>
          </p:cNvPr>
          <p:cNvSpPr>
            <a:spLocks xmlns:a="http://schemas.openxmlformats.org/drawingml/2006/main" noGrp="1"/>
          </p:cNvSpPr>
          <p:nvPr/>
        </p:nvSpPr>
        <p:spPr>
          <a:xfrm xmlns:a="http://schemas.openxmlformats.org/drawingml/2006/main">
            <a:off x="6176412" y="2136717"/>
            <a:ext cx="1073285" cy="1073285"/>
          </a:xfrm>
          <a:prstGeom xmlns:a="http://schemas.openxmlformats.org/drawingml/2006/main" prst="ellipse">
            <a:avLst/>
          </a:prstGeom>
          <a:solidFill xmlns:a="http://schemas.openxmlformats.org/drawingml/2006/main">
            <a:srgbClr val="6E5AA8">
              <a:alpha val="80000"/>
            </a:srgbClr>
          </a:solidFill>
          <a:ln xmlns:a="http://schemas.openxmlformats.org/drawingml/2006/main" w="19050">
            <a:solidFill>
              <a:srgbClr val="FFFFFF"/>
            </a:solidFill>
            <a:prstDash val="solid"/>
          </a:ln>
        </p:spPr>
      </p:sp>
      <p:sp>
        <p:nvSpPr>
          <p:cNvPr id="31" name="">
            <a:extLst xmlns:a="http://schemas.openxmlformats.org/drawingml/2006/main">
              <a:ext uri="{FF2B5EF4-FFF2-40B4-BE49-F238E27FC236}">
                <a16:creationId xmlns:a16="http://schemas.microsoft.com/office/drawing/2014/main" id="{2B9E39B6-3F64-430A-80B5-1F204B4BE672}"/>
              </a:ext>
            </a:extLst>
          </p:cNvPr>
          <p:cNvSpPr>
            <a:spLocks xmlns:a="http://schemas.openxmlformats.org/drawingml/2006/main" noGrp="1"/>
          </p:cNvSpPr>
          <p:nvPr/>
        </p:nvSpPr>
        <p:spPr>
          <a:xfrm xmlns:a="http://schemas.openxmlformats.org/drawingml/2006/main">
            <a:off x="5617679" y="3197235"/>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DeepSeek V3.2</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2025-12-01 · 671B main / 37B active</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accuracy 0.646</a:t>
            </a:r>
          </a:p>
        </p:txBody>
      </p:sp>
      <p:sp>
        <p:nvSpPr>
          <p:cNvPr id="32" name="">
            <a:extLst xmlns:a="http://schemas.openxmlformats.org/drawingml/2006/main">
              <a:ext uri="{FF2B5EF4-FFF2-40B4-BE49-F238E27FC236}">
                <a16:creationId xmlns:a16="http://schemas.microsoft.com/office/drawing/2014/main" id="{60091DEE-5459-4FBF-AAE6-BA23CF888DF2}"/>
              </a:ext>
            </a:extLst>
          </p:cNvPr>
          <p:cNvSpPr>
            <a:spLocks xmlns:a="http://schemas.openxmlformats.org/drawingml/2006/main" noGrp="1"/>
          </p:cNvSpPr>
          <p:nvPr/>
        </p:nvSpPr>
        <p:spPr>
          <a:xfrm xmlns:a="http://schemas.openxmlformats.org/drawingml/2006/main">
            <a:off x="7744208" y="2527952"/>
            <a:ext cx="124301" cy="124301"/>
          </a:xfrm>
          <a:prstGeom xmlns:a="http://schemas.openxmlformats.org/drawingml/2006/main" prst="ellipse">
            <a:avLst/>
          </a:prstGeom>
          <a:solidFill xmlns:a="http://schemas.openxmlformats.org/drawingml/2006/main">
            <a:srgbClr val="14856D">
              <a:alpha val="80000"/>
            </a:srgbClr>
          </a:solidFill>
          <a:ln xmlns:a="http://schemas.openxmlformats.org/drawingml/2006/main" w="19050">
            <a:solidFill>
              <a:srgbClr val="FFFFFF"/>
            </a:solidFill>
            <a:prstDash val="solid"/>
          </a:ln>
        </p:spPr>
      </p:sp>
      <p:sp>
        <p:nvSpPr>
          <p:cNvPr id="33" name="">
            <a:extLst xmlns:a="http://schemas.openxmlformats.org/drawingml/2006/main">
              <a:ext uri="{FF2B5EF4-FFF2-40B4-BE49-F238E27FC236}">
                <a16:creationId xmlns:a16="http://schemas.microsoft.com/office/drawing/2014/main" id="{3AFD838B-4319-4B15-BAB4-5045881AD9F9}"/>
              </a:ext>
            </a:extLst>
          </p:cNvPr>
          <p:cNvSpPr>
            <a:spLocks xmlns:a="http://schemas.openxmlformats.org/drawingml/2006/main" noGrp="1"/>
          </p:cNvSpPr>
          <p:nvPr/>
        </p:nvSpPr>
        <p:spPr>
          <a:xfrm xmlns:a="http://schemas.openxmlformats.org/drawingml/2006/main">
            <a:off x="6815759" y="1847153"/>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Qwen3.5-9B</a:t>
            </a:r>
          </a:p>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2026-02-27 · 9B total</a:t>
            </a:r>
          </a:p>
          <a:p xmlns:a="http://schemas.openxmlformats.org/drawingml/2006/main">
            <a:pPr algn="l">
              <a:defRPr sz="900" b="1">
                <a:solidFill>
                  <a:srgbClr val="14856D"/>
                </a:solidFill>
                <a:latin typeface="Aptos"/>
                <a:ea typeface="Aptos"/>
                <a:cs typeface="Aptos"/>
              </a:defRPr>
            </a:pPr>
            <a:r>
              <a:rPr sz="900" b="1">
                <a:solidFill>
                  <a:srgbClr val="14856D"/>
                </a:solidFill>
                <a:latin typeface="Aptos"/>
                <a:ea typeface="Aptos"/>
                <a:cs typeface="Aptos"/>
              </a:rPr>
              <a:t>accuracy 0.653</a:t>
            </a:r>
          </a:p>
        </p:txBody>
      </p:sp>
      <p:sp>
        <p:nvSpPr>
          <p:cNvPr id="34" name="">
            <a:extLst xmlns:a="http://schemas.openxmlformats.org/drawingml/2006/main">
              <a:ext uri="{FF2B5EF4-FFF2-40B4-BE49-F238E27FC236}">
                <a16:creationId xmlns:a16="http://schemas.microsoft.com/office/drawing/2014/main" id="{60B48757-DA11-4B12-AA85-83801F17B0D4}"/>
              </a:ext>
            </a:extLst>
          </p:cNvPr>
          <p:cNvSpPr>
            <a:spLocks xmlns:a="http://schemas.openxmlformats.org/drawingml/2006/main" noGrp="1"/>
          </p:cNvSpPr>
          <p:nvPr/>
        </p:nvSpPr>
        <p:spPr>
          <a:xfrm xmlns:a="http://schemas.openxmlformats.org/drawingml/2006/main">
            <a:off x="8128123" y="2396926"/>
            <a:ext cx="698253" cy="698253"/>
          </a:xfrm>
          <a:prstGeom xmlns:a="http://schemas.openxmlformats.org/drawingml/2006/main" prst="ellipse">
            <a:avLst/>
          </a:prstGeom>
          <a:solidFill xmlns:a="http://schemas.openxmlformats.org/drawingml/2006/main">
            <a:srgbClr val="6E5AA8">
              <a:alpha val="80000"/>
            </a:srgbClr>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A75CCB24-1408-4788-8699-8269C14306A5}"/>
              </a:ext>
            </a:extLst>
          </p:cNvPr>
          <p:cNvSpPr>
            <a:spLocks xmlns:a="http://schemas.openxmlformats.org/drawingml/2006/main" noGrp="1"/>
          </p:cNvSpPr>
          <p:nvPr/>
        </p:nvSpPr>
        <p:spPr>
          <a:xfrm xmlns:a="http://schemas.openxmlformats.org/drawingml/2006/main">
            <a:off x="7419975" y="3708078"/>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DeepSeek V4 Flash</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2026-04-22 · 284B main / 13B active</a:t>
            </a:r>
          </a:p>
          <a:p xmlns:a="http://schemas.openxmlformats.org/drawingml/2006/main">
            <a:pPr algn="l">
              <a:defRPr sz="900" b="1">
                <a:solidFill>
                  <a:srgbClr val="6E5AA8"/>
                </a:solidFill>
                <a:latin typeface="Aptos"/>
                <a:ea typeface="Aptos"/>
                <a:cs typeface="Aptos"/>
              </a:defRPr>
            </a:pPr>
            <a:r>
              <a:rPr sz="900" b="1">
                <a:solidFill>
                  <a:srgbClr val="6E5AA8"/>
                </a:solidFill>
                <a:latin typeface="Aptos"/>
                <a:ea typeface="Aptos"/>
                <a:cs typeface="Aptos"/>
              </a:rPr>
              <a:t>accuracy 0.639</a:t>
            </a:r>
          </a:p>
        </p:txBody>
      </p:sp>
      <p:sp>
        <p:nvSpPr>
          <p:cNvPr id="36" name="">
            <a:extLst xmlns:a="http://schemas.openxmlformats.org/drawingml/2006/main">
              <a:ext uri="{FF2B5EF4-FFF2-40B4-BE49-F238E27FC236}">
                <a16:creationId xmlns:a16="http://schemas.microsoft.com/office/drawing/2014/main" id="{C0749E88-D608-47DF-9026-81C5ED725A4E}"/>
              </a:ext>
            </a:extLst>
          </p:cNvPr>
          <p:cNvSpPr>
            <a:spLocks xmlns:a="http://schemas.openxmlformats.org/drawingml/2006/main" noGrp="1"/>
          </p:cNvSpPr>
          <p:nvPr/>
        </p:nvSpPr>
        <p:spPr>
          <a:xfrm xmlns:a="http://schemas.openxmlformats.org/drawingml/2006/main">
            <a:off x="9163050" y="19812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792"/>
          </a:bodyPr>
          <a:lstStyle xmlns:a="http://schemas.openxmlformats.org/drawingml/2006/main"/>
          <a:p xmlns:a="http://schemas.openxmlformats.org/drawingml/2006/main">
            <a:pPr algn="l">
              <a:defRPr sz="1200" b="1">
                <a:solidFill>
                  <a:srgbClr val="8B5F00"/>
                </a:solidFill>
                <a:latin typeface="Aptos"/>
                <a:ea typeface="Aptos"/>
                <a:cs typeface="Aptos"/>
              </a:defRPr>
            </a:pPr>
            <a:r>
              <a:rPr sz="1200" b="1">
                <a:solidFill>
                  <a:srgbClr val="8B5F00"/>
                </a:solidFill>
                <a:latin typeface="Aptos"/>
                <a:ea typeface="Aptos"/>
                <a:cs typeface="Aptos"/>
              </a:rPr>
              <a:t>Same published size, different scores</a:t>
            </a:r>
          </a:p>
        </p:txBody>
      </p:sp>
      <p:sp>
        <p:nvSpPr>
          <p:cNvPr id="37" name="">
            <a:extLst xmlns:a="http://schemas.openxmlformats.org/drawingml/2006/main">
              <a:ext uri="{FF2B5EF4-FFF2-40B4-BE49-F238E27FC236}">
                <a16:creationId xmlns:a16="http://schemas.microsoft.com/office/drawing/2014/main" id="{87D4A847-74DD-489C-8D7E-7A1D9EBB1E2A}"/>
              </a:ext>
            </a:extLst>
          </p:cNvPr>
          <p:cNvSpPr>
            <a:spLocks xmlns:a="http://schemas.openxmlformats.org/drawingml/2006/main" noGrp="1"/>
          </p:cNvSpPr>
          <p:nvPr/>
        </p:nvSpPr>
        <p:spPr>
          <a:xfrm xmlns:a="http://schemas.openxmlformats.org/drawingml/2006/main">
            <a:off x="9163050" y="26479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17212B"/>
                </a:solidFill>
                <a:latin typeface="Aptos"/>
                <a:ea typeface="Aptos"/>
                <a:cs typeface="Aptos"/>
              </a:defRPr>
            </a:pPr>
            <a:r>
              <a:rPr sz="1500" b="1">
                <a:solidFill>
                  <a:srgbClr val="17212B"/>
                </a:solidFill>
                <a:latin typeface="Aptos"/>
                <a:ea typeface="Aptos"/>
                <a:cs typeface="Aptos"/>
              </a:rPr>
              <a:t>DeepSeek 671B</a:t>
            </a:r>
          </a:p>
        </p:txBody>
      </p:sp>
      <p:sp>
        <p:nvSpPr>
          <p:cNvPr id="38" name="">
            <a:extLst xmlns:a="http://schemas.openxmlformats.org/drawingml/2006/main">
              <a:ext uri="{FF2B5EF4-FFF2-40B4-BE49-F238E27FC236}">
                <a16:creationId xmlns:a16="http://schemas.microsoft.com/office/drawing/2014/main" id="{9D778436-0960-4BEE-ABD5-7A90369AE842}"/>
              </a:ext>
            </a:extLst>
          </p:cNvPr>
          <p:cNvSpPr>
            <a:spLocks xmlns:a="http://schemas.openxmlformats.org/drawingml/2006/main" noGrp="1"/>
          </p:cNvSpPr>
          <p:nvPr/>
        </p:nvSpPr>
        <p:spPr>
          <a:xfrm xmlns:a="http://schemas.openxmlformats.org/drawingml/2006/main">
            <a:off x="9163050" y="30289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6E5AA8"/>
                </a:solidFill>
                <a:latin typeface="Aptos"/>
                <a:ea typeface="Aptos"/>
                <a:cs typeface="Aptos"/>
              </a:defRPr>
            </a:pPr>
            <a:r>
              <a:rPr sz="1875" b="1">
                <a:solidFill>
                  <a:srgbClr val="6E5AA8"/>
                </a:solidFill>
                <a:latin typeface="Aptos"/>
                <a:ea typeface="Aptos"/>
                <a:cs typeface="Aptos"/>
              </a:rPr>
              <a:t>.453   .660   .646</a:t>
            </a:r>
          </a:p>
        </p:txBody>
      </p:sp>
      <p:sp>
        <p:nvSpPr>
          <p:cNvPr id="39" name="">
            <a:extLst xmlns:a="http://schemas.openxmlformats.org/drawingml/2006/main">
              <a:ext uri="{FF2B5EF4-FFF2-40B4-BE49-F238E27FC236}">
                <a16:creationId xmlns:a16="http://schemas.microsoft.com/office/drawing/2014/main" id="{D26BC5EF-3FFA-4923-9C80-CB86DA0AF9DD}"/>
              </a:ext>
            </a:extLst>
          </p:cNvPr>
          <p:cNvSpPr>
            <a:spLocks xmlns:a="http://schemas.openxmlformats.org/drawingml/2006/main" noGrp="1"/>
          </p:cNvSpPr>
          <p:nvPr/>
        </p:nvSpPr>
        <p:spPr>
          <a:xfrm xmlns:a="http://schemas.openxmlformats.org/drawingml/2006/main">
            <a:off x="9163050" y="379095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222"/>
          </a:bodyPr>
          <a:lstStyle xmlns:a="http://schemas.openxmlformats.org/drawingml/2006/main"/>
          <a:p xmlns:a="http://schemas.openxmlformats.org/drawingml/2006/main">
            <a:pPr algn="l">
              <a:defRPr sz="1500" b="1">
                <a:solidFill>
                  <a:srgbClr val="17212B"/>
                </a:solidFill>
                <a:latin typeface="Aptos"/>
                <a:ea typeface="Aptos"/>
                <a:cs typeface="Aptos"/>
              </a:defRPr>
            </a:pPr>
            <a:r>
              <a:rPr sz="1500" b="1">
                <a:solidFill>
                  <a:srgbClr val="17212B"/>
                </a:solidFill>
                <a:latin typeface="Aptos"/>
                <a:ea typeface="Aptos"/>
                <a:cs typeface="Aptos"/>
              </a:rPr>
              <a:t>These 6 points do not show a steady size or date pattern.</a:t>
            </a:r>
          </a:p>
        </p:txBody>
      </p:sp>
      <p:sp>
        <p:nvSpPr>
          <p:cNvPr id="40" name="">
            <a:extLst xmlns:a="http://schemas.openxmlformats.org/drawingml/2006/main">
              <a:ext uri="{FF2B5EF4-FFF2-40B4-BE49-F238E27FC236}">
                <a16:creationId xmlns:a16="http://schemas.microsoft.com/office/drawing/2014/main" id="{40EA7A9A-9D1E-436C-B411-3B0EB991BC2E}"/>
              </a:ext>
            </a:extLst>
          </p:cNvPr>
          <p:cNvSpPr>
            <a:spLocks xmlns:a="http://schemas.openxmlformats.org/drawingml/2006/main" noGrp="1"/>
          </p:cNvSpPr>
          <p:nvPr/>
        </p:nvSpPr>
        <p:spPr>
          <a:xfrm xmlns:a="http://schemas.openxmlformats.org/drawingml/2006/main">
            <a:off x="9163050" y="47053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Bubble area shows published total or main-model B. DeepSeek labels also show active B.</a:t>
            </a:r>
          </a:p>
        </p:txBody>
      </p:sp>
      <p:sp>
        <p:nvSpPr>
          <p:cNvPr id="41" name="">
            <a:extLst xmlns:a="http://schemas.openxmlformats.org/drawingml/2006/main">
              <a:ext uri="{FF2B5EF4-FFF2-40B4-BE49-F238E27FC236}">
                <a16:creationId xmlns:a16="http://schemas.microsoft.com/office/drawing/2014/main" id="{3EF000C6-94EF-431D-A3C2-0EE6AFE7EB55}"/>
              </a:ext>
            </a:extLst>
          </p:cNvPr>
          <p:cNvSpPr>
            <a:spLocks xmlns:a="http://schemas.openxmlformats.org/drawingml/2006/main" noGrp="1"/>
          </p:cNvSpPr>
          <p:nvPr/>
        </p:nvSpPr>
        <p:spPr>
          <a:xfrm xmlns:a="http://schemas.openxmlformats.org/drawingml/2006/main">
            <a:off x="9163050" y="5467350"/>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Only 6 saved results. No uncertainty ranges. Some served-model details were not saved.</a:t>
            </a:r>
          </a:p>
        </p:txBody>
      </p:sp>
    </p:spTree>
    <p:extLst>
      <p:ext uri="{BB962C8B-B14F-4D97-AF65-F5344CB8AC3E}">
        <p14:creationId xmlns:p14="http://schemas.microsoft.com/office/powerpoint/2010/main" val="1418199220"/>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F0AB518-53E9-4AC9-9400-BF563AC5DAED}"/>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MoralBench paper: the top model differs across 4 tests</a:t>
            </a:r>
          </a:p>
        </p:txBody>
      </p:sp>
      <p:sp>
        <p:nvSpPr>
          <p:cNvPr id="2" name="slide-subtitle">
            <a:extLst xmlns:a="http://schemas.openxmlformats.org/drawingml/2006/main">
              <a:ext uri="{FF2B5EF4-FFF2-40B4-BE49-F238E27FC236}">
                <a16:creationId xmlns:a16="http://schemas.microsoft.com/office/drawing/2014/main" id="{2E9AD869-02C5-4A0C-8357-67CA6A795598}"/>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Paper result. It asks whether model choices align with human ratings.</a:t>
            </a:r>
          </a:p>
        </p:txBody>
      </p:sp>
      <p:sp>
        <p:nvSpPr>
          <p:cNvPr id="3" name="">
            <a:extLst xmlns:a="http://schemas.openxmlformats.org/drawingml/2006/main">
              <a:ext uri="{FF2B5EF4-FFF2-40B4-BE49-F238E27FC236}">
                <a16:creationId xmlns:a16="http://schemas.microsoft.com/office/drawing/2014/main" id="{CB2D3F19-14F7-4569-9721-CD668916C5BB}"/>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5D70A50E-F9BA-41B6-A5E9-33A096B8B0E9}"/>
              </a:ext>
            </a:extLst>
          </p:cNvPr>
          <p:cNvSpPr>
            <a:spLocks xmlns:a="http://schemas.openxmlformats.org/drawingml/2006/main" noGrp="1"/>
          </p:cNvSpPr>
          <p:nvPr/>
        </p:nvSpPr>
        <p:spPr>
          <a:xfrm xmlns:a="http://schemas.openxmlformats.org/drawingml/2006/main">
            <a:off x="742950" y="15049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MFQ binary · summed score (raw)</a:t>
            </a:r>
          </a:p>
        </p:txBody>
      </p:sp>
      <p:graphicFrame>
        <p:nvGraphicFramePr>
          <p:cNvPr id="19" name="Chart"/>
          <p:cNvGraphicFramePr/>
          <p:nvPr/>
        </p:nvGraphicFramePr>
        <p:xfrm>
          <a:off xmlns:a="http://schemas.openxmlformats.org/drawingml/2006/main" x="742950" y="177165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533051300f5c4a87"/>
          </a:graphicData>
        </a:graphic>
      </p:graphicFrame>
      <p:sp>
        <p:nvSpPr>
          <p:cNvPr id="6" name="">
            <a:extLst xmlns:a="http://schemas.openxmlformats.org/drawingml/2006/main">
              <a:ext uri="{FF2B5EF4-FFF2-40B4-BE49-F238E27FC236}">
                <a16:creationId xmlns:a16="http://schemas.microsoft.com/office/drawing/2014/main" id="{1C7B657F-828C-4181-8E69-7103179F787C}"/>
              </a:ext>
            </a:extLst>
          </p:cNvPr>
          <p:cNvSpPr>
            <a:spLocks xmlns:a="http://schemas.openxmlformats.org/drawingml/2006/main" noGrp="1"/>
          </p:cNvSpPr>
          <p:nvPr/>
        </p:nvSpPr>
        <p:spPr>
          <a:xfrm xmlns:a="http://schemas.openxmlformats.org/drawingml/2006/main">
            <a:off x="6286500" y="15049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Vignette binary · summed score (raw)</a:t>
            </a:r>
          </a:p>
        </p:txBody>
      </p:sp>
      <p:graphicFrame>
        <p:nvGraphicFramePr>
          <p:cNvPr id="21" name="Chart"/>
          <p:cNvGraphicFramePr/>
          <p:nvPr/>
        </p:nvGraphicFramePr>
        <p:xfrm>
          <a:off xmlns:a="http://schemas.openxmlformats.org/drawingml/2006/main" x="6286500" y="177165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df99ed661f2f456a"/>
          </a:graphicData>
        </a:graphic>
      </p:graphicFrame>
      <p:sp>
        <p:nvSpPr>
          <p:cNvPr id="8" name="">
            <a:extLst xmlns:a="http://schemas.openxmlformats.org/drawingml/2006/main">
              <a:ext uri="{FF2B5EF4-FFF2-40B4-BE49-F238E27FC236}">
                <a16:creationId xmlns:a16="http://schemas.microsoft.com/office/drawing/2014/main" id="{36C03705-E19B-4B3E-8F22-455D7AB0AD1F}"/>
              </a:ext>
            </a:extLst>
          </p:cNvPr>
          <p:cNvSpPr>
            <a:spLocks xmlns:a="http://schemas.openxmlformats.org/drawingml/2006/main" noGrp="1"/>
          </p:cNvSpPr>
          <p:nvPr/>
        </p:nvSpPr>
        <p:spPr>
          <a:xfrm xmlns:a="http://schemas.openxmlformats.org/drawingml/2006/main">
            <a:off x="742950" y="37719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MFQ comparison · mean correct choices</a:t>
            </a:r>
          </a:p>
        </p:txBody>
      </p:sp>
      <p:graphicFrame>
        <p:nvGraphicFramePr>
          <p:cNvPr id="23" name="Chart"/>
          <p:cNvGraphicFramePr/>
          <p:nvPr/>
        </p:nvGraphicFramePr>
        <p:xfrm>
          <a:off xmlns:a="http://schemas.openxmlformats.org/drawingml/2006/main" x="742950" y="403860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5214585ab217471b"/>
          </a:graphicData>
        </a:graphic>
      </p:graphicFrame>
      <p:sp>
        <p:nvSpPr>
          <p:cNvPr id="10" name="">
            <a:extLst xmlns:a="http://schemas.openxmlformats.org/drawingml/2006/main">
              <a:ext uri="{FF2B5EF4-FFF2-40B4-BE49-F238E27FC236}">
                <a16:creationId xmlns:a16="http://schemas.microsoft.com/office/drawing/2014/main" id="{718FCD47-5A6D-4586-9667-33FF607CAB56}"/>
              </a:ext>
            </a:extLst>
          </p:cNvPr>
          <p:cNvSpPr>
            <a:spLocks xmlns:a="http://schemas.openxmlformats.org/drawingml/2006/main" noGrp="1"/>
          </p:cNvSpPr>
          <p:nvPr/>
        </p:nvSpPr>
        <p:spPr>
          <a:xfrm xmlns:a="http://schemas.openxmlformats.org/drawingml/2006/main">
            <a:off x="6286500" y="37719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Vignette comparison · mean correct choices</a:t>
            </a:r>
          </a:p>
        </p:txBody>
      </p:sp>
      <p:graphicFrame>
        <p:nvGraphicFramePr>
          <p:cNvPr id="25" name="Chart"/>
          <p:cNvGraphicFramePr/>
          <p:nvPr/>
        </p:nvGraphicFramePr>
        <p:xfrm>
          <a:off xmlns:a="http://schemas.openxmlformats.org/drawingml/2006/main" x="6286500" y="403860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9db5afe3d1794ee0"/>
          </a:graphicData>
        </a:graphic>
      </p:graphicFrame>
      <p:sp>
        <p:nvSpPr>
          <p:cNvPr id="12" name="">
            <a:extLst xmlns:a="http://schemas.openxmlformats.org/drawingml/2006/main">
              <a:ext uri="{FF2B5EF4-FFF2-40B4-BE49-F238E27FC236}">
                <a16:creationId xmlns:a16="http://schemas.microsoft.com/office/drawing/2014/main" id="{F7CD91D4-3B32-43FF-AD7C-84E20DFE784A}"/>
              </a:ext>
            </a:extLst>
          </p:cNvPr>
          <p:cNvSpPr>
            <a:spLocks xmlns:a="http://schemas.openxmlformats.org/drawingml/2006/main" noGrp="1"/>
          </p:cNvSpPr>
          <p:nvPr/>
        </p:nvSpPr>
        <p:spPr>
          <a:xfrm xmlns:a="http://schemas.openxmlformats.org/drawingml/2006/main">
            <a:off x="857250" y="5848350"/>
            <a:ext cx="1057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The paper does not report confidence ranges or the maximum binary score. The saved task files contain 20 MFQ and 24 vignette pairs.</a:t>
            </a:r>
          </a:p>
        </p:txBody>
      </p:sp>
      <p:sp>
        <p:nvSpPr>
          <p:cNvPr id="13" name="">
            <a:extLst xmlns:a="http://schemas.openxmlformats.org/drawingml/2006/main">
              <a:ext uri="{FF2B5EF4-FFF2-40B4-BE49-F238E27FC236}">
                <a16:creationId xmlns:a16="http://schemas.microsoft.com/office/drawing/2014/main" id="{B393193F-4AC6-4191-ADF5-D7447A11D97D}"/>
              </a:ext>
            </a:extLst>
          </p:cNvPr>
          <p:cNvSpPr>
            <a:spLocks xmlns:a="http://schemas.openxmlformats.org/drawingml/2006/main" noGrp="1"/>
          </p:cNvSpPr>
          <p:nvPr/>
        </p:nvSpPr>
        <p:spPr>
          <a:xfrm xmlns:a="http://schemas.openxmlformats.org/drawingml/2006/main">
            <a:off x="857250" y="6038850"/>
            <a:ext cx="1057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CF5D4A"/>
                </a:solidFill>
                <a:latin typeface="Aptos"/>
                <a:ea typeface="Aptos"/>
                <a:cs typeface="Aptos"/>
              </a:defRPr>
            </a:pPr>
            <a:r>
              <a:rPr sz="900" b="1">
                <a:solidFill>
                  <a:srgbClr val="CF5D4A"/>
                </a:solidFill>
                <a:latin typeface="Aptos"/>
                <a:ea typeface="Aptos"/>
                <a:cs typeface="Aptos"/>
              </a:rPr>
              <a:t>Paper inconsistency: Gemma-1.1 vignette prints 44.4, while its six printed subscores sum to 51.8.</a:t>
            </a:r>
          </a:p>
        </p:txBody>
      </p:sp>
      <p:sp>
        <p:nvSpPr>
          <p:cNvPr id="14" name="">
            <a:extLst xmlns:a="http://schemas.openxmlformats.org/drawingml/2006/main">
              <a:ext uri="{FF2B5EF4-FFF2-40B4-BE49-F238E27FC236}">
                <a16:creationId xmlns:a16="http://schemas.microsoft.com/office/drawing/2014/main" id="{8F78A027-A218-49F2-A792-A7795CCD8E7E}"/>
              </a:ext>
            </a:extLst>
          </p:cNvPr>
          <p:cNvSpPr>
            <a:spLocks xmlns:a="http://schemas.openxmlformats.org/drawingml/2006/main" noGrp="1"/>
          </p:cNvSpPr>
          <p:nvPr/>
        </p:nvSpPr>
        <p:spPr>
          <a:xfrm xmlns:a="http://schemas.openxmlformats.org/drawingml/2006/main">
            <a:off x="857250" y="62674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CF5D4A"/>
                </a:solidFill>
                <a:latin typeface="Aptos"/>
                <a:ea typeface="Aptos"/>
                <a:cs typeface="Aptos"/>
              </a:defRPr>
            </a:pPr>
            <a:r>
              <a:rPr sz="1350" b="1">
                <a:solidFill>
                  <a:srgbClr val="CF5D4A"/>
                </a:solidFill>
                <a:latin typeface="Aptos"/>
                <a:ea typeface="Aptos"/>
                <a:cs typeface="Aptos"/>
              </a:rPr>
              <a:t>LLaMA-2 has the top MFQ binary score. GPT-4 has the top vignette binary score. GPT-3.5 tops both comparison tests.</a:t>
            </a:r>
          </a:p>
        </p:txBody>
      </p:sp>
    </p:spTree>
    <p:extLst>
      <p:ext uri="{BB962C8B-B14F-4D97-AF65-F5344CB8AC3E}">
        <p14:creationId xmlns:p14="http://schemas.microsoft.com/office/powerpoint/2010/main" val="1538674503"/>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F601D24-997B-466E-9BE4-C7E628EA399D}"/>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paper: CEI does not test all paper questions</a:t>
            </a:r>
          </a:p>
        </p:txBody>
      </p:sp>
      <p:sp>
        <p:nvSpPr>
          <p:cNvPr id="2" name="slide-subtitle">
            <a:extLst xmlns:a="http://schemas.openxmlformats.org/drawingml/2006/main">
              <a:ext uri="{FF2B5EF4-FFF2-40B4-BE49-F238E27FC236}">
                <a16:creationId xmlns:a16="http://schemas.microsoft.com/office/drawing/2014/main" id="{F12CB3BC-D0DE-45D4-9404-2E7C49E30281}"/>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No matching CEI test for cues, languages, or story sources; 4 task types are related but different.</a:t>
            </a:r>
          </a:p>
        </p:txBody>
      </p:sp>
      <p:sp>
        <p:nvSpPr>
          <p:cNvPr id="3" name="">
            <a:extLst xmlns:a="http://schemas.openxmlformats.org/drawingml/2006/main">
              <a:ext uri="{FF2B5EF4-FFF2-40B4-BE49-F238E27FC236}">
                <a16:creationId xmlns:a16="http://schemas.microsoft.com/office/drawing/2014/main" id="{142222C1-2696-44F9-8B4D-6A347077962D}"/>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graphicFrame>
        <p:nvGraphicFramePr>
          <p:cNvPr id="9" name=""/>
          <p:cNvGraphicFramePr/>
          <p:nvPr/>
        </p:nvGraphicFramePr>
        <p:xfrm>
          <a:off xmlns:a="http://schemas.openxmlformats.org/drawingml/2006/main" x="781050" y="1695450"/>
          <a:ext xmlns:a="http://schemas.openxmlformats.org/drawingml/2006/main" cx="10629900" cy="3524250"/>
        </p:xfrm>
        <a:graphic xmlns:a="http://schemas.openxmlformats.org/drawingml/2006/main">
          <a:graphicData uri="http://schemas.openxmlformats.org/drawingml/2006/table">
            <a:tbl>
              <a:tblPr/>
              <a:tblGrid>
                <a:gridCol w="3381375"/>
                <a:gridCol w="2857500"/>
                <a:gridCol w="2238375"/>
                <a:gridCol w="2152650"/>
              </a:tblGrid>
              <a:tr h="587375">
                <a:tc>
                  <a:txBody>
                    <a:bodyPr/>
                    <a:lstStyle/>
                    <a:p>
                      <a:r>
                        <a:rPr sz="1125" b="1">
                          <a:solidFill>
                            <a:srgbClr val="FFFFFF"/>
                          </a:solidFill>
                          <a:latin typeface="Aptos"/>
                          <a:ea typeface="Aptos"/>
                          <a:cs typeface="Aptos"/>
                        </a:rPr>
                        <a:t>Paper question</a:t>
                      </a:r>
                    </a:p>
                  </a:txBody>
                  <a:tcPr marL="95250" marR="95250" marT="57150" marB="57150">
                    <a:solidFill>
                      <a:srgbClr val="CF5D4A"/>
                    </a:solidFill>
                  </a:tcPr>
                </a:tc>
                <a:tc>
                  <a:txBody>
                    <a:bodyPr/>
                    <a:lstStyle/>
                    <a:p>
                      <a:r>
                        <a:rPr sz="1125" b="1">
                          <a:solidFill>
                            <a:srgbClr val="FFFFFF"/>
                          </a:solidFill>
                          <a:latin typeface="Aptos"/>
                          <a:ea typeface="Aptos"/>
                          <a:cs typeface="Aptos"/>
                        </a:rPr>
                        <a:t>Paper result</a:t>
                      </a:r>
                    </a:p>
                  </a:txBody>
                  <a:tcPr marL="95250" marR="95250" marT="57150" marB="57150">
                    <a:solidFill>
                      <a:srgbClr val="CF5D4A"/>
                    </a:solidFill>
                  </a:tcPr>
                </a:tc>
                <a:tc>
                  <a:txBody>
                    <a:bodyPr/>
                    <a:lstStyle/>
                    <a:p>
                      <a:r>
                        <a:rPr sz="1125" b="1">
                          <a:solidFill>
                            <a:srgbClr val="FFFFFF"/>
                          </a:solidFill>
                          <a:latin typeface="Aptos"/>
                          <a:ea typeface="Aptos"/>
                          <a:cs typeface="Aptos"/>
                        </a:rPr>
                        <a:t>CEI measure</a:t>
                      </a:r>
                    </a:p>
                  </a:txBody>
                  <a:tcPr marL="95250" marR="95250" marT="57150" marB="57150">
                    <a:solidFill>
                      <a:srgbClr val="CF5D4A"/>
                    </a:solidFill>
                  </a:tcPr>
                </a:tc>
                <a:tc>
                  <a:txBody>
                    <a:bodyPr/>
                    <a:lstStyle/>
                    <a:p>
                      <a:r>
                        <a:rPr sz="1125" b="1">
                          <a:solidFill>
                            <a:srgbClr val="FFFFFF"/>
                          </a:solidFill>
                          <a:latin typeface="Aptos"/>
                          <a:ea typeface="Aptos"/>
                          <a:cs typeface="Aptos"/>
                        </a:rPr>
                        <a:t>Relation</a:t>
                      </a:r>
                    </a:p>
                  </a:txBody>
                  <a:tcPr marL="95250" marR="95250" marT="57150" marB="57150">
                    <a:solidFill>
                      <a:srgbClr val="CF5D4A"/>
                    </a:solidFill>
                  </a:tcPr>
                </a:tc>
              </a:tr>
              <a:tr h="587375">
                <a:tc>
                  <a:txBody>
                    <a:bodyPr/>
                    <a:lstStyle/>
                    <a:p>
                      <a:r>
                        <a:rPr sz="1125" b="1">
                          <a:solidFill>
                            <a:srgbClr val="17212B"/>
                          </a:solidFill>
                          <a:latin typeface="Aptos"/>
                          <a:ea typeface="Aptos"/>
                          <a:cs typeface="Aptos"/>
                        </a:rPr>
                        <a:t>Can models predict an annotator's selected action?</a:t>
                      </a:r>
                    </a:p>
                  </a:txBody>
                  <a:tcPr marL="95250" marR="95250" marT="57150" marB="57150">
                    <a:solidFill>
                      <a:srgbClr val="FFFFFF"/>
                    </a:solidFill>
                  </a:tcPr>
                </a:tc>
                <a:tc>
                  <a:txBody>
                    <a:bodyPr/>
                    <a:lstStyle/>
                    <a:p>
                      <a:r>
                        <a:rPr sz="1125">
                          <a:solidFill>
                            <a:srgbClr val="17212B"/>
                          </a:solidFill>
                          <a:latin typeface="Aptos"/>
                          <a:ea typeface="Aptos"/>
                          <a:cs typeface="Aptos"/>
                        </a:rPr>
                        <a:t>Llama: .5057 to .6617 weighted F1</a:t>
                      </a:r>
                    </a:p>
                  </a:txBody>
                  <a:tcPr marL="95250" marR="95250" marT="57150" marB="57150">
                    <a:solidFill>
                      <a:srgbClr val="FFFFFF"/>
                    </a:solidFill>
                  </a:tcPr>
                </a:tc>
                <a:tc>
                  <a:txBody>
                    <a:bodyPr/>
                    <a:lstStyle/>
                    <a:p>
                      <a:r>
                        <a:rPr sz="1125">
                          <a:solidFill>
                            <a:srgbClr val="17212B"/>
                          </a:solidFill>
                          <a:latin typeface="Aptos"/>
                          <a:ea typeface="Aptos"/>
                          <a:cs typeface="Aptos"/>
                        </a:rPr>
                        <a:t>No-persona accuracy on annotator labels</a:t>
                      </a:r>
                    </a:p>
                  </a:txBody>
                  <a:tcPr marL="95250" marR="95250" marT="57150" marB="57150">
                    <a:solidFill>
                      <a:srgbClr val="FFFFFF"/>
                    </a:solidFill>
                  </a:tcPr>
                </a:tc>
                <a:tc>
                  <a:txBody>
                    <a:bodyPr/>
                    <a:lstStyle/>
                    <a:p>
                      <a:r>
                        <a:rPr sz="1125" b="1">
                          <a:solidFill>
                            <a:srgbClr val="17212B"/>
                          </a:solidFill>
                          <a:latin typeface="Aptos"/>
                          <a:ea typeface="Aptos"/>
                          <a:cs typeface="Aptos"/>
                        </a:rPr>
                        <a:t>Related task, different score</a:t>
                      </a:r>
                    </a:p>
                  </a:txBody>
                  <a:tcPr marL="95250" marR="95250" marT="57150" marB="57150">
                    <a:solidFill>
                      <a:srgbClr val="FFFFFF"/>
                    </a:solidFill>
                  </a:tcPr>
                </a:tc>
              </a:tr>
              <a:tr h="587375">
                <a:tc>
                  <a:txBody>
                    <a:bodyPr/>
                    <a:lstStyle/>
                    <a:p>
                      <a:r>
                        <a:rPr sz="1125" b="1">
                          <a:solidFill>
                            <a:srgbClr val="17212B"/>
                          </a:solidFill>
                          <a:latin typeface="Aptos"/>
                          <a:ea typeface="Aptos"/>
                          <a:cs typeface="Aptos"/>
                        </a:rPr>
                        <a:t>Can models classify moral typology?</a:t>
                      </a:r>
                    </a:p>
                  </a:txBody>
                  <a:tcPr marL="95250" marR="95250" marT="57150" marB="57150">
                    <a:solidFill>
                      <a:srgbClr val="FFFFFF"/>
                    </a:solidFill>
                  </a:tcPr>
                </a:tc>
                <a:tc>
                  <a:txBody>
                    <a:bodyPr/>
                    <a:lstStyle/>
                    <a:p>
                      <a:r>
                        <a:rPr sz="1125">
                          <a:solidFill>
                            <a:srgbClr val="17212B"/>
                          </a:solidFill>
                          <a:latin typeface="Aptos"/>
                          <a:ea typeface="Aptos"/>
                          <a:cs typeface="Aptos"/>
                        </a:rPr>
                        <a:t>Llama: .1742 to .5701 weighted F1</a:t>
                      </a:r>
                    </a:p>
                  </a:txBody>
                  <a:tcPr marL="95250" marR="95250" marT="57150" marB="57150">
                    <a:solidFill>
                      <a:srgbClr val="FFFFFF"/>
                    </a:solidFill>
                  </a:tcPr>
                </a:tc>
                <a:tc>
                  <a:txBody>
                    <a:bodyPr/>
                    <a:lstStyle/>
                    <a:p>
                      <a:r>
                        <a:rPr sz="1125">
                          <a:solidFill>
                            <a:srgbClr val="17212B"/>
                          </a:solidFill>
                          <a:latin typeface="Aptos"/>
                          <a:ea typeface="Aptos"/>
                          <a:cs typeface="Aptos"/>
                        </a:rPr>
                        <a:t>No-cue accuracy</a:t>
                      </a:r>
                    </a:p>
                  </a:txBody>
                  <a:tcPr marL="95250" marR="95250" marT="57150" marB="57150">
                    <a:solidFill>
                      <a:srgbClr val="FFFFFF"/>
                    </a:solidFill>
                  </a:tcPr>
                </a:tc>
                <a:tc>
                  <a:txBody>
                    <a:bodyPr/>
                    <a:lstStyle/>
                    <a:p>
                      <a:r>
                        <a:rPr sz="1125" b="1">
                          <a:solidFill>
                            <a:srgbClr val="17212B"/>
                          </a:solidFill>
                          <a:latin typeface="Aptos"/>
                          <a:ea typeface="Aptos"/>
                          <a:cs typeface="Aptos"/>
                        </a:rPr>
                        <a:t>Related task, different score</a:t>
                      </a:r>
                    </a:p>
                  </a:txBody>
                  <a:tcPr marL="95250" marR="95250" marT="57150" marB="57150">
                    <a:solidFill>
                      <a:srgbClr val="FFFFFF"/>
                    </a:solidFill>
                  </a:tcPr>
                </a:tc>
              </a:tr>
              <a:tr h="587375">
                <a:tc>
                  <a:txBody>
                    <a:bodyPr/>
                    <a:lstStyle/>
                    <a:p>
                      <a:r>
                        <a:rPr sz="1125" b="1">
                          <a:solidFill>
                            <a:srgbClr val="17212B"/>
                          </a:solidFill>
                          <a:latin typeface="Aptos"/>
                          <a:ea typeface="Aptos"/>
                          <a:cs typeface="Aptos"/>
                        </a:rPr>
                        <a:t>Can models identify the factor behind a choice?</a:t>
                      </a:r>
                    </a:p>
                  </a:txBody>
                  <a:tcPr marL="95250" marR="95250" marT="57150" marB="57150">
                    <a:solidFill>
                      <a:srgbClr val="FFFFFF"/>
                    </a:solidFill>
                  </a:tcPr>
                </a:tc>
                <a:tc>
                  <a:txBody>
                    <a:bodyPr/>
                    <a:lstStyle/>
                    <a:p>
                      <a:r>
                        <a:rPr sz="1125">
                          <a:solidFill>
                            <a:srgbClr val="17212B"/>
                          </a:solidFill>
                          <a:latin typeface="Aptos"/>
                          <a:ea typeface="Aptos"/>
                          <a:cs typeface="Aptos"/>
                        </a:rPr>
                        <a:t>Llama: .0630 to .3859 weighted F1</a:t>
                      </a:r>
                    </a:p>
                  </a:txBody>
                  <a:tcPr marL="95250" marR="95250" marT="57150" marB="57150">
                    <a:solidFill>
                      <a:srgbClr val="FFFFFF"/>
                    </a:solidFill>
                  </a:tcPr>
                </a:tc>
                <a:tc>
                  <a:txBody>
                    <a:bodyPr/>
                    <a:lstStyle/>
                    <a:p>
                      <a:r>
                        <a:rPr sz="1125">
                          <a:solidFill>
                            <a:srgbClr val="17212B"/>
                          </a:solidFill>
                          <a:latin typeface="Aptos"/>
                          <a:ea typeface="Aptos"/>
                          <a:cs typeface="Aptos"/>
                        </a:rPr>
                        <a:t>No-cue accuracy</a:t>
                      </a:r>
                    </a:p>
                  </a:txBody>
                  <a:tcPr marL="95250" marR="95250" marT="57150" marB="57150">
                    <a:solidFill>
                      <a:srgbClr val="FFFFFF"/>
                    </a:solidFill>
                  </a:tcPr>
                </a:tc>
                <a:tc>
                  <a:txBody>
                    <a:bodyPr/>
                    <a:lstStyle/>
                    <a:p>
                      <a:r>
                        <a:rPr sz="1125" b="1">
                          <a:solidFill>
                            <a:srgbClr val="17212B"/>
                          </a:solidFill>
                          <a:latin typeface="Aptos"/>
                          <a:ea typeface="Aptos"/>
                          <a:cs typeface="Aptos"/>
                        </a:rPr>
                        <a:t>Related task, different score</a:t>
                      </a:r>
                    </a:p>
                  </a:txBody>
                  <a:tcPr marL="95250" marR="95250" marT="57150" marB="57150">
                    <a:solidFill>
                      <a:srgbClr val="FFFFFF"/>
                    </a:solidFill>
                  </a:tcPr>
                </a:tc>
              </a:tr>
              <a:tr h="587375">
                <a:tc>
                  <a:txBody>
                    <a:bodyPr/>
                    <a:lstStyle/>
                    <a:p>
                      <a:r>
                        <a:rPr sz="1125" b="1">
                          <a:solidFill>
                            <a:srgbClr val="17212B"/>
                          </a:solidFill>
                          <a:latin typeface="Aptos"/>
                          <a:ea typeface="Aptos"/>
                          <a:cs typeface="Aptos"/>
                        </a:rPr>
                        <a:t>Can models generate a plausible consequence?</a:t>
                      </a:r>
                    </a:p>
                  </a:txBody>
                  <a:tcPr marL="95250" marR="95250" marT="57150" marB="57150">
                    <a:solidFill>
                      <a:srgbClr val="FFFFFF"/>
                    </a:solidFill>
                  </a:tcPr>
                </a:tc>
                <a:tc>
                  <a:txBody>
                    <a:bodyPr/>
                    <a:lstStyle/>
                    <a:p>
                      <a:r>
                        <a:rPr sz="1125">
                          <a:solidFill>
                            <a:srgbClr val="17212B"/>
                          </a:solidFill>
                          <a:latin typeface="Aptos"/>
                          <a:ea typeface="Aptos"/>
                          <a:cs typeface="Aptos"/>
                        </a:rPr>
                        <a:t>Derived from 6 paper-table language cells: BLEU .0138, METEOR .0968, BERTScore .7193</a:t>
                      </a:r>
                    </a:p>
                  </a:txBody>
                  <a:tcPr marL="95250" marR="95250" marT="57150" marB="57150">
                    <a:solidFill>
                      <a:srgbClr val="FFFFFF"/>
                    </a:solidFill>
                  </a:tcPr>
                </a:tc>
                <a:tc>
                  <a:txBody>
                    <a:bodyPr/>
                    <a:lstStyle/>
                    <a:p>
                      <a:r>
                        <a:rPr sz="1125">
                          <a:solidFill>
                            <a:srgbClr val="17212B"/>
                          </a:solidFill>
                          <a:latin typeface="Aptos"/>
                          <a:ea typeface="Aptos"/>
                          <a:cs typeface="Aptos"/>
                        </a:rPr>
                        <a:t>METEOR and offline BERTScore, no BLEU</a:t>
                      </a:r>
                    </a:p>
                  </a:txBody>
                  <a:tcPr marL="95250" marR="95250" marT="57150" marB="57150">
                    <a:solidFill>
                      <a:srgbClr val="FFFFFF"/>
                    </a:solidFill>
                  </a:tcPr>
                </a:tc>
                <a:tc>
                  <a:txBody>
                    <a:bodyPr/>
                    <a:lstStyle/>
                    <a:p>
                      <a:r>
                        <a:rPr sz="1125" b="1">
                          <a:solidFill>
                            <a:srgbClr val="17212B"/>
                          </a:solidFill>
                          <a:latin typeface="Aptos"/>
                          <a:ea typeface="Aptos"/>
                          <a:cs typeface="Aptos"/>
                        </a:rPr>
                        <a:t>Related task, different setup</a:t>
                      </a:r>
                    </a:p>
                  </a:txBody>
                  <a:tcPr marL="95250" marR="95250" marT="57150" marB="57150">
                    <a:solidFill>
                      <a:srgbClr val="FFFFFF"/>
                    </a:solidFill>
                  </a:tcPr>
                </a:tc>
              </a:tr>
              <a:tr h="587375">
                <a:tc>
                  <a:txBody>
                    <a:bodyPr/>
                    <a:lstStyle/>
                    <a:p>
                      <a:r>
                        <a:rPr sz="1125" b="1">
                          <a:solidFill>
                            <a:srgbClr val="17212B"/>
                          </a:solidFill>
                          <a:latin typeface="Aptos"/>
                          <a:ea typeface="Aptos"/>
                          <a:cs typeface="Aptos"/>
                        </a:rPr>
                        <a:t>Do cues, language, and story source matter?</a:t>
                      </a:r>
                    </a:p>
                  </a:txBody>
                  <a:tcPr marL="95250" marR="95250" marT="57150" marB="57150">
                    <a:solidFill>
                      <a:srgbClr val="FFFFFF"/>
                    </a:solidFill>
                  </a:tcPr>
                </a:tc>
                <a:tc>
                  <a:txBody>
                    <a:bodyPr/>
                    <a:lstStyle/>
                    <a:p>
                      <a:r>
                        <a:rPr sz="1125">
                          <a:solidFill>
                            <a:srgbClr val="17212B"/>
                          </a:solidFill>
                          <a:latin typeface="Aptos"/>
                          <a:ea typeface="Aptos"/>
                          <a:cs typeface="Aptos"/>
                        </a:rPr>
                        <a:t>Higher with cues, in some languages, and for psychological rather than Reddit stories</a:t>
                      </a:r>
                    </a:p>
                  </a:txBody>
                  <a:tcPr marL="95250" marR="95250" marT="57150" marB="57150">
                    <a:solidFill>
                      <a:srgbClr val="FFFFFF"/>
                    </a:solidFill>
                  </a:tcPr>
                </a:tc>
                <a:tc>
                  <a:txBody>
                    <a:bodyPr/>
                    <a:lstStyle/>
                    <a:p>
                      <a:r>
                        <a:rPr sz="1125">
                          <a:solidFill>
                            <a:srgbClr val="17212B"/>
                          </a:solidFill>
                          <a:latin typeface="Aptos"/>
                          <a:ea typeface="Aptos"/>
                          <a:cs typeface="Aptos"/>
                        </a:rPr>
                        <a:t>No matching comparison</a:t>
                      </a:r>
                    </a:p>
                  </a:txBody>
                  <a:tcPr marL="95250" marR="95250" marT="57150" marB="57150">
                    <a:solidFill>
                      <a:srgbClr val="FFFFFF"/>
                    </a:solidFill>
                  </a:tcPr>
                </a:tc>
                <a:tc>
                  <a:txBody>
                    <a:bodyPr/>
                    <a:lstStyle/>
                    <a:p>
                      <a:r>
                        <a:rPr sz="1125" b="1">
                          <a:solidFill>
                            <a:srgbClr val="17212B"/>
                          </a:solidFill>
                          <a:latin typeface="Aptos"/>
                          <a:ea typeface="Aptos"/>
                          <a:cs typeface="Aptos"/>
                        </a:rPr>
                        <a:t>Not tested</a:t>
                      </a:r>
                    </a:p>
                  </a:txBody>
                  <a:tcPr marL="95250" marR="95250" marT="57150" marB="571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8DD606-CAC6-4D58-A39A-F085B5B293E5}"/>
              </a:ext>
            </a:extLst>
          </p:cNvPr>
          <p:cNvSpPr>
            <a:spLocks xmlns:a="http://schemas.openxmlformats.org/drawingml/2006/main" noGrp="1"/>
          </p:cNvSpPr>
          <p:nvPr/>
        </p:nvSpPr>
        <p:spPr>
          <a:xfrm xmlns:a="http://schemas.openxmlformats.org/drawingml/2006/main">
            <a:off x="876300" y="57721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12B"/>
                </a:solidFill>
                <a:latin typeface="Aptos"/>
                <a:ea typeface="Aptos"/>
                <a:cs typeface="Aptos"/>
              </a:defRPr>
            </a:pPr>
            <a:r>
              <a:rPr sz="1575" b="1">
                <a:solidFill>
                  <a:srgbClr val="17212B"/>
                </a:solidFill>
                <a:latin typeface="Aptos"/>
                <a:ea typeface="Aptos"/>
                <a:cs typeface="Aptos"/>
              </a:rPr>
              <a:t>Paper numbers and CEI numbers are not directly comparable.</a:t>
            </a:r>
          </a:p>
        </p:txBody>
      </p:sp>
    </p:spTree>
    <p:extLst>
      <p:ext uri="{BB962C8B-B14F-4D97-AF65-F5344CB8AC3E}">
        <p14:creationId xmlns:p14="http://schemas.microsoft.com/office/powerpoint/2010/main" val="1009548901"/>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73BB529-A7AE-4D08-8C90-6A89AB1733D6}"/>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MoReBench paper: harmlessness 81.1%, logical process 47.9%</a:t>
            </a:r>
          </a:p>
        </p:txBody>
      </p:sp>
      <p:sp>
        <p:nvSpPr>
          <p:cNvPr id="2" name="slide-subtitle">
            <a:extLst xmlns:a="http://schemas.openxmlformats.org/drawingml/2006/main">
              <a:ext uri="{FF2B5EF4-FFF2-40B4-BE49-F238E27FC236}">
                <a16:creationId xmlns:a16="http://schemas.microsoft.com/office/drawing/2014/main" id="{76433443-621F-4D37-897D-7A2917B4E00C}"/>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Paper question: which parts of a model's written reasoning before the final answer meet expert criteria?</a:t>
            </a:r>
          </a:p>
        </p:txBody>
      </p:sp>
      <p:sp>
        <p:nvSpPr>
          <p:cNvPr id="3" name="">
            <a:extLst xmlns:a="http://schemas.openxmlformats.org/drawingml/2006/main">
              <a:ext uri="{FF2B5EF4-FFF2-40B4-BE49-F238E27FC236}">
                <a16:creationId xmlns:a16="http://schemas.microsoft.com/office/drawing/2014/main" id="{C0347041-E9FA-4615-9B1C-A5DDF2CF8C10}"/>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graphicFrame>
        <p:nvGraphicFramePr>
          <p:cNvPr id="13" name="Chart"/>
          <p:cNvGraphicFramePr/>
          <p:nvPr/>
        </p:nvGraphicFramePr>
        <p:xfrm>
          <a:off xmlns:a="http://schemas.openxmlformats.org/drawingml/2006/main" x="1047750" y="1809750"/>
          <a:ext xmlns:a="http://schemas.openxmlformats.org/drawingml/2006/main" cx="7524750" cy="3714750"/>
        </p:xfrm>
        <a:graphic xmlns:a="http://schemas.openxmlformats.org/drawingml/2006/main">
          <a:graphicData uri="http://schemas.openxmlformats.org/drawingml/2006/chart">
            <c:chart xmlns:r="http://schemas.openxmlformats.org/officeDocument/2006/relationships" xmlns:c="http://schemas.openxmlformats.org/drawingml/2006/chart" r:id="Rd2a9151559bf4198"/>
          </a:graphicData>
        </a:graphic>
      </p:graphicFrame>
      <p:sp>
        <p:nvSpPr>
          <p:cNvPr id="5" name="">
            <a:extLst xmlns:a="http://schemas.openxmlformats.org/drawingml/2006/main">
              <a:ext uri="{FF2B5EF4-FFF2-40B4-BE49-F238E27FC236}">
                <a16:creationId xmlns:a16="http://schemas.microsoft.com/office/drawing/2014/main" id="{173DC5A3-B036-46C2-A297-BC1057B54BDA}"/>
              </a:ext>
            </a:extLst>
          </p:cNvPr>
          <p:cNvSpPr>
            <a:spLocks xmlns:a="http://schemas.openxmlformats.org/drawingml/2006/main" noGrp="1"/>
          </p:cNvSpPr>
          <p:nvPr/>
        </p:nvSpPr>
        <p:spPr>
          <a:xfrm xmlns:a="http://schemas.openxmlformats.org/drawingml/2006/main">
            <a:off x="9124950" y="2190750"/>
            <a:ext cx="228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14856D"/>
                </a:solidFill>
                <a:latin typeface="Aptos"/>
                <a:ea typeface="Aptos"/>
                <a:cs typeface="Aptos"/>
              </a:defRPr>
            </a:pPr>
            <a:r>
              <a:rPr sz="2100" b="1">
                <a:solidFill>
                  <a:srgbClr val="14856D"/>
                </a:solidFill>
                <a:latin typeface="Aptos"/>
                <a:ea typeface="Aptos"/>
                <a:cs typeface="Aptos"/>
              </a:rPr>
              <a:t>81.1%</a:t>
            </a:r>
          </a:p>
          <a:p xmlns:a="http://schemas.openxmlformats.org/drawingml/2006/main">
            <a:pPr algn="l">
              <a:defRPr sz="2100" b="1">
                <a:solidFill>
                  <a:srgbClr val="14856D"/>
                </a:solidFill>
                <a:latin typeface="Aptos"/>
                <a:ea typeface="Aptos"/>
                <a:cs typeface="Aptos"/>
              </a:defRPr>
            </a:pPr>
            <a:r>
              <a:rPr sz="2100" b="1">
                <a:solidFill>
                  <a:srgbClr val="14856D"/>
                </a:solidFill>
                <a:latin typeface="Aptos"/>
                <a:ea typeface="Aptos"/>
                <a:cs typeface="Aptos"/>
              </a:rPr>
              <a:t>harmless</a:t>
            </a:r>
          </a:p>
        </p:txBody>
      </p:sp>
      <p:sp>
        <p:nvSpPr>
          <p:cNvPr id="6" name="">
            <a:extLst xmlns:a="http://schemas.openxmlformats.org/drawingml/2006/main">
              <a:ext uri="{FF2B5EF4-FFF2-40B4-BE49-F238E27FC236}">
                <a16:creationId xmlns:a16="http://schemas.microsoft.com/office/drawing/2014/main" id="{369D37AF-7733-4D73-9E2C-9C2EE9444A86}"/>
              </a:ext>
            </a:extLst>
          </p:cNvPr>
          <p:cNvSpPr>
            <a:spLocks xmlns:a="http://schemas.openxmlformats.org/drawingml/2006/main" noGrp="1"/>
          </p:cNvSpPr>
          <p:nvPr/>
        </p:nvSpPr>
        <p:spPr>
          <a:xfrm xmlns:a="http://schemas.openxmlformats.org/drawingml/2006/main">
            <a:off x="9124950" y="3333750"/>
            <a:ext cx="228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CF5D4A"/>
                </a:solidFill>
                <a:latin typeface="Aptos"/>
                <a:ea typeface="Aptos"/>
                <a:cs typeface="Aptos"/>
              </a:defRPr>
            </a:pPr>
            <a:r>
              <a:rPr sz="2100" b="1">
                <a:solidFill>
                  <a:srgbClr val="CF5D4A"/>
                </a:solidFill>
                <a:latin typeface="Aptos"/>
                <a:ea typeface="Aptos"/>
                <a:cs typeface="Aptos"/>
              </a:rPr>
              <a:t>47.9%</a:t>
            </a:r>
          </a:p>
          <a:p xmlns:a="http://schemas.openxmlformats.org/drawingml/2006/main">
            <a:pPr algn="l">
              <a:defRPr sz="2100" b="1">
                <a:solidFill>
                  <a:srgbClr val="CF5D4A"/>
                </a:solidFill>
                <a:latin typeface="Aptos"/>
                <a:ea typeface="Aptos"/>
                <a:cs typeface="Aptos"/>
              </a:defRPr>
            </a:pPr>
            <a:r>
              <a:rPr sz="2100" b="1">
                <a:solidFill>
                  <a:srgbClr val="CF5D4A"/>
                </a:solidFill>
                <a:latin typeface="Aptos"/>
                <a:ea typeface="Aptos"/>
                <a:cs typeface="Aptos"/>
              </a:rPr>
              <a:t>logical process</a:t>
            </a:r>
          </a:p>
        </p:txBody>
      </p:sp>
      <p:sp>
        <p:nvSpPr>
          <p:cNvPr id="7" name="">
            <a:extLst xmlns:a="http://schemas.openxmlformats.org/drawingml/2006/main">
              <a:ext uri="{FF2B5EF4-FFF2-40B4-BE49-F238E27FC236}">
                <a16:creationId xmlns:a16="http://schemas.microsoft.com/office/drawing/2014/main" id="{F5767914-E85B-4A9C-AA5B-DF9C1CF6F494}"/>
              </a:ext>
            </a:extLst>
          </p:cNvPr>
          <p:cNvSpPr>
            <a:spLocks xmlns:a="http://schemas.openxmlformats.org/drawingml/2006/main" noGrp="1"/>
          </p:cNvSpPr>
          <p:nvPr/>
        </p:nvSpPr>
        <p:spPr>
          <a:xfrm xmlns:a="http://schemas.openxmlformats.org/drawingml/2006/main">
            <a:off x="9124950" y="46291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The CEI keyword check is not the same expert review.</a:t>
            </a:r>
          </a:p>
        </p:txBody>
      </p:sp>
      <p:sp>
        <p:nvSpPr>
          <p:cNvPr id="8" name="">
            <a:extLst xmlns:a="http://schemas.openxmlformats.org/drawingml/2006/main">
              <a:ext uri="{FF2B5EF4-FFF2-40B4-BE49-F238E27FC236}">
                <a16:creationId xmlns:a16="http://schemas.microsoft.com/office/drawing/2014/main" id="{4C3EE33D-D1AA-452D-83F9-C253CF337F97}"/>
              </a:ext>
            </a:extLst>
          </p:cNvPr>
          <p:cNvSpPr>
            <a:spLocks xmlns:a="http://schemas.openxmlformats.org/drawingml/2006/main" noGrp="1"/>
          </p:cNvSpPr>
          <p:nvPr/>
        </p:nvSpPr>
        <p:spPr>
          <a:xfrm xmlns:a="http://schemas.openxmlformats.org/drawingml/2006/main">
            <a:off x="2857500" y="55816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lgn="ctr">
              <a:defRPr sz="1050" b="1">
                <a:solidFill>
                  <a:srgbClr val="66727E"/>
                </a:solidFill>
                <a:latin typeface="Aptos"/>
                <a:ea typeface="Aptos"/>
                <a:cs typeface="Aptos"/>
              </a:defRPr>
            </a:pPr>
            <a:r>
              <a:rPr sz="1050" b="1">
                <a:solidFill>
                  <a:srgbClr val="66727E"/>
                </a:solidFill>
                <a:latin typeface="Aptos"/>
                <a:ea typeface="Aptos"/>
                <a:cs typeface="Aptos"/>
              </a:rPr>
              <a:t>x = expert criteria satisfied (%)</a:t>
            </a:r>
          </a:p>
        </p:txBody>
      </p:sp>
      <p:sp>
        <p:nvSpPr>
          <p:cNvPr id="9" name="">
            <a:extLst xmlns:a="http://schemas.openxmlformats.org/drawingml/2006/main">
              <a:ext uri="{FF2B5EF4-FFF2-40B4-BE49-F238E27FC236}">
                <a16:creationId xmlns:a16="http://schemas.microsoft.com/office/drawing/2014/main" id="{7B4BAA4F-DFFB-41F1-BE64-F4D83860F984}"/>
              </a:ext>
            </a:extLst>
          </p:cNvPr>
          <p:cNvSpPr>
            <a:spLocks xmlns:a="http://schemas.openxmlformats.org/drawingml/2006/main" noGrp="1"/>
          </p:cNvSpPr>
          <p:nvPr/>
        </p:nvSpPr>
        <p:spPr>
          <a:xfrm xmlns:a="http://schemas.openxmlformats.org/drawingml/2006/main">
            <a:off x="1143000" y="58674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0">
                <a:solidFill>
                  <a:srgbClr val="66727E"/>
                </a:solidFill>
                <a:latin typeface="Aptos"/>
                <a:ea typeface="Aptos"/>
                <a:cs typeface="Aptos"/>
              </a:defRPr>
            </a:pPr>
            <a:r>
              <a:rPr sz="1125" b="0">
                <a:solidFill>
                  <a:srgbClr val="66727E"/>
                </a:solidFill>
                <a:latin typeface="Aptos"/>
                <a:ea typeface="Aptos"/>
                <a:cs typeface="Aptos"/>
              </a:rPr>
              <a:t>Paper Table 2 uses thinking traces: written reasoning before the final answer. Nearby text gives different summaries.</a:t>
            </a:r>
          </a:p>
        </p:txBody>
      </p:sp>
    </p:spTree>
    <p:extLst>
      <p:ext uri="{BB962C8B-B14F-4D97-AF65-F5344CB8AC3E}">
        <p14:creationId xmlns:p14="http://schemas.microsoft.com/office/powerpoint/2010/main" val="40843211"/>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7" name="slide-title">
            <a:extLst xmlns:a="http://schemas.openxmlformats.org/drawingml/2006/main">
              <a:ext uri="{FF2B5EF4-FFF2-40B4-BE49-F238E27FC236}">
                <a16:creationId xmlns:a16="http://schemas.microsoft.com/office/drawing/2014/main" id="{8AB60201-6310-4785-BE82-DD3DB215F56C}"/>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MoralLens paper: reasoning first shifts reasons and choices</a:t>
            </a:r>
          </a:p>
        </p:txBody>
      </p:sp>
      <p:sp>
        <p:nvSpPr>
          <p:cNvPr id="2" name="slide-subtitle">
            <a:extLst xmlns:a="http://schemas.openxmlformats.org/drawingml/2006/main">
              <a:ext uri="{FF2B5EF4-FFF2-40B4-BE49-F238E27FC236}">
                <a16:creationId xmlns:a16="http://schemas.microsoft.com/office/drawing/2014/main" id="{6693246F-CCC9-4FB3-8241-AEB53AA6BE09}"/>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Reason score: .230 to .052. Larger-group choices: .641 to .792.</a:t>
            </a:r>
          </a:p>
        </p:txBody>
      </p:sp>
      <p:sp>
        <p:nvSpPr>
          <p:cNvPr id="3" name="">
            <a:extLst xmlns:a="http://schemas.openxmlformats.org/drawingml/2006/main">
              <a:ext uri="{FF2B5EF4-FFF2-40B4-BE49-F238E27FC236}">
                <a16:creationId xmlns:a16="http://schemas.microsoft.com/office/drawing/2014/main" id="{10729447-5CC5-481D-90F3-10B73D556BF6}"/>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C1999B2B-8EB8-4766-8B27-C6E5097502EC}"/>
              </a:ext>
            </a:extLst>
          </p:cNvPr>
          <p:cNvSpPr>
            <a:spLocks xmlns:a="http://schemas.openxmlformats.org/drawingml/2006/main" noGrp="1"/>
          </p:cNvSpPr>
          <p:nvPr/>
        </p:nvSpPr>
        <p:spPr>
          <a:xfrm xmlns:a="http://schemas.openxmlformats.org/drawingml/2006/main">
            <a:off x="838200" y="1809750"/>
            <a:ext cx="5048250" cy="3476625"/>
          </a:xfrm>
          <a:prstGeom xmlns:a="http://schemas.openxmlformats.org/drawingml/2006/main" prst="roundRect">
            <a:avLst>
              <a:gd name="adj" fmla="val 4932"/>
            </a:avLst>
          </a:prstGeom>
          <a:solidFill xmlns:a="http://schemas.openxmlformats.org/drawingml/2006/main">
            <a:srgbClr val="FFFFFF"/>
          </a:solidFill>
          <a:ln xmlns:a="http://schemas.openxmlformats.org/drawingml/2006/main" w="19050">
            <a:solidFill>
              <a:srgbClr val="6E5AA8"/>
            </a:solidFill>
            <a:prstDash val="solid"/>
          </a:ln>
        </p:spPr>
      </p:sp>
      <p:sp>
        <p:nvSpPr>
          <p:cNvPr id="5" name="">
            <a:extLst xmlns:a="http://schemas.openxmlformats.org/drawingml/2006/main">
              <a:ext uri="{FF2B5EF4-FFF2-40B4-BE49-F238E27FC236}">
                <a16:creationId xmlns:a16="http://schemas.microsoft.com/office/drawing/2014/main" id="{068608B3-C4C1-4399-8816-AEEE278A8E7B}"/>
              </a:ext>
            </a:extLst>
          </p:cNvPr>
          <p:cNvSpPr>
            <a:spLocks xmlns:a="http://schemas.openxmlformats.org/drawingml/2006/main" noGrp="1"/>
          </p:cNvSpPr>
          <p:nvPr/>
        </p:nvSpPr>
        <p:spPr>
          <a:xfrm xmlns:a="http://schemas.openxmlformats.org/drawingml/2006/main">
            <a:off x="1104900" y="2038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lgn="l">
              <a:defRPr sz="1950" b="1">
                <a:solidFill>
                  <a:srgbClr val="6E5AA8"/>
                </a:solidFill>
                <a:latin typeface="Aptos"/>
                <a:ea typeface="Aptos"/>
                <a:cs typeface="Aptos"/>
              </a:defRPr>
            </a:pPr>
            <a:r>
              <a:rPr sz="1950" b="1">
                <a:solidFill>
                  <a:srgbClr val="6E5AA8"/>
                </a:solidFill>
                <a:latin typeface="Aptos"/>
                <a:ea typeface="Aptos"/>
                <a:cs typeface="Aptos"/>
              </a:rPr>
              <a:t>CD GAP</a:t>
            </a:r>
          </a:p>
        </p:txBody>
      </p:sp>
      <p:sp>
        <p:nvSpPr>
          <p:cNvPr id="6" name="">
            <a:extLst xmlns:a="http://schemas.openxmlformats.org/drawingml/2006/main">
              <a:ext uri="{FF2B5EF4-FFF2-40B4-BE49-F238E27FC236}">
                <a16:creationId xmlns:a16="http://schemas.microsoft.com/office/drawing/2014/main" id="{83BAC3AF-4135-4C8F-A6C1-F8EF7F621035}"/>
              </a:ext>
            </a:extLst>
          </p:cNvPr>
          <p:cNvSpPr>
            <a:spLocks xmlns:a="http://schemas.openxmlformats.org/drawingml/2006/main" noGrp="1"/>
          </p:cNvSpPr>
          <p:nvPr/>
        </p:nvSpPr>
        <p:spPr>
          <a:xfrm xmlns:a="http://schemas.openxmlformats.org/drawingml/2006/main">
            <a:off x="1104900" y="2400300"/>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−1 deontological · +1 consequentialist</a:t>
            </a:r>
          </a:p>
        </p:txBody>
      </p:sp>
      <p:sp>
        <p:nvSpPr>
          <p:cNvPr id="7" name="">
            <a:extLst xmlns:a="http://schemas.openxmlformats.org/drawingml/2006/main">
              <a:ext uri="{FF2B5EF4-FFF2-40B4-BE49-F238E27FC236}">
                <a16:creationId xmlns:a16="http://schemas.microsoft.com/office/drawing/2014/main" id="{11889E0A-7A4A-44FC-955B-59611ACB4C7F}"/>
              </a:ext>
            </a:extLst>
          </p:cNvPr>
          <p:cNvSpPr>
            <a:spLocks xmlns:a="http://schemas.openxmlformats.org/drawingml/2006/main" noGrp="1"/>
          </p:cNvSpPr>
          <p:nvPr/>
        </p:nvSpPr>
        <p:spPr>
          <a:xfrm xmlns:a="http://schemas.openxmlformats.org/drawingml/2006/main">
            <a:off x="1390650" y="3429000"/>
            <a:ext cx="3943350" cy="0"/>
          </a:xfrm>
          <a:prstGeom xmlns:a="http://schemas.openxmlformats.org/drawingml/2006/main" prst="line">
            <a:avLst/>
          </a:prstGeom>
          <a:noFill xmlns:a="http://schemas.openxmlformats.org/drawingml/2006/main"/>
          <a:ln xmlns:a="http://schemas.openxmlformats.org/drawingml/2006/main" w="28575">
            <a:solidFill>
              <a:srgbClr val="D8D9D5"/>
            </a:solidFill>
            <a:prstDash val="solid"/>
          </a:ln>
        </p:spPr>
      </p:sp>
      <p:sp>
        <p:nvSpPr>
          <p:cNvPr id="8" name="">
            <a:extLst xmlns:a="http://schemas.openxmlformats.org/drawingml/2006/main">
              <a:ext uri="{FF2B5EF4-FFF2-40B4-BE49-F238E27FC236}">
                <a16:creationId xmlns:a16="http://schemas.microsoft.com/office/drawing/2014/main" id="{9EB72371-AB93-4150-B83E-81DBC82DB9DC}"/>
              </a:ext>
            </a:extLst>
          </p:cNvPr>
          <p:cNvSpPr>
            <a:spLocks xmlns:a="http://schemas.openxmlformats.org/drawingml/2006/main" noGrp="1"/>
          </p:cNvSpPr>
          <p:nvPr/>
        </p:nvSpPr>
        <p:spPr>
          <a:xfrm xmlns:a="http://schemas.openxmlformats.org/drawingml/2006/main">
            <a:off x="1390650"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9" name="">
            <a:extLst xmlns:a="http://schemas.openxmlformats.org/drawingml/2006/main">
              <a:ext uri="{FF2B5EF4-FFF2-40B4-BE49-F238E27FC236}">
                <a16:creationId xmlns:a16="http://schemas.microsoft.com/office/drawing/2014/main" id="{A806CD5D-709C-4826-BD80-8A72FE5C7A61}"/>
              </a:ext>
            </a:extLst>
          </p:cNvPr>
          <p:cNvSpPr>
            <a:spLocks xmlns:a="http://schemas.openxmlformats.org/drawingml/2006/main" noGrp="1"/>
          </p:cNvSpPr>
          <p:nvPr/>
        </p:nvSpPr>
        <p:spPr>
          <a:xfrm xmlns:a="http://schemas.openxmlformats.org/drawingml/2006/main">
            <a:off x="1162050"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BB16A79-425C-40E5-9268-87A7F0E38BC0}"/>
              </a:ext>
            </a:extLst>
          </p:cNvPr>
          <p:cNvSpPr>
            <a:spLocks xmlns:a="http://schemas.openxmlformats.org/drawingml/2006/main" noGrp="1"/>
          </p:cNvSpPr>
          <p:nvPr/>
        </p:nvSpPr>
        <p:spPr>
          <a:xfrm xmlns:a="http://schemas.openxmlformats.org/drawingml/2006/main">
            <a:off x="3362325"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11" name="">
            <a:extLst xmlns:a="http://schemas.openxmlformats.org/drawingml/2006/main">
              <a:ext uri="{FF2B5EF4-FFF2-40B4-BE49-F238E27FC236}">
                <a16:creationId xmlns:a16="http://schemas.microsoft.com/office/drawing/2014/main" id="{57A24BE0-8015-40F8-8F7B-829F63E60C9B}"/>
              </a:ext>
            </a:extLst>
          </p:cNvPr>
          <p:cNvSpPr>
            <a:spLocks xmlns:a="http://schemas.openxmlformats.org/drawingml/2006/main" noGrp="1"/>
          </p:cNvSpPr>
          <p:nvPr/>
        </p:nvSpPr>
        <p:spPr>
          <a:xfrm xmlns:a="http://schemas.openxmlformats.org/drawingml/2006/main">
            <a:off x="3133725"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0</a:t>
            </a:r>
          </a:p>
        </p:txBody>
      </p:sp>
      <p:sp>
        <p:nvSpPr>
          <p:cNvPr id="12" name="">
            <a:extLst xmlns:a="http://schemas.openxmlformats.org/drawingml/2006/main">
              <a:ext uri="{FF2B5EF4-FFF2-40B4-BE49-F238E27FC236}">
                <a16:creationId xmlns:a16="http://schemas.microsoft.com/office/drawing/2014/main" id="{F73325AF-D481-4EE4-8607-4B3890650C1F}"/>
              </a:ext>
            </a:extLst>
          </p:cNvPr>
          <p:cNvSpPr>
            <a:spLocks xmlns:a="http://schemas.openxmlformats.org/drawingml/2006/main" noGrp="1"/>
          </p:cNvSpPr>
          <p:nvPr/>
        </p:nvSpPr>
        <p:spPr>
          <a:xfrm xmlns:a="http://schemas.openxmlformats.org/drawingml/2006/main">
            <a:off x="5334000"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13" name="">
            <a:extLst xmlns:a="http://schemas.openxmlformats.org/drawingml/2006/main">
              <a:ext uri="{FF2B5EF4-FFF2-40B4-BE49-F238E27FC236}">
                <a16:creationId xmlns:a16="http://schemas.microsoft.com/office/drawing/2014/main" id="{B04AE5F7-FC3C-4AB6-8562-E8D703C14860}"/>
              </a:ext>
            </a:extLst>
          </p:cNvPr>
          <p:cNvSpPr>
            <a:spLocks xmlns:a="http://schemas.openxmlformats.org/drawingml/2006/main" noGrp="1"/>
          </p:cNvSpPr>
          <p:nvPr/>
        </p:nvSpPr>
        <p:spPr>
          <a:xfrm xmlns:a="http://schemas.openxmlformats.org/drawingml/2006/main">
            <a:off x="5105400"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1</a:t>
            </a:r>
          </a:p>
        </p:txBody>
      </p:sp>
      <p:sp>
        <p:nvSpPr>
          <p:cNvPr id="14" name="">
            <a:extLst xmlns:a="http://schemas.openxmlformats.org/drawingml/2006/main">
              <a:ext uri="{FF2B5EF4-FFF2-40B4-BE49-F238E27FC236}">
                <a16:creationId xmlns:a16="http://schemas.microsoft.com/office/drawing/2014/main" id="{53938462-33BC-4A73-8D36-67D1D8AA2836}"/>
              </a:ext>
            </a:extLst>
          </p:cNvPr>
          <p:cNvSpPr>
            <a:spLocks xmlns:a="http://schemas.openxmlformats.org/drawingml/2006/main" noGrp="1"/>
          </p:cNvSpPr>
          <p:nvPr/>
        </p:nvSpPr>
        <p:spPr>
          <a:xfrm xmlns:a="http://schemas.openxmlformats.org/drawingml/2006/main">
            <a:off x="3464852" y="3429000"/>
            <a:ext cx="350958" cy="0"/>
          </a:xfrm>
          <a:prstGeom xmlns:a="http://schemas.openxmlformats.org/drawingml/2006/main" prst="line">
            <a:avLst/>
          </a:prstGeom>
          <a:noFill xmlns:a="http://schemas.openxmlformats.org/drawingml/2006/main"/>
          <a:ln xmlns:a="http://schemas.openxmlformats.org/drawingml/2006/main" w="47625">
            <a:solidFill>
              <a:srgbClr val="6E5AA8"/>
            </a:solidFill>
            <a:prstDash val="solid"/>
          </a:ln>
        </p:spPr>
      </p:sp>
      <p:sp>
        <p:nvSpPr>
          <p:cNvPr id="15" name="">
            <a:extLst xmlns:a="http://schemas.openxmlformats.org/drawingml/2006/main">
              <a:ext uri="{FF2B5EF4-FFF2-40B4-BE49-F238E27FC236}">
                <a16:creationId xmlns:a16="http://schemas.microsoft.com/office/drawing/2014/main" id="{BF1FC6DD-4D61-43A3-912B-96008F10ECE0}"/>
              </a:ext>
            </a:extLst>
          </p:cNvPr>
          <p:cNvSpPr>
            <a:spLocks xmlns:a="http://schemas.openxmlformats.org/drawingml/2006/main" noGrp="1"/>
          </p:cNvSpPr>
          <p:nvPr/>
        </p:nvSpPr>
        <p:spPr>
          <a:xfrm xmlns:a="http://schemas.openxmlformats.org/drawingml/2006/main">
            <a:off x="3720560" y="3333750"/>
            <a:ext cx="190500" cy="190500"/>
          </a:xfrm>
          <a:prstGeom xmlns:a="http://schemas.openxmlformats.org/drawingml/2006/main" prst="ellipse">
            <a:avLst/>
          </a:prstGeom>
          <a:solidFill xmlns:a="http://schemas.openxmlformats.org/drawingml/2006/main">
            <a:srgbClr val="D3971E"/>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AF67FA43-17E3-4CC0-AA69-F3D94B501E15}"/>
              </a:ext>
            </a:extLst>
          </p:cNvPr>
          <p:cNvSpPr>
            <a:spLocks xmlns:a="http://schemas.openxmlformats.org/drawingml/2006/main" noGrp="1"/>
          </p:cNvSpPr>
          <p:nvPr/>
        </p:nvSpPr>
        <p:spPr>
          <a:xfrm xmlns:a="http://schemas.openxmlformats.org/drawingml/2006/main">
            <a:off x="3130010" y="2914650"/>
            <a:ext cx="137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75" b="1">
                <a:solidFill>
                  <a:srgbClr val="D3971E"/>
                </a:solidFill>
                <a:latin typeface="Aptos"/>
                <a:ea typeface="Aptos"/>
                <a:cs typeface="Aptos"/>
              </a:defRPr>
            </a:pPr>
            <a:r>
              <a:rPr sz="975" b="1">
                <a:solidFill>
                  <a:srgbClr val="D3971E"/>
                </a:solidFill>
                <a:latin typeface="Aptos"/>
                <a:ea typeface="Aptos"/>
                <a:cs typeface="Aptos"/>
              </a:rPr>
              <a:t>Decide → explain</a:t>
            </a:r>
          </a:p>
          <a:p xmlns:a="http://schemas.openxmlformats.org/drawingml/2006/main">
            <a:pPr algn="ctr">
              <a:defRPr sz="975" b="1">
                <a:solidFill>
                  <a:srgbClr val="D3971E"/>
                </a:solidFill>
                <a:latin typeface="Aptos"/>
                <a:ea typeface="Aptos"/>
                <a:cs typeface="Aptos"/>
              </a:defRPr>
            </a:pPr>
            <a:r>
              <a:rPr sz="975" b="1">
                <a:solidFill>
                  <a:srgbClr val="D3971E"/>
                </a:solidFill>
                <a:latin typeface="Aptos"/>
                <a:ea typeface="Aptos"/>
                <a:cs typeface="Aptos"/>
              </a:rPr>
              <a:t>0.230</a:t>
            </a:r>
          </a:p>
        </p:txBody>
      </p:sp>
      <p:sp>
        <p:nvSpPr>
          <p:cNvPr id="17" name="">
            <a:extLst xmlns:a="http://schemas.openxmlformats.org/drawingml/2006/main">
              <a:ext uri="{FF2B5EF4-FFF2-40B4-BE49-F238E27FC236}">
                <a16:creationId xmlns:a16="http://schemas.microsoft.com/office/drawing/2014/main" id="{D8E3A038-956A-4FB0-890E-8417F3C17362}"/>
              </a:ext>
            </a:extLst>
          </p:cNvPr>
          <p:cNvSpPr>
            <a:spLocks xmlns:a="http://schemas.openxmlformats.org/drawingml/2006/main" noGrp="1"/>
          </p:cNvSpPr>
          <p:nvPr/>
        </p:nvSpPr>
        <p:spPr>
          <a:xfrm xmlns:a="http://schemas.openxmlformats.org/drawingml/2006/main">
            <a:off x="3369602" y="3333750"/>
            <a:ext cx="190500" cy="190500"/>
          </a:xfrm>
          <a:prstGeom xmlns:a="http://schemas.openxmlformats.org/drawingml/2006/main" prst="ellipse">
            <a:avLst/>
          </a:prstGeom>
          <a:solidFill xmlns:a="http://schemas.openxmlformats.org/drawingml/2006/main">
            <a:srgbClr val="6E5AA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B072EAC1-ECC3-49F7-B55E-1115479F3F54}"/>
              </a:ext>
            </a:extLst>
          </p:cNvPr>
          <p:cNvSpPr>
            <a:spLocks xmlns:a="http://schemas.openxmlformats.org/drawingml/2006/main" noGrp="1"/>
          </p:cNvSpPr>
          <p:nvPr/>
        </p:nvSpPr>
        <p:spPr>
          <a:xfrm xmlns:a="http://schemas.openxmlformats.org/drawingml/2006/main">
            <a:off x="2779052" y="3790950"/>
            <a:ext cx="137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75" b="1">
                <a:solidFill>
                  <a:srgbClr val="6E5AA8"/>
                </a:solidFill>
                <a:latin typeface="Aptos"/>
                <a:ea typeface="Aptos"/>
                <a:cs typeface="Aptos"/>
              </a:defRPr>
            </a:pPr>
            <a:r>
              <a:rPr sz="975" b="1">
                <a:solidFill>
                  <a:srgbClr val="6E5AA8"/>
                </a:solidFill>
                <a:latin typeface="Aptos"/>
                <a:ea typeface="Aptos"/>
                <a:cs typeface="Aptos"/>
              </a:rPr>
              <a:t>Reason → decide</a:t>
            </a:r>
          </a:p>
          <a:p xmlns:a="http://schemas.openxmlformats.org/drawingml/2006/main">
            <a:pPr algn="ctr">
              <a:defRPr sz="975" b="1">
                <a:solidFill>
                  <a:srgbClr val="6E5AA8"/>
                </a:solidFill>
                <a:latin typeface="Aptos"/>
                <a:ea typeface="Aptos"/>
                <a:cs typeface="Aptos"/>
              </a:defRPr>
            </a:pPr>
            <a:r>
              <a:rPr sz="975" b="1">
                <a:solidFill>
                  <a:srgbClr val="6E5AA8"/>
                </a:solidFill>
                <a:latin typeface="Aptos"/>
                <a:ea typeface="Aptos"/>
                <a:cs typeface="Aptos"/>
              </a:rPr>
              <a:t>0.052</a:t>
            </a:r>
          </a:p>
        </p:txBody>
      </p:sp>
      <p:sp>
        <p:nvSpPr>
          <p:cNvPr id="19" name="">
            <a:extLst xmlns:a="http://schemas.openxmlformats.org/drawingml/2006/main">
              <a:ext uri="{FF2B5EF4-FFF2-40B4-BE49-F238E27FC236}">
                <a16:creationId xmlns:a16="http://schemas.microsoft.com/office/drawing/2014/main" id="{833841F2-F686-43DE-9BEE-06799B02C4CF}"/>
              </a:ext>
            </a:extLst>
          </p:cNvPr>
          <p:cNvSpPr>
            <a:spLocks xmlns:a="http://schemas.openxmlformats.org/drawingml/2006/main" noGrp="1"/>
          </p:cNvSpPr>
          <p:nvPr/>
        </p:nvSpPr>
        <p:spPr>
          <a:xfrm xmlns:a="http://schemas.openxmlformats.org/drawingml/2006/main">
            <a:off x="1104900" y="4495800"/>
            <a:ext cx="451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Reasoning first shifts the mean toward duty-based reasons</a:t>
            </a:r>
          </a:p>
        </p:txBody>
      </p:sp>
      <p:sp>
        <p:nvSpPr>
          <p:cNvPr id="20" name="">
            <a:extLst xmlns:a="http://schemas.openxmlformats.org/drawingml/2006/main">
              <a:ext uri="{FF2B5EF4-FFF2-40B4-BE49-F238E27FC236}">
                <a16:creationId xmlns:a16="http://schemas.microsoft.com/office/drawing/2014/main" id="{EE02ECD4-53A7-47EA-8DA9-601DF3203049}"/>
              </a:ext>
            </a:extLst>
          </p:cNvPr>
          <p:cNvSpPr>
            <a:spLocks xmlns:a="http://schemas.openxmlformats.org/drawingml/2006/main" noGrp="1"/>
          </p:cNvSpPr>
          <p:nvPr/>
        </p:nvSpPr>
        <p:spPr>
          <a:xfrm xmlns:a="http://schemas.openxmlformats.org/drawingml/2006/main">
            <a:off x="6305550" y="1809750"/>
            <a:ext cx="5048250" cy="3476625"/>
          </a:xfrm>
          <a:prstGeom xmlns:a="http://schemas.openxmlformats.org/drawingml/2006/main" prst="roundRect">
            <a:avLst>
              <a:gd name="adj" fmla="val 4932"/>
            </a:avLst>
          </a:prstGeom>
          <a:solidFill xmlns:a="http://schemas.openxmlformats.org/drawingml/2006/main">
            <a:srgbClr val="FFFFFF"/>
          </a:solidFill>
          <a:ln xmlns:a="http://schemas.openxmlformats.org/drawingml/2006/main" w="19050">
            <a:solidFill>
              <a:srgbClr val="14856D"/>
            </a:solidFill>
            <a:prstDash val="solid"/>
          </a:ln>
        </p:spPr>
      </p:sp>
      <p:sp>
        <p:nvSpPr>
          <p:cNvPr id="21" name="">
            <a:extLst xmlns:a="http://schemas.openxmlformats.org/drawingml/2006/main">
              <a:ext uri="{FF2B5EF4-FFF2-40B4-BE49-F238E27FC236}">
                <a16:creationId xmlns:a16="http://schemas.microsoft.com/office/drawing/2014/main" id="{295838BF-8F94-4743-8D71-49721618253A}"/>
              </a:ext>
            </a:extLst>
          </p:cNvPr>
          <p:cNvSpPr>
            <a:spLocks xmlns:a="http://schemas.openxmlformats.org/drawingml/2006/main" noGrp="1"/>
          </p:cNvSpPr>
          <p:nvPr/>
        </p:nvSpPr>
        <p:spPr>
          <a:xfrm xmlns:a="http://schemas.openxmlformats.org/drawingml/2006/main">
            <a:off x="6572250" y="2038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lgn="l">
              <a:defRPr sz="1950" b="1">
                <a:solidFill>
                  <a:srgbClr val="14856D"/>
                </a:solidFill>
                <a:latin typeface="Aptos"/>
                <a:ea typeface="Aptos"/>
                <a:cs typeface="Aptos"/>
              </a:defRPr>
            </a:pPr>
            <a:r>
              <a:rPr sz="1950" b="1">
                <a:solidFill>
                  <a:srgbClr val="14856D"/>
                </a:solidFill>
                <a:latin typeface="Aptos"/>
                <a:ea typeface="Aptos"/>
                <a:cs typeface="Aptos"/>
              </a:rPr>
              <a:t>Utility</a:t>
            </a:r>
          </a:p>
        </p:txBody>
      </p:sp>
      <p:sp>
        <p:nvSpPr>
          <p:cNvPr id="22" name="">
            <a:extLst xmlns:a="http://schemas.openxmlformats.org/drawingml/2006/main">
              <a:ext uri="{FF2B5EF4-FFF2-40B4-BE49-F238E27FC236}">
                <a16:creationId xmlns:a16="http://schemas.microsoft.com/office/drawing/2014/main" id="{D0B2EB9D-E2EA-4362-99BA-9CDC6EFC1B3F}"/>
              </a:ext>
            </a:extLst>
          </p:cNvPr>
          <p:cNvSpPr>
            <a:spLocks xmlns:a="http://schemas.openxmlformats.org/drawingml/2006/main" noGrp="1"/>
          </p:cNvSpPr>
          <p:nvPr/>
        </p:nvSpPr>
        <p:spPr>
          <a:xfrm xmlns:a="http://schemas.openxmlformats.org/drawingml/2006/main">
            <a:off x="6572250" y="2400300"/>
            <a:ext cx="4514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66727E"/>
                </a:solidFill>
                <a:latin typeface="Aptos"/>
                <a:ea typeface="Aptos"/>
                <a:cs typeface="Aptos"/>
              </a:defRPr>
            </a:pPr>
            <a:r>
              <a:rPr sz="1050" b="0">
                <a:solidFill>
                  <a:srgbClr val="66727E"/>
                </a:solidFill>
                <a:latin typeface="Aptos"/>
                <a:ea typeface="Aptos"/>
                <a:cs typeface="Aptos"/>
              </a:rPr>
              <a:t>Share choosing the larger group</a:t>
            </a:r>
          </a:p>
        </p:txBody>
      </p:sp>
      <p:sp>
        <p:nvSpPr>
          <p:cNvPr id="23" name="">
            <a:extLst xmlns:a="http://schemas.openxmlformats.org/drawingml/2006/main">
              <a:ext uri="{FF2B5EF4-FFF2-40B4-BE49-F238E27FC236}">
                <a16:creationId xmlns:a16="http://schemas.microsoft.com/office/drawing/2014/main" id="{F48E92C3-047D-4136-884C-0FAEA91F1EF1}"/>
              </a:ext>
            </a:extLst>
          </p:cNvPr>
          <p:cNvSpPr>
            <a:spLocks xmlns:a="http://schemas.openxmlformats.org/drawingml/2006/main" noGrp="1"/>
          </p:cNvSpPr>
          <p:nvPr/>
        </p:nvSpPr>
        <p:spPr>
          <a:xfrm xmlns:a="http://schemas.openxmlformats.org/drawingml/2006/main">
            <a:off x="6858000" y="3429000"/>
            <a:ext cx="3943350" cy="0"/>
          </a:xfrm>
          <a:prstGeom xmlns:a="http://schemas.openxmlformats.org/drawingml/2006/main" prst="line">
            <a:avLst/>
          </a:prstGeom>
          <a:noFill xmlns:a="http://schemas.openxmlformats.org/drawingml/2006/main"/>
          <a:ln xmlns:a="http://schemas.openxmlformats.org/drawingml/2006/main" w="28575">
            <a:solidFill>
              <a:srgbClr val="D8D9D5"/>
            </a:solidFill>
            <a:prstDash val="solid"/>
          </a:ln>
        </p:spPr>
      </p:sp>
      <p:sp>
        <p:nvSpPr>
          <p:cNvPr id="24" name="">
            <a:extLst xmlns:a="http://schemas.openxmlformats.org/drawingml/2006/main">
              <a:ext uri="{FF2B5EF4-FFF2-40B4-BE49-F238E27FC236}">
                <a16:creationId xmlns:a16="http://schemas.microsoft.com/office/drawing/2014/main" id="{17D3D7B1-16FA-4706-90A7-5FE99A4FDB29}"/>
              </a:ext>
            </a:extLst>
          </p:cNvPr>
          <p:cNvSpPr>
            <a:spLocks xmlns:a="http://schemas.openxmlformats.org/drawingml/2006/main" noGrp="1"/>
          </p:cNvSpPr>
          <p:nvPr/>
        </p:nvSpPr>
        <p:spPr>
          <a:xfrm xmlns:a="http://schemas.openxmlformats.org/drawingml/2006/main">
            <a:off x="6858000"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25" name="">
            <a:extLst xmlns:a="http://schemas.openxmlformats.org/drawingml/2006/main">
              <a:ext uri="{FF2B5EF4-FFF2-40B4-BE49-F238E27FC236}">
                <a16:creationId xmlns:a16="http://schemas.microsoft.com/office/drawing/2014/main" id="{196B84E6-40BA-4000-9CFB-9DD3D896D2C0}"/>
              </a:ext>
            </a:extLst>
          </p:cNvPr>
          <p:cNvSpPr>
            <a:spLocks xmlns:a="http://schemas.openxmlformats.org/drawingml/2006/main" noGrp="1"/>
          </p:cNvSpPr>
          <p:nvPr/>
        </p:nvSpPr>
        <p:spPr>
          <a:xfrm xmlns:a="http://schemas.openxmlformats.org/drawingml/2006/main">
            <a:off x="6629400"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0.0</a:t>
            </a:r>
          </a:p>
        </p:txBody>
      </p:sp>
      <p:sp>
        <p:nvSpPr>
          <p:cNvPr id="26" name="">
            <a:extLst xmlns:a="http://schemas.openxmlformats.org/drawingml/2006/main">
              <a:ext uri="{FF2B5EF4-FFF2-40B4-BE49-F238E27FC236}">
                <a16:creationId xmlns:a16="http://schemas.microsoft.com/office/drawing/2014/main" id="{C4A3BF2E-0DB5-4A26-9924-EB557B977674}"/>
              </a:ext>
            </a:extLst>
          </p:cNvPr>
          <p:cNvSpPr>
            <a:spLocks xmlns:a="http://schemas.openxmlformats.org/drawingml/2006/main" noGrp="1"/>
          </p:cNvSpPr>
          <p:nvPr/>
        </p:nvSpPr>
        <p:spPr>
          <a:xfrm xmlns:a="http://schemas.openxmlformats.org/drawingml/2006/main">
            <a:off x="8829675"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27" name="">
            <a:extLst xmlns:a="http://schemas.openxmlformats.org/drawingml/2006/main">
              <a:ext uri="{FF2B5EF4-FFF2-40B4-BE49-F238E27FC236}">
                <a16:creationId xmlns:a16="http://schemas.microsoft.com/office/drawing/2014/main" id="{3AA85E02-EFAF-428E-9810-9EA30FE1A050}"/>
              </a:ext>
            </a:extLst>
          </p:cNvPr>
          <p:cNvSpPr>
            <a:spLocks xmlns:a="http://schemas.openxmlformats.org/drawingml/2006/main" noGrp="1"/>
          </p:cNvSpPr>
          <p:nvPr/>
        </p:nvSpPr>
        <p:spPr>
          <a:xfrm xmlns:a="http://schemas.openxmlformats.org/drawingml/2006/main">
            <a:off x="8601075"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0.5</a:t>
            </a:r>
          </a:p>
        </p:txBody>
      </p:sp>
      <p:sp>
        <p:nvSpPr>
          <p:cNvPr id="28" name="">
            <a:extLst xmlns:a="http://schemas.openxmlformats.org/drawingml/2006/main">
              <a:ext uri="{FF2B5EF4-FFF2-40B4-BE49-F238E27FC236}">
                <a16:creationId xmlns:a16="http://schemas.microsoft.com/office/drawing/2014/main" id="{EBFDEE8C-BAF2-4D6F-BBB6-BFCF5AB247AB}"/>
              </a:ext>
            </a:extLst>
          </p:cNvPr>
          <p:cNvSpPr>
            <a:spLocks xmlns:a="http://schemas.openxmlformats.org/drawingml/2006/main" noGrp="1"/>
          </p:cNvSpPr>
          <p:nvPr/>
        </p:nvSpPr>
        <p:spPr>
          <a:xfrm xmlns:a="http://schemas.openxmlformats.org/drawingml/2006/main">
            <a:off x="10801350" y="3352800"/>
            <a:ext cx="0" cy="152400"/>
          </a:xfrm>
          <a:prstGeom xmlns:a="http://schemas.openxmlformats.org/drawingml/2006/main" prst="line">
            <a:avLst/>
          </a:prstGeom>
          <a:noFill xmlns:a="http://schemas.openxmlformats.org/drawingml/2006/main"/>
          <a:ln xmlns:a="http://schemas.openxmlformats.org/drawingml/2006/main" w="19050">
            <a:solidFill>
              <a:srgbClr val="D8D9D5"/>
            </a:solidFill>
            <a:prstDash val="solid"/>
          </a:ln>
        </p:spPr>
      </p:sp>
      <p:sp>
        <p:nvSpPr>
          <p:cNvPr id="29" name="">
            <a:extLst xmlns:a="http://schemas.openxmlformats.org/drawingml/2006/main">
              <a:ext uri="{FF2B5EF4-FFF2-40B4-BE49-F238E27FC236}">
                <a16:creationId xmlns:a16="http://schemas.microsoft.com/office/drawing/2014/main" id="{CBBD1E36-4B3B-455B-9EA5-3D5F6041BB93}"/>
              </a:ext>
            </a:extLst>
          </p:cNvPr>
          <p:cNvSpPr>
            <a:spLocks xmlns:a="http://schemas.openxmlformats.org/drawingml/2006/main" noGrp="1"/>
          </p:cNvSpPr>
          <p:nvPr/>
        </p:nvSpPr>
        <p:spPr>
          <a:xfrm xmlns:a="http://schemas.openxmlformats.org/drawingml/2006/main">
            <a:off x="10572750" y="35433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1.0</a:t>
            </a:r>
          </a:p>
        </p:txBody>
      </p:sp>
      <p:sp>
        <p:nvSpPr>
          <p:cNvPr id="30" name="">
            <a:extLst xmlns:a="http://schemas.openxmlformats.org/drawingml/2006/main">
              <a:ext uri="{FF2B5EF4-FFF2-40B4-BE49-F238E27FC236}">
                <a16:creationId xmlns:a16="http://schemas.microsoft.com/office/drawing/2014/main" id="{0E8BD55C-8F59-4802-A012-444D011503EB}"/>
              </a:ext>
            </a:extLst>
          </p:cNvPr>
          <p:cNvSpPr>
            <a:spLocks xmlns:a="http://schemas.openxmlformats.org/drawingml/2006/main" noGrp="1"/>
          </p:cNvSpPr>
          <p:nvPr/>
        </p:nvSpPr>
        <p:spPr>
          <a:xfrm xmlns:a="http://schemas.openxmlformats.org/drawingml/2006/main">
            <a:off x="9385687" y="3429000"/>
            <a:ext cx="595446" cy="0"/>
          </a:xfrm>
          <a:prstGeom xmlns:a="http://schemas.openxmlformats.org/drawingml/2006/main" prst="line">
            <a:avLst/>
          </a:prstGeom>
          <a:noFill xmlns:a="http://schemas.openxmlformats.org/drawingml/2006/main"/>
          <a:ln xmlns:a="http://schemas.openxmlformats.org/drawingml/2006/main" w="47625">
            <a:solidFill>
              <a:srgbClr val="14856D"/>
            </a:solidFill>
            <a:prstDash val="solid"/>
          </a:ln>
        </p:spPr>
      </p:sp>
      <p:sp>
        <p:nvSpPr>
          <p:cNvPr id="31" name="">
            <a:extLst xmlns:a="http://schemas.openxmlformats.org/drawingml/2006/main">
              <a:ext uri="{FF2B5EF4-FFF2-40B4-BE49-F238E27FC236}">
                <a16:creationId xmlns:a16="http://schemas.microsoft.com/office/drawing/2014/main" id="{500B2CAE-A138-484C-87B2-76599F8487B0}"/>
              </a:ext>
            </a:extLst>
          </p:cNvPr>
          <p:cNvSpPr>
            <a:spLocks xmlns:a="http://schemas.openxmlformats.org/drawingml/2006/main" noGrp="1"/>
          </p:cNvSpPr>
          <p:nvPr/>
        </p:nvSpPr>
        <p:spPr>
          <a:xfrm xmlns:a="http://schemas.openxmlformats.org/drawingml/2006/main">
            <a:off x="9290437" y="3333750"/>
            <a:ext cx="190500" cy="190500"/>
          </a:xfrm>
          <a:prstGeom xmlns:a="http://schemas.openxmlformats.org/drawingml/2006/main" prst="ellipse">
            <a:avLst/>
          </a:prstGeom>
          <a:solidFill xmlns:a="http://schemas.openxmlformats.org/drawingml/2006/main">
            <a:srgbClr val="D3971E"/>
          </a:solidFill>
          <a:ln xmlns:a="http://schemas.openxmlformats.org/drawingml/2006/main" w="19050">
            <a:solidFill>
              <a:srgbClr val="FFFFFF"/>
            </a:solidFill>
            <a:prstDash val="solid"/>
          </a:ln>
        </p:spPr>
      </p:sp>
      <p:sp>
        <p:nvSpPr>
          <p:cNvPr id="32" name="">
            <a:extLst xmlns:a="http://schemas.openxmlformats.org/drawingml/2006/main">
              <a:ext uri="{FF2B5EF4-FFF2-40B4-BE49-F238E27FC236}">
                <a16:creationId xmlns:a16="http://schemas.microsoft.com/office/drawing/2014/main" id="{2AE032E7-149E-400A-AA5A-976CAD3BB110}"/>
              </a:ext>
            </a:extLst>
          </p:cNvPr>
          <p:cNvSpPr>
            <a:spLocks xmlns:a="http://schemas.openxmlformats.org/drawingml/2006/main" noGrp="1"/>
          </p:cNvSpPr>
          <p:nvPr/>
        </p:nvSpPr>
        <p:spPr>
          <a:xfrm xmlns:a="http://schemas.openxmlformats.org/drawingml/2006/main">
            <a:off x="8699887" y="2914650"/>
            <a:ext cx="137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75" b="1">
                <a:solidFill>
                  <a:srgbClr val="D3971E"/>
                </a:solidFill>
                <a:latin typeface="Aptos"/>
                <a:ea typeface="Aptos"/>
                <a:cs typeface="Aptos"/>
              </a:defRPr>
            </a:pPr>
            <a:r>
              <a:rPr sz="975" b="1">
                <a:solidFill>
                  <a:srgbClr val="D3971E"/>
                </a:solidFill>
                <a:latin typeface="Aptos"/>
                <a:ea typeface="Aptos"/>
                <a:cs typeface="Aptos"/>
              </a:rPr>
              <a:t>Decide → explain</a:t>
            </a:r>
          </a:p>
          <a:p xmlns:a="http://schemas.openxmlformats.org/drawingml/2006/main">
            <a:pPr algn="ctr">
              <a:defRPr sz="975" b="1">
                <a:solidFill>
                  <a:srgbClr val="D3971E"/>
                </a:solidFill>
                <a:latin typeface="Aptos"/>
                <a:ea typeface="Aptos"/>
                <a:cs typeface="Aptos"/>
              </a:defRPr>
            </a:pPr>
            <a:r>
              <a:rPr sz="975" b="1">
                <a:solidFill>
                  <a:srgbClr val="D3971E"/>
                </a:solidFill>
                <a:latin typeface="Aptos"/>
                <a:ea typeface="Aptos"/>
                <a:cs typeface="Aptos"/>
              </a:rPr>
              <a:t>0.641</a:t>
            </a:r>
          </a:p>
        </p:txBody>
      </p:sp>
      <p:sp>
        <p:nvSpPr>
          <p:cNvPr id="33" name="">
            <a:extLst xmlns:a="http://schemas.openxmlformats.org/drawingml/2006/main">
              <a:ext uri="{FF2B5EF4-FFF2-40B4-BE49-F238E27FC236}">
                <a16:creationId xmlns:a16="http://schemas.microsoft.com/office/drawing/2014/main" id="{33F188E2-FE34-47BF-BB07-656B4E370EB5}"/>
              </a:ext>
            </a:extLst>
          </p:cNvPr>
          <p:cNvSpPr>
            <a:spLocks xmlns:a="http://schemas.openxmlformats.org/drawingml/2006/main" noGrp="1"/>
          </p:cNvSpPr>
          <p:nvPr/>
        </p:nvSpPr>
        <p:spPr>
          <a:xfrm xmlns:a="http://schemas.openxmlformats.org/drawingml/2006/main">
            <a:off x="9885883" y="3333750"/>
            <a:ext cx="190500" cy="190500"/>
          </a:xfrm>
          <a:prstGeom xmlns:a="http://schemas.openxmlformats.org/drawingml/2006/main" prst="ellipse">
            <a:avLst/>
          </a:prstGeom>
          <a:solidFill xmlns:a="http://schemas.openxmlformats.org/drawingml/2006/main">
            <a:srgbClr val="14856D"/>
          </a:solidFill>
          <a:ln xmlns:a="http://schemas.openxmlformats.org/drawingml/2006/main" w="19050">
            <a:solidFill>
              <a:srgbClr val="FFFFFF"/>
            </a:solidFill>
            <a:prstDash val="solid"/>
          </a:ln>
        </p:spPr>
      </p:sp>
      <p:sp>
        <p:nvSpPr>
          <p:cNvPr id="34" name="">
            <a:extLst xmlns:a="http://schemas.openxmlformats.org/drawingml/2006/main">
              <a:ext uri="{FF2B5EF4-FFF2-40B4-BE49-F238E27FC236}">
                <a16:creationId xmlns:a16="http://schemas.microsoft.com/office/drawing/2014/main" id="{42B10AF6-54D8-4E66-B75A-EC9EF8F91415}"/>
              </a:ext>
            </a:extLst>
          </p:cNvPr>
          <p:cNvSpPr>
            <a:spLocks xmlns:a="http://schemas.openxmlformats.org/drawingml/2006/main" noGrp="1"/>
          </p:cNvSpPr>
          <p:nvPr/>
        </p:nvSpPr>
        <p:spPr>
          <a:xfrm xmlns:a="http://schemas.openxmlformats.org/drawingml/2006/main">
            <a:off x="9295333" y="3790950"/>
            <a:ext cx="137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75" b="1">
                <a:solidFill>
                  <a:srgbClr val="14856D"/>
                </a:solidFill>
                <a:latin typeface="Aptos"/>
                <a:ea typeface="Aptos"/>
                <a:cs typeface="Aptos"/>
              </a:defRPr>
            </a:pPr>
            <a:r>
              <a:rPr sz="975" b="1">
                <a:solidFill>
                  <a:srgbClr val="14856D"/>
                </a:solidFill>
                <a:latin typeface="Aptos"/>
                <a:ea typeface="Aptos"/>
                <a:cs typeface="Aptos"/>
              </a:rPr>
              <a:t>Reason → decide</a:t>
            </a:r>
          </a:p>
          <a:p xmlns:a="http://schemas.openxmlformats.org/drawingml/2006/main">
            <a:pPr algn="ctr">
              <a:defRPr sz="975" b="1">
                <a:solidFill>
                  <a:srgbClr val="14856D"/>
                </a:solidFill>
                <a:latin typeface="Aptos"/>
                <a:ea typeface="Aptos"/>
                <a:cs typeface="Aptos"/>
              </a:defRPr>
            </a:pPr>
            <a:r>
              <a:rPr sz="975" b="1">
                <a:solidFill>
                  <a:srgbClr val="14856D"/>
                </a:solidFill>
                <a:latin typeface="Aptos"/>
                <a:ea typeface="Aptos"/>
                <a:cs typeface="Aptos"/>
              </a:rPr>
              <a:t>0.792</a:t>
            </a:r>
          </a:p>
        </p:txBody>
      </p:sp>
      <p:sp>
        <p:nvSpPr>
          <p:cNvPr id="35" name="">
            <a:extLst xmlns:a="http://schemas.openxmlformats.org/drawingml/2006/main">
              <a:ext uri="{FF2B5EF4-FFF2-40B4-BE49-F238E27FC236}">
                <a16:creationId xmlns:a16="http://schemas.microsoft.com/office/drawing/2014/main" id="{F0F3CE87-16AB-48BB-8873-F57E0A914AF6}"/>
              </a:ext>
            </a:extLst>
          </p:cNvPr>
          <p:cNvSpPr>
            <a:spLocks xmlns:a="http://schemas.openxmlformats.org/drawingml/2006/main" noGrp="1"/>
          </p:cNvSpPr>
          <p:nvPr/>
        </p:nvSpPr>
        <p:spPr>
          <a:xfrm xmlns:a="http://schemas.openxmlformats.org/drawingml/2006/main">
            <a:off x="6572250" y="4495800"/>
            <a:ext cx="451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Reasoning first raises larger-group choices</a:t>
            </a:r>
          </a:p>
        </p:txBody>
      </p:sp>
      <p:sp>
        <p:nvSpPr>
          <p:cNvPr id="36" name="">
            <a:extLst xmlns:a="http://schemas.openxmlformats.org/drawingml/2006/main">
              <a:ext uri="{FF2B5EF4-FFF2-40B4-BE49-F238E27FC236}">
                <a16:creationId xmlns:a16="http://schemas.microsoft.com/office/drawing/2014/main" id="{4D1733DA-1224-4DF4-A8D2-0B241261E84E}"/>
              </a:ext>
            </a:extLst>
          </p:cNvPr>
          <p:cNvSpPr>
            <a:spLocks xmlns:a="http://schemas.openxmlformats.org/drawingml/2006/main" noGrp="1"/>
          </p:cNvSpPr>
          <p:nvPr/>
        </p:nvSpPr>
        <p:spPr>
          <a:xfrm xmlns:a="http://schemas.openxmlformats.org/drawingml/2006/main">
            <a:off x="1143000" y="58102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CF5D4A"/>
                </a:solidFill>
                <a:latin typeface="Aptos"/>
                <a:ea typeface="Aptos"/>
                <a:cs typeface="Aptos"/>
              </a:defRPr>
            </a:pPr>
            <a:r>
              <a:rPr sz="1350" b="1">
                <a:solidFill>
                  <a:srgbClr val="CF5D4A"/>
                </a:solidFill>
                <a:latin typeface="Aptos"/>
                <a:ea typeface="Aptos"/>
                <a:cs typeface="Aptos"/>
              </a:rPr>
              <a:t>The CEI keyword check does not reproduce CD GAP, Utility, or the reasoning-order test.</a:t>
            </a:r>
          </a:p>
        </p:txBody>
      </p:sp>
    </p:spTree>
    <p:extLst>
      <p:ext uri="{BB962C8B-B14F-4D97-AF65-F5344CB8AC3E}">
        <p14:creationId xmlns:p14="http://schemas.microsoft.com/office/powerpoint/2010/main" val="19640446"/>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3F7C0B05-D763-49CB-B04B-04CB45BE8DC8}"/>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Value Kaleidoscope paper: most gains occur before 3B</a:t>
            </a:r>
          </a:p>
        </p:txBody>
      </p:sp>
      <p:sp>
        <p:nvSpPr>
          <p:cNvPr id="2" name="slide-subtitle">
            <a:extLst xmlns:a="http://schemas.openxmlformats.org/drawingml/2006/main">
              <a:ext uri="{FF2B5EF4-FFF2-40B4-BE49-F238E27FC236}">
                <a16:creationId xmlns:a16="http://schemas.microsoft.com/office/drawing/2014/main" id="{5F6353CC-D6B5-4552-9817-7B08E1D9C378}"/>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Paper question: how do four value-task scores change from 60M to 11B?</a:t>
            </a:r>
          </a:p>
        </p:txBody>
      </p:sp>
      <p:sp>
        <p:nvSpPr>
          <p:cNvPr id="3" name="">
            <a:extLst xmlns:a="http://schemas.openxmlformats.org/drawingml/2006/main">
              <a:ext uri="{FF2B5EF4-FFF2-40B4-BE49-F238E27FC236}">
                <a16:creationId xmlns:a16="http://schemas.microsoft.com/office/drawing/2014/main" id="{A2A48E46-CDF5-4336-85B8-513E97573FF9}"/>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AF4987E3-49E1-46F3-906E-BD9361E1C369}"/>
              </a:ext>
            </a:extLst>
          </p:cNvPr>
          <p:cNvSpPr>
            <a:spLocks xmlns:a="http://schemas.openxmlformats.org/drawingml/2006/main" noGrp="1"/>
          </p:cNvSpPr>
          <p:nvPr/>
        </p:nvSpPr>
        <p:spPr>
          <a:xfrm xmlns:a="http://schemas.openxmlformats.org/drawingml/2006/main">
            <a:off x="742950" y="15240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Relevance accuracy</a:t>
            </a:r>
          </a:p>
        </p:txBody>
      </p:sp>
      <p:graphicFrame>
        <p:nvGraphicFramePr>
          <p:cNvPr id="18" name="Chart"/>
          <p:cNvGraphicFramePr/>
          <p:nvPr/>
        </p:nvGraphicFramePr>
        <p:xfrm>
          <a:off xmlns:a="http://schemas.openxmlformats.org/drawingml/2006/main" x="742950" y="179070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f243ef6b07ad4acd"/>
          </a:graphicData>
        </a:graphic>
      </p:graphicFrame>
      <p:sp>
        <p:nvSpPr>
          <p:cNvPr id="6" name="">
            <a:extLst xmlns:a="http://schemas.openxmlformats.org/drawingml/2006/main">
              <a:ext uri="{FF2B5EF4-FFF2-40B4-BE49-F238E27FC236}">
                <a16:creationId xmlns:a16="http://schemas.microsoft.com/office/drawing/2014/main" id="{E0D58FB6-0BCB-4B46-B5FD-D0BC4B1A1510}"/>
              </a:ext>
            </a:extLst>
          </p:cNvPr>
          <p:cNvSpPr>
            <a:spLocks xmlns:a="http://schemas.openxmlformats.org/drawingml/2006/main" noGrp="1"/>
          </p:cNvSpPr>
          <p:nvPr/>
        </p:nvSpPr>
        <p:spPr>
          <a:xfrm xmlns:a="http://schemas.openxmlformats.org/drawingml/2006/main">
            <a:off x="6305550" y="15240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Valence accuracy</a:t>
            </a:r>
          </a:p>
        </p:txBody>
      </p:sp>
      <p:graphicFrame>
        <p:nvGraphicFramePr>
          <p:cNvPr id="20" name="Chart"/>
          <p:cNvGraphicFramePr/>
          <p:nvPr/>
        </p:nvGraphicFramePr>
        <p:xfrm>
          <a:off xmlns:a="http://schemas.openxmlformats.org/drawingml/2006/main" x="6305550" y="179070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5c0a7d22adaa4c2d"/>
          </a:graphicData>
        </a:graphic>
      </p:graphicFrame>
      <p:sp>
        <p:nvSpPr>
          <p:cNvPr id="8" name="">
            <a:extLst xmlns:a="http://schemas.openxmlformats.org/drawingml/2006/main">
              <a:ext uri="{FF2B5EF4-FFF2-40B4-BE49-F238E27FC236}">
                <a16:creationId xmlns:a16="http://schemas.microsoft.com/office/drawing/2014/main" id="{1428BBEA-58F6-4678-BE79-3B9954E86811}"/>
              </a:ext>
            </a:extLst>
          </p:cNvPr>
          <p:cNvSpPr>
            <a:spLocks xmlns:a="http://schemas.openxmlformats.org/drawingml/2006/main" noGrp="1"/>
          </p:cNvSpPr>
          <p:nvPr/>
        </p:nvSpPr>
        <p:spPr>
          <a:xfrm xmlns:a="http://schemas.openxmlformats.org/drawingml/2006/main">
            <a:off x="742950" y="38290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Generation perplexity ↓</a:t>
            </a:r>
          </a:p>
        </p:txBody>
      </p:sp>
      <p:graphicFrame>
        <p:nvGraphicFramePr>
          <p:cNvPr id="22" name="Chart"/>
          <p:cNvGraphicFramePr/>
          <p:nvPr/>
        </p:nvGraphicFramePr>
        <p:xfrm>
          <a:off xmlns:a="http://schemas.openxmlformats.org/drawingml/2006/main" x="742950" y="409575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ab84d43da08d43d1"/>
          </a:graphicData>
        </a:graphic>
      </p:graphicFrame>
      <p:sp>
        <p:nvSpPr>
          <p:cNvPr id="10" name="">
            <a:extLst xmlns:a="http://schemas.openxmlformats.org/drawingml/2006/main">
              <a:ext uri="{FF2B5EF4-FFF2-40B4-BE49-F238E27FC236}">
                <a16:creationId xmlns:a16="http://schemas.microsoft.com/office/drawing/2014/main" id="{7F85B4F8-0A6C-4B77-9480-90BFEF0A8797}"/>
              </a:ext>
            </a:extLst>
          </p:cNvPr>
          <p:cNvSpPr>
            <a:spLocks xmlns:a="http://schemas.openxmlformats.org/drawingml/2006/main" noGrp="1"/>
          </p:cNvSpPr>
          <p:nvPr/>
        </p:nvSpPr>
        <p:spPr>
          <a:xfrm xmlns:a="http://schemas.openxmlformats.org/drawingml/2006/main">
            <a:off x="6305550" y="38290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1">
                <a:solidFill>
                  <a:srgbClr val="17212B"/>
                </a:solidFill>
                <a:latin typeface="Aptos"/>
                <a:ea typeface="Aptos"/>
                <a:cs typeface="Aptos"/>
              </a:defRPr>
            </a:pPr>
            <a:r>
              <a:rPr sz="1200" b="1">
                <a:solidFill>
                  <a:srgbClr val="17212B"/>
                </a:solidFill>
                <a:latin typeface="Aptos"/>
                <a:ea typeface="Aptos"/>
                <a:cs typeface="Aptos"/>
              </a:rPr>
              <a:t>Explanation perplexity ↓</a:t>
            </a:r>
          </a:p>
        </p:txBody>
      </p:sp>
      <p:graphicFrame>
        <p:nvGraphicFramePr>
          <p:cNvPr id="24" name="Chart"/>
          <p:cNvGraphicFramePr/>
          <p:nvPr/>
        </p:nvGraphicFramePr>
        <p:xfrm>
          <a:off xmlns:a="http://schemas.openxmlformats.org/drawingml/2006/main" x="6305550" y="4095750"/>
          <a:ext xmlns:a="http://schemas.openxmlformats.org/drawingml/2006/main" cx="4953000" cy="1762125"/>
        </p:xfrm>
        <a:graphic xmlns:a="http://schemas.openxmlformats.org/drawingml/2006/main">
          <a:graphicData uri="http://schemas.openxmlformats.org/drawingml/2006/chart">
            <c:chart xmlns:r="http://schemas.openxmlformats.org/officeDocument/2006/relationships" xmlns:c="http://schemas.openxmlformats.org/drawingml/2006/chart" r:id="Rd9f23f220e024a48"/>
          </a:graphicData>
        </a:graphic>
      </p:graphicFrame>
      <p:sp>
        <p:nvSpPr>
          <p:cNvPr id="12" name="">
            <a:extLst xmlns:a="http://schemas.openxmlformats.org/drawingml/2006/main">
              <a:ext uri="{FF2B5EF4-FFF2-40B4-BE49-F238E27FC236}">
                <a16:creationId xmlns:a16="http://schemas.microsoft.com/office/drawing/2014/main" id="{68B17252-0229-419D-A8CC-879C6C76F370}"/>
              </a:ext>
            </a:extLst>
          </p:cNvPr>
          <p:cNvSpPr>
            <a:spLocks xmlns:a="http://schemas.openxmlformats.org/drawingml/2006/main" noGrp="1"/>
          </p:cNvSpPr>
          <p:nvPr/>
        </p:nvSpPr>
        <p:spPr>
          <a:xfrm xmlns:a="http://schemas.openxmlformats.org/drawingml/2006/main">
            <a:off x="857250" y="5905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Paper result. CEI ValuePrism uses different models and tests. Size labels are evenly spaced, not numeric distance.</a:t>
            </a:r>
          </a:p>
          <a:p xmlns:a="http://schemas.openxmlformats.org/drawingml/2006/main">
            <a:pPr algn="ctr">
              <a:defRPr sz="900" b="0">
                <a:solidFill>
                  <a:srgbClr val="66727E"/>
                </a:solidFill>
                <a:latin typeface="Aptos"/>
                <a:ea typeface="Aptos"/>
                <a:cs typeface="Aptos"/>
              </a:defRPr>
            </a:pPr>
            <a:r>
              <a:rPr sz="900" b="0">
                <a:solidFill>
                  <a:srgbClr val="66727E"/>
                </a:solidFill>
                <a:latin typeface="Aptos"/>
                <a:ea typeface="Aptos"/>
                <a:cs typeface="Aptos"/>
              </a:rPr>
              <a:t>Relevance compares a GPT-4 example for this situation with one from another. Valence uses GPT-4 Supports / Opposes / Either. Not human judgments.</a:t>
            </a:r>
          </a:p>
        </p:txBody>
      </p:sp>
      <p:sp>
        <p:nvSpPr>
          <p:cNvPr id="13" name="">
            <a:extLst xmlns:a="http://schemas.openxmlformats.org/drawingml/2006/main">
              <a:ext uri="{FF2B5EF4-FFF2-40B4-BE49-F238E27FC236}">
                <a16:creationId xmlns:a16="http://schemas.microsoft.com/office/drawing/2014/main" id="{A9571033-04B1-4565-AEF2-929BDC89FA25}"/>
              </a:ext>
            </a:extLst>
          </p:cNvPr>
          <p:cNvSpPr>
            <a:spLocks xmlns:a="http://schemas.openxmlformats.org/drawingml/2006/main" noGrp="1"/>
          </p:cNvSpPr>
          <p:nvPr/>
        </p:nvSpPr>
        <p:spPr>
          <a:xfrm xmlns:a="http://schemas.openxmlformats.org/drawingml/2006/main">
            <a:off x="857250" y="62674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CF5D4A"/>
                </a:solidFill>
                <a:latin typeface="Aptos"/>
                <a:ea typeface="Aptos"/>
                <a:cs typeface="Aptos"/>
              </a:defRPr>
            </a:pPr>
            <a:r>
              <a:rPr sz="1350" b="1">
                <a:solidFill>
                  <a:srgbClr val="CF5D4A"/>
                </a:solidFill>
                <a:latin typeface="Aptos"/>
                <a:ea typeface="Aptos"/>
                <a:cs typeface="Aptos"/>
              </a:rPr>
              <a:t>From 3B to 11B: relevance +.007, valence +.011, generation perplexity −.01, explanation perplexity −.15.</a:t>
            </a:r>
          </a:p>
        </p:txBody>
      </p:sp>
    </p:spTree>
    <p:extLst>
      <p:ext uri="{BB962C8B-B14F-4D97-AF65-F5344CB8AC3E}">
        <p14:creationId xmlns:p14="http://schemas.microsoft.com/office/powerpoint/2010/main" val="73606670"/>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3D11515D-9F16-44DD-9B91-F93880C27BCB}"/>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CEI has 0 exact repeats of UniMoral or Value Kaleidoscope</a:t>
            </a:r>
          </a:p>
        </p:txBody>
      </p:sp>
      <p:sp>
        <p:nvSpPr>
          <p:cNvPr id="2" name="slide-subtitle">
            <a:extLst xmlns:a="http://schemas.openxmlformats.org/drawingml/2006/main">
              <a:ext uri="{FF2B5EF4-FFF2-40B4-BE49-F238E27FC236}">
                <a16:creationId xmlns:a16="http://schemas.microsoft.com/office/drawing/2014/main" id="{D1F1A001-B2A4-4FCA-BD70-056FA3ABAE0F}"/>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Across 37 paper-to-CEI comparison rows: 17 are related but different, 4 are indirect, and 16 cannot be compared.</a:t>
            </a:r>
          </a:p>
        </p:txBody>
      </p:sp>
      <p:sp>
        <p:nvSpPr>
          <p:cNvPr id="3" name="">
            <a:extLst xmlns:a="http://schemas.openxmlformats.org/drawingml/2006/main">
              <a:ext uri="{FF2B5EF4-FFF2-40B4-BE49-F238E27FC236}">
                <a16:creationId xmlns:a16="http://schemas.microsoft.com/office/drawing/2014/main" id="{1DFCCA24-939C-4A75-91AA-4510507EDBAC}"/>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027C6A7B-4D4D-44E8-A979-895EA2E1CF4A}"/>
              </a:ext>
            </a:extLst>
          </p:cNvPr>
          <p:cNvSpPr>
            <a:spLocks xmlns:a="http://schemas.openxmlformats.org/drawingml/2006/main" noGrp="1"/>
          </p:cNvSpPr>
          <p:nvPr/>
        </p:nvSpPr>
        <p:spPr>
          <a:xfrm xmlns:a="http://schemas.openxmlformats.org/drawingml/2006/main">
            <a:off x="95250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7212B"/>
                </a:solidFill>
                <a:latin typeface="Aptos"/>
                <a:ea typeface="Aptos"/>
                <a:cs typeface="Aptos"/>
              </a:defRPr>
            </a:pPr>
            <a:r>
              <a:rPr sz="1650" b="1">
                <a:solidFill>
                  <a:srgbClr val="17212B"/>
                </a:solidFill>
                <a:latin typeface="Aptos"/>
                <a:ea typeface="Aptos"/>
                <a:cs typeface="Aptos"/>
              </a:rPr>
              <a:t>Exact repeat</a:t>
            </a:r>
          </a:p>
        </p:txBody>
      </p:sp>
      <p:sp>
        <p:nvSpPr>
          <p:cNvPr id="5" name="">
            <a:extLst xmlns:a="http://schemas.openxmlformats.org/drawingml/2006/main">
              <a:ext uri="{FF2B5EF4-FFF2-40B4-BE49-F238E27FC236}">
                <a16:creationId xmlns:a16="http://schemas.microsoft.com/office/drawing/2014/main" id="{A632E66D-9A99-4E23-871F-931130AB7878}"/>
              </a:ext>
            </a:extLst>
          </p:cNvPr>
          <p:cNvSpPr>
            <a:spLocks xmlns:a="http://schemas.openxmlformats.org/drawingml/2006/main" noGrp="1"/>
          </p:cNvSpPr>
          <p:nvPr/>
        </p:nvSpPr>
        <p:spPr>
          <a:xfrm xmlns:a="http://schemas.openxmlformats.org/drawingml/2006/main">
            <a:off x="3714750" y="2019300"/>
            <a:ext cx="5810250" cy="285750"/>
          </a:xfrm>
          <a:prstGeom xmlns:a="http://schemas.openxmlformats.org/drawingml/2006/main" prst="rect">
            <a:avLst/>
          </a:prstGeom>
          <a:solidFill xmlns:a="http://schemas.openxmlformats.org/drawingml/2006/main">
            <a:srgbClr val="E8E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2999D0-3E2E-4E67-951B-0295C167DD1A}"/>
              </a:ext>
            </a:extLst>
          </p:cNvPr>
          <p:cNvSpPr>
            <a:spLocks xmlns:a="http://schemas.openxmlformats.org/drawingml/2006/main" noGrp="1"/>
          </p:cNvSpPr>
          <p:nvPr/>
        </p:nvSpPr>
        <p:spPr>
          <a:xfrm xmlns:a="http://schemas.openxmlformats.org/drawingml/2006/main">
            <a:off x="3714750" y="2162175"/>
            <a:ext cx="76200" cy="0"/>
          </a:xfrm>
          <a:prstGeom xmlns:a="http://schemas.openxmlformats.org/drawingml/2006/main" prst="line">
            <a:avLst/>
          </a:prstGeom>
          <a:noFill xmlns:a="http://schemas.openxmlformats.org/drawingml/2006/main"/>
          <a:ln xmlns:a="http://schemas.openxmlformats.org/drawingml/2006/main" w="47625">
            <a:solidFill>
              <a:srgbClr val="CF5D4A"/>
            </a:solidFill>
            <a:prstDash val="solid"/>
          </a:ln>
        </p:spPr>
      </p:sp>
      <p:sp>
        <p:nvSpPr>
          <p:cNvPr id="7" name="">
            <a:extLst xmlns:a="http://schemas.openxmlformats.org/drawingml/2006/main">
              <a:ext uri="{FF2B5EF4-FFF2-40B4-BE49-F238E27FC236}">
                <a16:creationId xmlns:a16="http://schemas.microsoft.com/office/drawing/2014/main" id="{9A3ED358-1A87-4C0A-A053-D5A9CB327CA8}"/>
              </a:ext>
            </a:extLst>
          </p:cNvPr>
          <p:cNvSpPr>
            <a:spLocks xmlns:a="http://schemas.openxmlformats.org/drawingml/2006/main" noGrp="1"/>
          </p:cNvSpPr>
          <p:nvPr/>
        </p:nvSpPr>
        <p:spPr>
          <a:xfrm xmlns:a="http://schemas.openxmlformats.org/drawingml/2006/main">
            <a:off x="9763125" y="194310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800" b="1">
                <a:solidFill>
                  <a:srgbClr val="CF5D4A"/>
                </a:solidFill>
                <a:latin typeface="Aptos"/>
                <a:ea typeface="Aptos"/>
                <a:cs typeface="Aptos"/>
              </a:defRPr>
            </a:pPr>
            <a:r>
              <a:rPr sz="1800" b="1">
                <a:solidFill>
                  <a:srgbClr val="CF5D4A"/>
                </a:solidFill>
                <a:latin typeface="Aptos"/>
                <a:ea typeface="Aptos"/>
                <a:cs typeface="Aptos"/>
              </a:rPr>
              <a:t>0 of 37</a:t>
            </a:r>
          </a:p>
        </p:txBody>
      </p:sp>
      <p:sp>
        <p:nvSpPr>
          <p:cNvPr id="8" name="">
            <a:extLst xmlns:a="http://schemas.openxmlformats.org/drawingml/2006/main">
              <a:ext uri="{FF2B5EF4-FFF2-40B4-BE49-F238E27FC236}">
                <a16:creationId xmlns:a16="http://schemas.microsoft.com/office/drawing/2014/main" id="{81EC5DA4-790C-40BC-95B5-EA1AE4FE05C3}"/>
              </a:ext>
            </a:extLst>
          </p:cNvPr>
          <p:cNvSpPr>
            <a:spLocks xmlns:a="http://schemas.openxmlformats.org/drawingml/2006/main" noGrp="1"/>
          </p:cNvSpPr>
          <p:nvPr/>
        </p:nvSpPr>
        <p:spPr>
          <a:xfrm xmlns:a="http://schemas.openxmlformats.org/drawingml/2006/main">
            <a:off x="952500" y="28765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7212B"/>
                </a:solidFill>
                <a:latin typeface="Aptos"/>
                <a:ea typeface="Aptos"/>
                <a:cs typeface="Aptos"/>
              </a:defRPr>
            </a:pPr>
            <a:r>
              <a:rPr sz="1650" b="1">
                <a:solidFill>
                  <a:srgbClr val="17212B"/>
                </a:solidFill>
                <a:latin typeface="Aptos"/>
                <a:ea typeface="Aptos"/>
                <a:cs typeface="Aptos"/>
              </a:rPr>
              <a:t>Related but different</a:t>
            </a:r>
          </a:p>
        </p:txBody>
      </p:sp>
      <p:sp>
        <p:nvSpPr>
          <p:cNvPr id="9" name="">
            <a:extLst xmlns:a="http://schemas.openxmlformats.org/drawingml/2006/main">
              <a:ext uri="{FF2B5EF4-FFF2-40B4-BE49-F238E27FC236}">
                <a16:creationId xmlns:a16="http://schemas.microsoft.com/office/drawing/2014/main" id="{AC2009F9-F10B-4688-9D85-9D086A20CF52}"/>
              </a:ext>
            </a:extLst>
          </p:cNvPr>
          <p:cNvSpPr>
            <a:spLocks xmlns:a="http://schemas.openxmlformats.org/drawingml/2006/main" noGrp="1"/>
          </p:cNvSpPr>
          <p:nvPr/>
        </p:nvSpPr>
        <p:spPr>
          <a:xfrm xmlns:a="http://schemas.openxmlformats.org/drawingml/2006/main">
            <a:off x="3714750" y="2895600"/>
            <a:ext cx="5810250" cy="285750"/>
          </a:xfrm>
          <a:prstGeom xmlns:a="http://schemas.openxmlformats.org/drawingml/2006/main" prst="rect">
            <a:avLst/>
          </a:prstGeom>
          <a:solidFill xmlns:a="http://schemas.openxmlformats.org/drawingml/2006/main">
            <a:srgbClr val="E8E7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40B62C-FDC2-4FBA-B5F8-B36E80CD2649}"/>
              </a:ext>
            </a:extLst>
          </p:cNvPr>
          <p:cNvSpPr>
            <a:spLocks xmlns:a="http://schemas.openxmlformats.org/drawingml/2006/main" noGrp="1"/>
          </p:cNvSpPr>
          <p:nvPr/>
        </p:nvSpPr>
        <p:spPr>
          <a:xfrm xmlns:a="http://schemas.openxmlformats.org/drawingml/2006/main">
            <a:off x="3714750" y="2895600"/>
            <a:ext cx="2669574" cy="285750"/>
          </a:xfrm>
          <a:prstGeom xmlns:a="http://schemas.openxmlformats.org/drawingml/2006/main" prst="rect">
            <a:avLst/>
          </a:prstGeom>
          <a:solidFill xmlns:a="http://schemas.openxmlformats.org/drawingml/2006/main">
            <a:srgbClr val="D3971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F08BDE-DBB9-4C63-B754-9F59AFDCDDA4}"/>
              </a:ext>
            </a:extLst>
          </p:cNvPr>
          <p:cNvSpPr>
            <a:spLocks xmlns:a="http://schemas.openxmlformats.org/drawingml/2006/main" noGrp="1"/>
          </p:cNvSpPr>
          <p:nvPr/>
        </p:nvSpPr>
        <p:spPr>
          <a:xfrm xmlns:a="http://schemas.openxmlformats.org/drawingml/2006/main">
            <a:off x="9763125" y="281940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800" b="1">
                <a:solidFill>
                  <a:srgbClr val="D3971E"/>
                </a:solidFill>
                <a:latin typeface="Aptos"/>
                <a:ea typeface="Aptos"/>
                <a:cs typeface="Aptos"/>
              </a:defRPr>
            </a:pPr>
            <a:r>
              <a:rPr sz="1800" b="1">
                <a:solidFill>
                  <a:srgbClr val="D3971E"/>
                </a:solidFill>
                <a:latin typeface="Aptos"/>
                <a:ea typeface="Aptos"/>
                <a:cs typeface="Aptos"/>
              </a:rPr>
              <a:t>17 of 37</a:t>
            </a:r>
          </a:p>
        </p:txBody>
      </p:sp>
      <p:sp>
        <p:nvSpPr>
          <p:cNvPr id="12" name="">
            <a:extLst xmlns:a="http://schemas.openxmlformats.org/drawingml/2006/main">
              <a:ext uri="{FF2B5EF4-FFF2-40B4-BE49-F238E27FC236}">
                <a16:creationId xmlns:a16="http://schemas.microsoft.com/office/drawing/2014/main" id="{BE878F84-4216-46F2-8695-DB56A1FAC00B}"/>
              </a:ext>
            </a:extLst>
          </p:cNvPr>
          <p:cNvSpPr>
            <a:spLocks xmlns:a="http://schemas.openxmlformats.org/drawingml/2006/main" noGrp="1"/>
          </p:cNvSpPr>
          <p:nvPr/>
        </p:nvSpPr>
        <p:spPr>
          <a:xfrm xmlns:a="http://schemas.openxmlformats.org/drawingml/2006/main">
            <a:off x="952500" y="37528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7212B"/>
                </a:solidFill>
                <a:latin typeface="Aptos"/>
                <a:ea typeface="Aptos"/>
                <a:cs typeface="Aptos"/>
              </a:defRPr>
            </a:pPr>
            <a:r>
              <a:rPr sz="1650" b="1">
                <a:solidFill>
                  <a:srgbClr val="17212B"/>
                </a:solidFill>
                <a:latin typeface="Aptos"/>
                <a:ea typeface="Aptos"/>
                <a:cs typeface="Aptos"/>
              </a:rPr>
              <a:t>Indirect check</a:t>
            </a:r>
          </a:p>
        </p:txBody>
      </p:sp>
      <p:sp>
        <p:nvSpPr>
          <p:cNvPr id="13" name="">
            <a:extLst xmlns:a="http://schemas.openxmlformats.org/drawingml/2006/main">
              <a:ext uri="{FF2B5EF4-FFF2-40B4-BE49-F238E27FC236}">
                <a16:creationId xmlns:a16="http://schemas.microsoft.com/office/drawing/2014/main" id="{D2283A99-5C9D-40D7-808E-0FC2177E7E8E}"/>
              </a:ext>
            </a:extLst>
          </p:cNvPr>
          <p:cNvSpPr>
            <a:spLocks xmlns:a="http://schemas.openxmlformats.org/drawingml/2006/main" noGrp="1"/>
          </p:cNvSpPr>
          <p:nvPr/>
        </p:nvSpPr>
        <p:spPr>
          <a:xfrm xmlns:a="http://schemas.openxmlformats.org/drawingml/2006/main">
            <a:off x="3714750" y="3771900"/>
            <a:ext cx="5810250" cy="285750"/>
          </a:xfrm>
          <a:prstGeom xmlns:a="http://schemas.openxmlformats.org/drawingml/2006/main" prst="rect">
            <a:avLst/>
          </a:prstGeom>
          <a:solidFill xmlns:a="http://schemas.openxmlformats.org/drawingml/2006/main">
            <a:srgbClr val="E8E7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474030-5621-4F4A-B96B-FD239FD08DCC}"/>
              </a:ext>
            </a:extLst>
          </p:cNvPr>
          <p:cNvSpPr>
            <a:spLocks xmlns:a="http://schemas.openxmlformats.org/drawingml/2006/main" noGrp="1"/>
          </p:cNvSpPr>
          <p:nvPr/>
        </p:nvSpPr>
        <p:spPr>
          <a:xfrm xmlns:a="http://schemas.openxmlformats.org/drawingml/2006/main">
            <a:off x="3714750" y="3771900"/>
            <a:ext cx="628135" cy="285750"/>
          </a:xfrm>
          <a:prstGeom xmlns:a="http://schemas.openxmlformats.org/drawingml/2006/main" prst="rect">
            <a:avLst/>
          </a:prstGeom>
          <a:solidFill xmlns:a="http://schemas.openxmlformats.org/drawingml/2006/main">
            <a:srgbClr val="6E5A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5272BC-5DC9-41BC-897C-D8EC70A78358}"/>
              </a:ext>
            </a:extLst>
          </p:cNvPr>
          <p:cNvSpPr>
            <a:spLocks xmlns:a="http://schemas.openxmlformats.org/drawingml/2006/main" noGrp="1"/>
          </p:cNvSpPr>
          <p:nvPr/>
        </p:nvSpPr>
        <p:spPr>
          <a:xfrm xmlns:a="http://schemas.openxmlformats.org/drawingml/2006/main">
            <a:off x="9763125" y="369570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800" b="1">
                <a:solidFill>
                  <a:srgbClr val="6E5AA8"/>
                </a:solidFill>
                <a:latin typeface="Aptos"/>
                <a:ea typeface="Aptos"/>
                <a:cs typeface="Aptos"/>
              </a:defRPr>
            </a:pPr>
            <a:r>
              <a:rPr sz="1800" b="1">
                <a:solidFill>
                  <a:srgbClr val="6E5AA8"/>
                </a:solidFill>
                <a:latin typeface="Aptos"/>
                <a:ea typeface="Aptos"/>
                <a:cs typeface="Aptos"/>
              </a:rPr>
              <a:t>4 of 37</a:t>
            </a:r>
          </a:p>
        </p:txBody>
      </p:sp>
      <p:sp>
        <p:nvSpPr>
          <p:cNvPr id="16" name="">
            <a:extLst xmlns:a="http://schemas.openxmlformats.org/drawingml/2006/main">
              <a:ext uri="{FF2B5EF4-FFF2-40B4-BE49-F238E27FC236}">
                <a16:creationId xmlns:a16="http://schemas.microsoft.com/office/drawing/2014/main" id="{5CC7611F-6FEC-45C4-853D-721D1946E7C4}"/>
              </a:ext>
            </a:extLst>
          </p:cNvPr>
          <p:cNvSpPr>
            <a:spLocks xmlns:a="http://schemas.openxmlformats.org/drawingml/2006/main" noGrp="1"/>
          </p:cNvSpPr>
          <p:nvPr/>
        </p:nvSpPr>
        <p:spPr>
          <a:xfrm xmlns:a="http://schemas.openxmlformats.org/drawingml/2006/main">
            <a:off x="952500" y="4629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7212B"/>
                </a:solidFill>
                <a:latin typeface="Aptos"/>
                <a:ea typeface="Aptos"/>
                <a:cs typeface="Aptos"/>
              </a:defRPr>
            </a:pPr>
            <a:r>
              <a:rPr sz="1650" b="1">
                <a:solidFill>
                  <a:srgbClr val="17212B"/>
                </a:solidFill>
                <a:latin typeface="Aptos"/>
                <a:ea typeface="Aptos"/>
                <a:cs typeface="Aptos"/>
              </a:rPr>
              <a:t>Cannot compare</a:t>
            </a:r>
          </a:p>
        </p:txBody>
      </p:sp>
      <p:sp>
        <p:nvSpPr>
          <p:cNvPr id="17" name="">
            <a:extLst xmlns:a="http://schemas.openxmlformats.org/drawingml/2006/main">
              <a:ext uri="{FF2B5EF4-FFF2-40B4-BE49-F238E27FC236}">
                <a16:creationId xmlns:a16="http://schemas.microsoft.com/office/drawing/2014/main" id="{485BC84C-EE9D-477F-914A-ACC2431790BF}"/>
              </a:ext>
            </a:extLst>
          </p:cNvPr>
          <p:cNvSpPr>
            <a:spLocks xmlns:a="http://schemas.openxmlformats.org/drawingml/2006/main" noGrp="1"/>
          </p:cNvSpPr>
          <p:nvPr/>
        </p:nvSpPr>
        <p:spPr>
          <a:xfrm xmlns:a="http://schemas.openxmlformats.org/drawingml/2006/main">
            <a:off x="3714750" y="4648200"/>
            <a:ext cx="5810250" cy="285750"/>
          </a:xfrm>
          <a:prstGeom xmlns:a="http://schemas.openxmlformats.org/drawingml/2006/main" prst="rect">
            <a:avLst/>
          </a:prstGeom>
          <a:solidFill xmlns:a="http://schemas.openxmlformats.org/drawingml/2006/main">
            <a:srgbClr val="E8E7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6CBAB3-EAFF-465F-BA09-12331C647F2F}"/>
              </a:ext>
            </a:extLst>
          </p:cNvPr>
          <p:cNvSpPr>
            <a:spLocks xmlns:a="http://schemas.openxmlformats.org/drawingml/2006/main" noGrp="1"/>
          </p:cNvSpPr>
          <p:nvPr/>
        </p:nvSpPr>
        <p:spPr>
          <a:xfrm xmlns:a="http://schemas.openxmlformats.org/drawingml/2006/main">
            <a:off x="3714750" y="4648200"/>
            <a:ext cx="2512541" cy="285750"/>
          </a:xfrm>
          <a:prstGeom xmlns:a="http://schemas.openxmlformats.org/drawingml/2006/main" prst="rect">
            <a:avLst/>
          </a:prstGeom>
          <a:solidFill xmlns:a="http://schemas.openxmlformats.org/drawingml/2006/main">
            <a:srgbClr val="9AA2A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B6635B6-3726-4186-BA89-4E7538E0EC25}"/>
              </a:ext>
            </a:extLst>
          </p:cNvPr>
          <p:cNvSpPr>
            <a:spLocks xmlns:a="http://schemas.openxmlformats.org/drawingml/2006/main" noGrp="1"/>
          </p:cNvSpPr>
          <p:nvPr/>
        </p:nvSpPr>
        <p:spPr>
          <a:xfrm xmlns:a="http://schemas.openxmlformats.org/drawingml/2006/main">
            <a:off x="9763125" y="457200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800" b="1">
                <a:solidFill>
                  <a:srgbClr val="9AA2AA"/>
                </a:solidFill>
                <a:latin typeface="Aptos"/>
                <a:ea typeface="Aptos"/>
                <a:cs typeface="Aptos"/>
              </a:defRPr>
            </a:pPr>
            <a:r>
              <a:rPr sz="1800" b="1">
                <a:solidFill>
                  <a:srgbClr val="9AA2AA"/>
                </a:solidFill>
                <a:latin typeface="Aptos"/>
                <a:ea typeface="Aptos"/>
                <a:cs typeface="Aptos"/>
              </a:rPr>
              <a:t>16 of 37</a:t>
            </a:r>
          </a:p>
        </p:txBody>
      </p:sp>
      <p:sp>
        <p:nvSpPr>
          <p:cNvPr id="20" name="">
            <a:extLst xmlns:a="http://schemas.openxmlformats.org/drawingml/2006/main">
              <a:ext uri="{FF2B5EF4-FFF2-40B4-BE49-F238E27FC236}">
                <a16:creationId xmlns:a16="http://schemas.microsoft.com/office/drawing/2014/main" id="{0DA5B29A-9B9A-4F10-958D-98CA56A913D5}"/>
              </a:ext>
            </a:extLst>
          </p:cNvPr>
          <p:cNvSpPr>
            <a:spLocks xmlns:a="http://schemas.openxmlformats.org/drawingml/2006/main" noGrp="1"/>
          </p:cNvSpPr>
          <p:nvPr/>
        </p:nvSpPr>
        <p:spPr>
          <a:xfrm xmlns:a="http://schemas.openxmlformats.org/drawingml/2006/main">
            <a:off x="952500" y="5695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Aptos"/>
                <a:ea typeface="Aptos"/>
                <a:cs typeface="Aptos"/>
              </a:defRPr>
            </a:pPr>
            <a:r>
              <a:rPr sz="1350" b="1">
                <a:solidFill>
                  <a:srgbClr val="17212B"/>
                </a:solidFill>
                <a:latin typeface="Aptos"/>
                <a:ea typeface="Aptos"/>
                <a:cs typeface="Aptos"/>
              </a:rPr>
              <a:t>Scope: 13 UniMoral rows + 24 ValuePrism rows. Related evidence is not a repeat of the paper test.</a:t>
            </a:r>
          </a:p>
        </p:txBody>
      </p:sp>
      <p:sp>
        <p:nvSpPr>
          <p:cNvPr id="21" name="">
            <a:extLst xmlns:a="http://schemas.openxmlformats.org/drawingml/2006/main">
              <a:ext uri="{FF2B5EF4-FFF2-40B4-BE49-F238E27FC236}">
                <a16:creationId xmlns:a16="http://schemas.microsoft.com/office/drawing/2014/main" id="{6F5F42BC-B3AC-4BA5-8AD5-A46B96AEFA7E}"/>
              </a:ext>
            </a:extLst>
          </p:cNvPr>
          <p:cNvSpPr>
            <a:spLocks xmlns:a="http://schemas.openxmlformats.org/drawingml/2006/main" noGrp="1"/>
          </p:cNvSpPr>
          <p:nvPr/>
        </p:nvSpPr>
        <p:spPr>
          <a:xfrm xmlns:a="http://schemas.openxmlformats.org/drawingml/2006/main">
            <a:off x="952500" y="61436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ctr">
              <a:defRPr sz="975" b="0">
                <a:solidFill>
                  <a:srgbClr val="66727E"/>
                </a:solidFill>
                <a:latin typeface="Aptos"/>
                <a:ea typeface="Aptos"/>
                <a:cs typeface="Aptos"/>
              </a:defRPr>
            </a:pPr>
            <a:r>
              <a:rPr sz="975" b="0">
                <a:solidFill>
                  <a:srgbClr val="66727E"/>
                </a:solidFill>
                <a:latin typeface="Aptos"/>
                <a:ea typeface="Aptos"/>
                <a:cs typeface="Aptos"/>
              </a:rPr>
              <a:t>The detailed row-by-row matrix is in the evidence audit folder.</a:t>
            </a:r>
          </a:p>
        </p:txBody>
      </p:sp>
    </p:spTree>
    <p:extLst>
      <p:ext uri="{BB962C8B-B14F-4D97-AF65-F5344CB8AC3E}">
        <p14:creationId xmlns:p14="http://schemas.microsoft.com/office/powerpoint/2010/main" val="1130791819"/>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2" name="slide-title">
            <a:extLst xmlns:a="http://schemas.openxmlformats.org/drawingml/2006/main">
              <a:ext uri="{FF2B5EF4-FFF2-40B4-BE49-F238E27FC236}">
                <a16:creationId xmlns:a16="http://schemas.microsoft.com/office/drawing/2014/main" id="{338D8495-EF03-483F-A5F6-E76FEFCD0DC6}"/>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Next: check the current evidence before buying more model runs</a:t>
            </a:r>
          </a:p>
        </p:txBody>
      </p:sp>
      <p:sp>
        <p:nvSpPr>
          <p:cNvPr id="2" name="slide-subtitle">
            <a:extLst xmlns:a="http://schemas.openxmlformats.org/drawingml/2006/main">
              <a:ext uri="{FF2B5EF4-FFF2-40B4-BE49-F238E27FC236}">
                <a16:creationId xmlns:a16="http://schemas.microsoft.com/office/drawing/2014/main" id="{00C9B73B-3E39-4DAB-A070-F2F2BEBD0E24}"/>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Research priority, not a model result. Read from top to bottom.</a:t>
            </a:r>
          </a:p>
        </p:txBody>
      </p:sp>
      <p:sp>
        <p:nvSpPr>
          <p:cNvPr id="3" name="">
            <a:extLst xmlns:a="http://schemas.openxmlformats.org/drawingml/2006/main">
              <a:ext uri="{FF2B5EF4-FFF2-40B4-BE49-F238E27FC236}">
                <a16:creationId xmlns:a16="http://schemas.microsoft.com/office/drawing/2014/main" id="{EDA4F1FF-0752-408A-A6C7-4A34117722B3}"/>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4" name="">
            <a:extLst xmlns:a="http://schemas.openxmlformats.org/drawingml/2006/main">
              <a:ext uri="{FF2B5EF4-FFF2-40B4-BE49-F238E27FC236}">
                <a16:creationId xmlns:a16="http://schemas.microsoft.com/office/drawing/2014/main" id="{0E178117-027C-4F90-BDE4-FA55FBFFE3F6}"/>
              </a:ext>
            </a:extLst>
          </p:cNvPr>
          <p:cNvSpPr>
            <a:spLocks xmlns:a="http://schemas.openxmlformats.org/drawingml/2006/main" noGrp="1"/>
          </p:cNvSpPr>
          <p:nvPr/>
        </p:nvSpPr>
        <p:spPr>
          <a:xfrm xmlns:a="http://schemas.openxmlformats.org/drawingml/2006/main">
            <a:off x="800100" y="157162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4856D"/>
                </a:solidFill>
                <a:latin typeface="Aptos"/>
                <a:ea typeface="Aptos"/>
                <a:cs typeface="Aptos"/>
              </a:defRPr>
            </a:pPr>
            <a:r>
              <a:rPr sz="1650" b="1">
                <a:solidFill>
                  <a:srgbClr val="14856D"/>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D2F70CE7-6D16-42D1-82BF-64454E9F6345}"/>
              </a:ext>
            </a:extLst>
          </p:cNvPr>
          <p:cNvSpPr>
            <a:spLocks xmlns:a="http://schemas.openxmlformats.org/drawingml/2006/main" noGrp="1"/>
          </p:cNvSpPr>
          <p:nvPr/>
        </p:nvSpPr>
        <p:spPr>
          <a:xfrm xmlns:a="http://schemas.openxmlformats.org/drawingml/2006/main">
            <a:off x="1381125" y="156210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Review 12 cases where parsing may be wrong</a:t>
            </a:r>
          </a:p>
        </p:txBody>
      </p:sp>
      <p:sp>
        <p:nvSpPr>
          <p:cNvPr id="6" name="">
            <a:extLst xmlns:a="http://schemas.openxmlformats.org/drawingml/2006/main">
              <a:ext uri="{FF2B5EF4-FFF2-40B4-BE49-F238E27FC236}">
                <a16:creationId xmlns:a16="http://schemas.microsoft.com/office/drawing/2014/main" id="{66ECC9F6-E46B-4C5E-8147-0808A61A09D4}"/>
              </a:ext>
            </a:extLst>
          </p:cNvPr>
          <p:cNvSpPr>
            <a:spLocks xmlns:a="http://schemas.openxmlformats.org/drawingml/2006/main" noGrp="1"/>
          </p:cNvSpPr>
          <p:nvPr/>
        </p:nvSpPr>
        <p:spPr>
          <a:xfrm xmlns:a="http://schemas.openxmlformats.org/drawingml/2006/main">
            <a:off x="9144000" y="157162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4856D"/>
                </a:solidFill>
                <a:latin typeface="Aptos"/>
                <a:ea typeface="Aptos"/>
                <a:cs typeface="Aptos"/>
              </a:defRPr>
            </a:pPr>
            <a:r>
              <a:rPr sz="1200" b="1">
                <a:solidFill>
                  <a:srgbClr val="14856D"/>
                </a:solidFill>
                <a:latin typeface="Aptos"/>
                <a:ea typeface="Aptos"/>
                <a:cs typeface="Aptos"/>
              </a:rPr>
              <a:t>no new model runs</a:t>
            </a:r>
          </a:p>
        </p:txBody>
      </p:sp>
      <p:sp>
        <p:nvSpPr>
          <p:cNvPr id="7" name="">
            <a:extLst xmlns:a="http://schemas.openxmlformats.org/drawingml/2006/main">
              <a:ext uri="{FF2B5EF4-FFF2-40B4-BE49-F238E27FC236}">
                <a16:creationId xmlns:a16="http://schemas.microsoft.com/office/drawing/2014/main" id="{B4749E3F-2A95-4FE2-A11F-7D2CA491893E}"/>
              </a:ext>
            </a:extLst>
          </p:cNvPr>
          <p:cNvSpPr>
            <a:spLocks xmlns:a="http://schemas.openxmlformats.org/drawingml/2006/main" noGrp="1"/>
          </p:cNvSpPr>
          <p:nvPr/>
        </p:nvSpPr>
        <p:spPr>
          <a:xfrm xmlns:a="http://schemas.openxmlformats.org/drawingml/2006/main">
            <a:off x="1381125" y="202882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8" name="">
            <a:extLst xmlns:a="http://schemas.openxmlformats.org/drawingml/2006/main">
              <a:ext uri="{FF2B5EF4-FFF2-40B4-BE49-F238E27FC236}">
                <a16:creationId xmlns:a16="http://schemas.microsoft.com/office/drawing/2014/main" id="{CF57FB72-F277-4687-9F00-535191D8A8CE}"/>
              </a:ext>
            </a:extLst>
          </p:cNvPr>
          <p:cNvSpPr>
            <a:spLocks xmlns:a="http://schemas.openxmlformats.org/drawingml/2006/main" noGrp="1"/>
          </p:cNvSpPr>
          <p:nvPr/>
        </p:nvSpPr>
        <p:spPr>
          <a:xfrm xmlns:a="http://schemas.openxmlformats.org/drawingml/2006/main">
            <a:off x="800100" y="220027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4856D"/>
                </a:solidFill>
                <a:latin typeface="Aptos"/>
                <a:ea typeface="Aptos"/>
                <a:cs typeface="Aptos"/>
              </a:defRPr>
            </a:pPr>
            <a:r>
              <a:rPr sz="1650" b="1">
                <a:solidFill>
                  <a:srgbClr val="14856D"/>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C0BD991B-AF77-460F-8029-7A1629CF9988}"/>
              </a:ext>
            </a:extLst>
          </p:cNvPr>
          <p:cNvSpPr>
            <a:spLocks xmlns:a="http://schemas.openxmlformats.org/drawingml/2006/main" noGrp="1"/>
          </p:cNvSpPr>
          <p:nvPr/>
        </p:nvSpPr>
        <p:spPr>
          <a:xfrm xmlns:a="http://schemas.openxmlformats.org/drawingml/2006/main">
            <a:off x="1381125" y="219075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Check duplicate labels and verify scores using the paper's method</a:t>
            </a:r>
          </a:p>
        </p:txBody>
      </p:sp>
      <p:sp>
        <p:nvSpPr>
          <p:cNvPr id="10" name="">
            <a:extLst xmlns:a="http://schemas.openxmlformats.org/drawingml/2006/main">
              <a:ext uri="{FF2B5EF4-FFF2-40B4-BE49-F238E27FC236}">
                <a16:creationId xmlns:a16="http://schemas.microsoft.com/office/drawing/2014/main" id="{96ADD2DB-CD77-4E95-9278-604509159D9D}"/>
              </a:ext>
            </a:extLst>
          </p:cNvPr>
          <p:cNvSpPr>
            <a:spLocks xmlns:a="http://schemas.openxmlformats.org/drawingml/2006/main" noGrp="1"/>
          </p:cNvSpPr>
          <p:nvPr/>
        </p:nvSpPr>
        <p:spPr>
          <a:xfrm xmlns:a="http://schemas.openxmlformats.org/drawingml/2006/main">
            <a:off x="9144000" y="220027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14856D"/>
                </a:solidFill>
                <a:latin typeface="Aptos"/>
                <a:ea typeface="Aptos"/>
                <a:cs typeface="Aptos"/>
              </a:defRPr>
            </a:pPr>
            <a:r>
              <a:rPr sz="1200" b="1">
                <a:solidFill>
                  <a:srgbClr val="14856D"/>
                </a:solidFill>
                <a:latin typeface="Aptos"/>
                <a:ea typeface="Aptos"/>
                <a:cs typeface="Aptos"/>
              </a:rPr>
              <a:t>no new model runs</a:t>
            </a:r>
          </a:p>
        </p:txBody>
      </p:sp>
      <p:sp>
        <p:nvSpPr>
          <p:cNvPr id="11" name="">
            <a:extLst xmlns:a="http://schemas.openxmlformats.org/drawingml/2006/main">
              <a:ext uri="{FF2B5EF4-FFF2-40B4-BE49-F238E27FC236}">
                <a16:creationId xmlns:a16="http://schemas.microsoft.com/office/drawing/2014/main" id="{FD3D4BDA-8DE8-4C09-93AD-5DD2D024496B}"/>
              </a:ext>
            </a:extLst>
          </p:cNvPr>
          <p:cNvSpPr>
            <a:spLocks xmlns:a="http://schemas.openxmlformats.org/drawingml/2006/main" noGrp="1"/>
          </p:cNvSpPr>
          <p:nvPr/>
        </p:nvSpPr>
        <p:spPr>
          <a:xfrm xmlns:a="http://schemas.openxmlformats.org/drawingml/2006/main">
            <a:off x="1381125" y="265747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2" name="">
            <a:extLst xmlns:a="http://schemas.openxmlformats.org/drawingml/2006/main">
              <a:ext uri="{FF2B5EF4-FFF2-40B4-BE49-F238E27FC236}">
                <a16:creationId xmlns:a16="http://schemas.microsoft.com/office/drawing/2014/main" id="{A8F1623A-84E9-4FFA-AA51-BE25AE825203}"/>
              </a:ext>
            </a:extLst>
          </p:cNvPr>
          <p:cNvSpPr>
            <a:spLocks xmlns:a="http://schemas.openxmlformats.org/drawingml/2006/main" noGrp="1"/>
          </p:cNvSpPr>
          <p:nvPr/>
        </p:nvSpPr>
        <p:spPr>
          <a:xfrm xmlns:a="http://schemas.openxmlformats.org/drawingml/2006/main">
            <a:off x="800100" y="282892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C878A7"/>
                </a:solidFill>
                <a:latin typeface="Aptos"/>
                <a:ea typeface="Aptos"/>
                <a:cs typeface="Aptos"/>
              </a:defRPr>
            </a:pPr>
            <a:r>
              <a:rPr sz="1650" b="1">
                <a:solidFill>
                  <a:srgbClr val="C878A7"/>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8F94A699-261B-4931-88E0-3D0EC587E4B6}"/>
              </a:ext>
            </a:extLst>
          </p:cNvPr>
          <p:cNvSpPr>
            <a:spLocks xmlns:a="http://schemas.openxmlformats.org/drawingml/2006/main" noGrp="1"/>
          </p:cNvSpPr>
          <p:nvPr/>
        </p:nvSpPr>
        <p:spPr>
          <a:xfrm xmlns:a="http://schemas.openxmlformats.org/drawingml/2006/main">
            <a:off x="1381125" y="281940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Run human validation</a:t>
            </a:r>
          </a:p>
        </p:txBody>
      </p:sp>
      <p:sp>
        <p:nvSpPr>
          <p:cNvPr id="14" name="">
            <a:extLst xmlns:a="http://schemas.openxmlformats.org/drawingml/2006/main">
              <a:ext uri="{FF2B5EF4-FFF2-40B4-BE49-F238E27FC236}">
                <a16:creationId xmlns:a16="http://schemas.microsoft.com/office/drawing/2014/main" id="{4F0A11B1-CA99-43BD-8163-CF10FE3B0C46}"/>
              </a:ext>
            </a:extLst>
          </p:cNvPr>
          <p:cNvSpPr>
            <a:spLocks xmlns:a="http://schemas.openxmlformats.org/drawingml/2006/main" noGrp="1"/>
          </p:cNvSpPr>
          <p:nvPr/>
        </p:nvSpPr>
        <p:spPr>
          <a:xfrm xmlns:a="http://schemas.openxmlformats.org/drawingml/2006/main">
            <a:off x="9144000" y="282892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C878A7"/>
                </a:solidFill>
                <a:latin typeface="Aptos"/>
                <a:ea typeface="Aptos"/>
                <a:cs typeface="Aptos"/>
              </a:defRPr>
            </a:pPr>
            <a:r>
              <a:rPr sz="1200" b="1">
                <a:solidFill>
                  <a:srgbClr val="C878A7"/>
                </a:solidFill>
                <a:latin typeface="Aptos"/>
                <a:ea typeface="Aptos"/>
                <a:cs typeface="Aptos"/>
              </a:rPr>
              <a:t>human study</a:t>
            </a:r>
          </a:p>
        </p:txBody>
      </p:sp>
      <p:sp>
        <p:nvSpPr>
          <p:cNvPr id="15" name="">
            <a:extLst xmlns:a="http://schemas.openxmlformats.org/drawingml/2006/main">
              <a:ext uri="{FF2B5EF4-FFF2-40B4-BE49-F238E27FC236}">
                <a16:creationId xmlns:a16="http://schemas.microsoft.com/office/drawing/2014/main" id="{070829AB-9C07-4F9D-AF3B-65E3CE8BC2A6}"/>
              </a:ext>
            </a:extLst>
          </p:cNvPr>
          <p:cNvSpPr>
            <a:spLocks xmlns:a="http://schemas.openxmlformats.org/drawingml/2006/main" noGrp="1"/>
          </p:cNvSpPr>
          <p:nvPr/>
        </p:nvSpPr>
        <p:spPr>
          <a:xfrm xmlns:a="http://schemas.openxmlformats.org/drawingml/2006/main">
            <a:off x="1381125" y="328612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16" name="">
            <a:extLst xmlns:a="http://schemas.openxmlformats.org/drawingml/2006/main">
              <a:ext uri="{FF2B5EF4-FFF2-40B4-BE49-F238E27FC236}">
                <a16:creationId xmlns:a16="http://schemas.microsoft.com/office/drawing/2014/main" id="{58061440-141A-4F7F-962C-BF146B5DC326}"/>
              </a:ext>
            </a:extLst>
          </p:cNvPr>
          <p:cNvSpPr>
            <a:spLocks xmlns:a="http://schemas.openxmlformats.org/drawingml/2006/main" noGrp="1"/>
          </p:cNvSpPr>
          <p:nvPr/>
        </p:nvSpPr>
        <p:spPr>
          <a:xfrm xmlns:a="http://schemas.openxmlformats.org/drawingml/2006/main">
            <a:off x="800100" y="345757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2B78B8"/>
                </a:solidFill>
                <a:latin typeface="Aptos"/>
                <a:ea typeface="Aptos"/>
                <a:cs typeface="Aptos"/>
              </a:defRPr>
            </a:pPr>
            <a:r>
              <a:rPr sz="1650" b="1">
                <a:solidFill>
                  <a:srgbClr val="2B78B8"/>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C35018FB-4DF9-40DA-9A73-E65413EF2E52}"/>
              </a:ext>
            </a:extLst>
          </p:cNvPr>
          <p:cNvSpPr>
            <a:spLocks xmlns:a="http://schemas.openxmlformats.org/drawingml/2006/main" noGrp="1"/>
          </p:cNvSpPr>
          <p:nvPr/>
        </p:nvSpPr>
        <p:spPr>
          <a:xfrm xmlns:a="http://schemas.openxmlformats.org/drawingml/2006/main">
            <a:off x="1381125" y="344805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Add MoralBench comparison items</a:t>
            </a:r>
          </a:p>
        </p:txBody>
      </p:sp>
      <p:sp>
        <p:nvSpPr>
          <p:cNvPr id="18" name="">
            <a:extLst xmlns:a="http://schemas.openxmlformats.org/drawingml/2006/main">
              <a:ext uri="{FF2B5EF4-FFF2-40B4-BE49-F238E27FC236}">
                <a16:creationId xmlns:a16="http://schemas.microsoft.com/office/drawing/2014/main" id="{A7932B0A-4514-40AB-A23A-EFF79C6E6702}"/>
              </a:ext>
            </a:extLst>
          </p:cNvPr>
          <p:cNvSpPr>
            <a:spLocks xmlns:a="http://schemas.openxmlformats.org/drawingml/2006/main" noGrp="1"/>
          </p:cNvSpPr>
          <p:nvPr/>
        </p:nvSpPr>
        <p:spPr>
          <a:xfrm xmlns:a="http://schemas.openxmlformats.org/drawingml/2006/main">
            <a:off x="9144000" y="345757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2B78B8"/>
                </a:solidFill>
                <a:latin typeface="Aptos"/>
                <a:ea typeface="Aptos"/>
                <a:cs typeface="Aptos"/>
              </a:defRPr>
            </a:pPr>
            <a:r>
              <a:rPr sz="1200" b="1">
                <a:solidFill>
                  <a:srgbClr val="2B78B8"/>
                </a:solidFill>
                <a:latin typeface="Aptos"/>
                <a:ea typeface="Aptos"/>
                <a:cs typeface="Aptos"/>
              </a:rPr>
              <a:t>new items + reruns</a:t>
            </a:r>
          </a:p>
        </p:txBody>
      </p:sp>
      <p:sp>
        <p:nvSpPr>
          <p:cNvPr id="19" name="">
            <a:extLst xmlns:a="http://schemas.openxmlformats.org/drawingml/2006/main">
              <a:ext uri="{FF2B5EF4-FFF2-40B4-BE49-F238E27FC236}">
                <a16:creationId xmlns:a16="http://schemas.microsoft.com/office/drawing/2014/main" id="{85E495AA-001D-43BB-AE7E-93A6BC493CB7}"/>
              </a:ext>
            </a:extLst>
          </p:cNvPr>
          <p:cNvSpPr>
            <a:spLocks xmlns:a="http://schemas.openxmlformats.org/drawingml/2006/main" noGrp="1"/>
          </p:cNvSpPr>
          <p:nvPr/>
        </p:nvSpPr>
        <p:spPr>
          <a:xfrm xmlns:a="http://schemas.openxmlformats.org/drawingml/2006/main">
            <a:off x="1381125" y="391477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20" name="">
            <a:extLst xmlns:a="http://schemas.openxmlformats.org/drawingml/2006/main">
              <a:ext uri="{FF2B5EF4-FFF2-40B4-BE49-F238E27FC236}">
                <a16:creationId xmlns:a16="http://schemas.microsoft.com/office/drawing/2014/main" id="{CEDC9A6A-9DDC-42CF-9EA6-FF7A96351A53}"/>
              </a:ext>
            </a:extLst>
          </p:cNvPr>
          <p:cNvSpPr>
            <a:spLocks xmlns:a="http://schemas.openxmlformats.org/drawingml/2006/main" noGrp="1"/>
          </p:cNvSpPr>
          <p:nvPr/>
        </p:nvSpPr>
        <p:spPr>
          <a:xfrm xmlns:a="http://schemas.openxmlformats.org/drawingml/2006/main">
            <a:off x="800100" y="408622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D3971E"/>
                </a:solidFill>
                <a:latin typeface="Aptos"/>
                <a:ea typeface="Aptos"/>
                <a:cs typeface="Aptos"/>
              </a:defRPr>
            </a:pPr>
            <a:r>
              <a:rPr sz="1650" b="1">
                <a:solidFill>
                  <a:srgbClr val="D3971E"/>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EC3FA754-6DF9-45DC-85A3-3AAFBA76344F}"/>
              </a:ext>
            </a:extLst>
          </p:cNvPr>
          <p:cNvSpPr>
            <a:spLocks xmlns:a="http://schemas.openxmlformats.org/drawingml/2006/main" noGrp="1"/>
          </p:cNvSpPr>
          <p:nvPr/>
        </p:nvSpPr>
        <p:spPr>
          <a:xfrm xmlns:a="http://schemas.openxmlformats.org/drawingml/2006/main">
            <a:off x="1381125" y="407670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Rerun 14 answers that hit the length limit, using one fixed limit</a:t>
            </a:r>
          </a:p>
        </p:txBody>
      </p:sp>
      <p:sp>
        <p:nvSpPr>
          <p:cNvPr id="22" name="">
            <a:extLst xmlns:a="http://schemas.openxmlformats.org/drawingml/2006/main">
              <a:ext uri="{FF2B5EF4-FFF2-40B4-BE49-F238E27FC236}">
                <a16:creationId xmlns:a16="http://schemas.microsoft.com/office/drawing/2014/main" id="{BC5958B9-39EF-48EB-BFEE-D9C4120E35E0}"/>
              </a:ext>
            </a:extLst>
          </p:cNvPr>
          <p:cNvSpPr>
            <a:spLocks xmlns:a="http://schemas.openxmlformats.org/drawingml/2006/main" noGrp="1"/>
          </p:cNvSpPr>
          <p:nvPr/>
        </p:nvSpPr>
        <p:spPr>
          <a:xfrm xmlns:a="http://schemas.openxmlformats.org/drawingml/2006/main">
            <a:off x="9144000" y="408622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D3971E"/>
                </a:solidFill>
                <a:latin typeface="Aptos"/>
                <a:ea typeface="Aptos"/>
                <a:cs typeface="Aptos"/>
              </a:defRPr>
            </a:pPr>
            <a:r>
              <a:rPr sz="1200" b="1">
                <a:solidFill>
                  <a:srgbClr val="D3971E"/>
                </a:solidFill>
                <a:latin typeface="Aptos"/>
                <a:ea typeface="Aptos"/>
                <a:cs typeface="Aptos"/>
              </a:rPr>
              <a:t>targeted runs</a:t>
            </a:r>
          </a:p>
        </p:txBody>
      </p:sp>
      <p:sp>
        <p:nvSpPr>
          <p:cNvPr id="23" name="">
            <a:extLst xmlns:a="http://schemas.openxmlformats.org/drawingml/2006/main">
              <a:ext uri="{FF2B5EF4-FFF2-40B4-BE49-F238E27FC236}">
                <a16:creationId xmlns:a16="http://schemas.microsoft.com/office/drawing/2014/main" id="{7D865483-6BA9-43FD-A6E6-15043920C144}"/>
              </a:ext>
            </a:extLst>
          </p:cNvPr>
          <p:cNvSpPr>
            <a:spLocks xmlns:a="http://schemas.openxmlformats.org/drawingml/2006/main" noGrp="1"/>
          </p:cNvSpPr>
          <p:nvPr/>
        </p:nvSpPr>
        <p:spPr>
          <a:xfrm xmlns:a="http://schemas.openxmlformats.org/drawingml/2006/main">
            <a:off x="1381125" y="454342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24" name="">
            <a:extLst xmlns:a="http://schemas.openxmlformats.org/drawingml/2006/main">
              <a:ext uri="{FF2B5EF4-FFF2-40B4-BE49-F238E27FC236}">
                <a16:creationId xmlns:a16="http://schemas.microsoft.com/office/drawing/2014/main" id="{F368C0EE-2491-4191-9D25-BC01DB66DDBC}"/>
              </a:ext>
            </a:extLst>
          </p:cNvPr>
          <p:cNvSpPr>
            <a:spLocks xmlns:a="http://schemas.openxmlformats.org/drawingml/2006/main" noGrp="1"/>
          </p:cNvSpPr>
          <p:nvPr/>
        </p:nvSpPr>
        <p:spPr>
          <a:xfrm xmlns:a="http://schemas.openxmlformats.org/drawingml/2006/main">
            <a:off x="800100" y="471487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9AA2AA"/>
                </a:solidFill>
                <a:latin typeface="Aptos"/>
                <a:ea typeface="Aptos"/>
                <a:cs typeface="Aptos"/>
              </a:defRPr>
            </a:pPr>
            <a:r>
              <a:rPr sz="1650" b="1">
                <a:solidFill>
                  <a:srgbClr val="9AA2AA"/>
                </a:solidFill>
                <a:latin typeface="Aptos"/>
                <a:ea typeface="Aptos"/>
                <a:cs typeface="Aptos"/>
              </a:rPr>
              <a:t>6</a:t>
            </a:r>
          </a:p>
        </p:txBody>
      </p:sp>
      <p:sp>
        <p:nvSpPr>
          <p:cNvPr id="25" name="">
            <a:extLst xmlns:a="http://schemas.openxmlformats.org/drawingml/2006/main">
              <a:ext uri="{FF2B5EF4-FFF2-40B4-BE49-F238E27FC236}">
                <a16:creationId xmlns:a16="http://schemas.microsoft.com/office/drawing/2014/main" id="{CEB04B8C-4C84-488E-81FD-E8F6D61806EC}"/>
              </a:ext>
            </a:extLst>
          </p:cNvPr>
          <p:cNvSpPr>
            <a:spLocks xmlns:a="http://schemas.openxmlformats.org/drawingml/2006/main" noGrp="1"/>
          </p:cNvSpPr>
          <p:nvPr/>
        </p:nvSpPr>
        <p:spPr>
          <a:xfrm xmlns:a="http://schemas.openxmlformats.org/drawingml/2006/main">
            <a:off x="1381125" y="470535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Complete 30 image and text results only if needed</a:t>
            </a:r>
          </a:p>
        </p:txBody>
      </p:sp>
      <p:sp>
        <p:nvSpPr>
          <p:cNvPr id="26" name="">
            <a:extLst xmlns:a="http://schemas.openxmlformats.org/drawingml/2006/main">
              <a:ext uri="{FF2B5EF4-FFF2-40B4-BE49-F238E27FC236}">
                <a16:creationId xmlns:a16="http://schemas.microsoft.com/office/drawing/2014/main" id="{2CB6A5AF-695D-4451-99AC-CDFD077DDC42}"/>
              </a:ext>
            </a:extLst>
          </p:cNvPr>
          <p:cNvSpPr>
            <a:spLocks xmlns:a="http://schemas.openxmlformats.org/drawingml/2006/main" noGrp="1"/>
          </p:cNvSpPr>
          <p:nvPr/>
        </p:nvSpPr>
        <p:spPr>
          <a:xfrm xmlns:a="http://schemas.openxmlformats.org/drawingml/2006/main">
            <a:off x="9144000" y="471487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9AA2AA"/>
                </a:solidFill>
                <a:latin typeface="Aptos"/>
                <a:ea typeface="Aptos"/>
                <a:cs typeface="Aptos"/>
              </a:defRPr>
            </a:pPr>
            <a:r>
              <a:rPr sz="1200" b="1">
                <a:solidFill>
                  <a:srgbClr val="9AA2AA"/>
                </a:solidFill>
                <a:latin typeface="Aptos"/>
                <a:ea typeface="Aptos"/>
                <a:cs typeface="Aptos"/>
              </a:rPr>
              <a:t>high cost</a:t>
            </a:r>
          </a:p>
        </p:txBody>
      </p:sp>
      <p:sp>
        <p:nvSpPr>
          <p:cNvPr id="27" name="">
            <a:extLst xmlns:a="http://schemas.openxmlformats.org/drawingml/2006/main">
              <a:ext uri="{FF2B5EF4-FFF2-40B4-BE49-F238E27FC236}">
                <a16:creationId xmlns:a16="http://schemas.microsoft.com/office/drawing/2014/main" id="{C900647B-6E41-43B4-B58D-3DF3702BFB3A}"/>
              </a:ext>
            </a:extLst>
          </p:cNvPr>
          <p:cNvSpPr>
            <a:spLocks xmlns:a="http://schemas.openxmlformats.org/drawingml/2006/main" noGrp="1"/>
          </p:cNvSpPr>
          <p:nvPr/>
        </p:nvSpPr>
        <p:spPr>
          <a:xfrm xmlns:a="http://schemas.openxmlformats.org/drawingml/2006/main">
            <a:off x="1381125" y="5172075"/>
            <a:ext cx="1000125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sp>
        <p:nvSpPr>
          <p:cNvPr id="28" name="">
            <a:extLst xmlns:a="http://schemas.openxmlformats.org/drawingml/2006/main">
              <a:ext uri="{FF2B5EF4-FFF2-40B4-BE49-F238E27FC236}">
                <a16:creationId xmlns:a16="http://schemas.microsoft.com/office/drawing/2014/main" id="{60D0D1F9-45A3-4F55-83EE-C20E318422A8}"/>
              </a:ext>
            </a:extLst>
          </p:cNvPr>
          <p:cNvSpPr>
            <a:spLocks xmlns:a="http://schemas.openxmlformats.org/drawingml/2006/main" noGrp="1"/>
          </p:cNvSpPr>
          <p:nvPr/>
        </p:nvSpPr>
        <p:spPr>
          <a:xfrm xmlns:a="http://schemas.openxmlformats.org/drawingml/2006/main">
            <a:off x="800100" y="5343525"/>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D65A00"/>
                </a:solidFill>
                <a:latin typeface="Aptos"/>
                <a:ea typeface="Aptos"/>
                <a:cs typeface="Aptos"/>
              </a:defRPr>
            </a:pPr>
            <a:r>
              <a:rPr sz="1650" b="1">
                <a:solidFill>
                  <a:srgbClr val="D65A00"/>
                </a:solidFill>
                <a:latin typeface="Aptos"/>
                <a:ea typeface="Aptos"/>
                <a:cs typeface="Aptos"/>
              </a:rPr>
              <a:t>7</a:t>
            </a:r>
          </a:p>
        </p:txBody>
      </p:sp>
      <p:sp>
        <p:nvSpPr>
          <p:cNvPr id="29" name="">
            <a:extLst xmlns:a="http://schemas.openxmlformats.org/drawingml/2006/main">
              <a:ext uri="{FF2B5EF4-FFF2-40B4-BE49-F238E27FC236}">
                <a16:creationId xmlns:a16="http://schemas.microsoft.com/office/drawing/2014/main" id="{A1CD2585-EF51-4EF2-9FC6-D95ACC9BED78}"/>
              </a:ext>
            </a:extLst>
          </p:cNvPr>
          <p:cNvSpPr>
            <a:spLocks xmlns:a="http://schemas.openxmlformats.org/drawingml/2006/main" noGrp="1"/>
          </p:cNvSpPr>
          <p:nvPr/>
        </p:nvSpPr>
        <p:spPr>
          <a:xfrm xmlns:a="http://schemas.openxmlformats.org/drawingml/2006/main">
            <a:off x="1381125" y="5334000"/>
            <a:ext cx="747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7212B"/>
                </a:solidFill>
                <a:latin typeface="Aptos"/>
                <a:ea typeface="Aptos"/>
                <a:cs typeface="Aptos"/>
              </a:defRPr>
            </a:pPr>
            <a:r>
              <a:rPr sz="1350" b="1">
                <a:solidFill>
                  <a:srgbClr val="17212B"/>
                </a:solidFill>
                <a:latin typeface="Aptos"/>
                <a:ea typeface="Aptos"/>
                <a:cs typeface="Aptos"/>
              </a:rPr>
              <a:t>Repeat Kaleido and UniMoral paper conditions only if we plan a replication claim</a:t>
            </a:r>
          </a:p>
        </p:txBody>
      </p:sp>
      <p:sp>
        <p:nvSpPr>
          <p:cNvPr id="30" name="">
            <a:extLst xmlns:a="http://schemas.openxmlformats.org/drawingml/2006/main">
              <a:ext uri="{FF2B5EF4-FFF2-40B4-BE49-F238E27FC236}">
                <a16:creationId xmlns:a16="http://schemas.microsoft.com/office/drawing/2014/main" id="{27F9EF30-8F1B-4962-8BE6-05420978773B}"/>
              </a:ext>
            </a:extLst>
          </p:cNvPr>
          <p:cNvSpPr>
            <a:spLocks xmlns:a="http://schemas.openxmlformats.org/drawingml/2006/main" noGrp="1"/>
          </p:cNvSpPr>
          <p:nvPr/>
        </p:nvSpPr>
        <p:spPr>
          <a:xfrm xmlns:a="http://schemas.openxmlformats.org/drawingml/2006/main">
            <a:off x="9144000" y="5343525"/>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200" b="1">
                <a:solidFill>
                  <a:srgbClr val="D65A00"/>
                </a:solidFill>
                <a:latin typeface="Aptos"/>
                <a:ea typeface="Aptos"/>
                <a:cs typeface="Aptos"/>
              </a:defRPr>
            </a:pPr>
            <a:r>
              <a:rPr sz="1200" b="1">
                <a:solidFill>
                  <a:srgbClr val="D65A00"/>
                </a:solidFill>
                <a:latin typeface="Aptos"/>
                <a:ea typeface="Aptos"/>
                <a:cs typeface="Aptos"/>
              </a:rPr>
              <a:t>model access + scoring</a:t>
            </a:r>
          </a:p>
        </p:txBody>
      </p:sp>
      <p:sp>
        <p:nvSpPr>
          <p:cNvPr id="31" name="">
            <a:extLst xmlns:a="http://schemas.openxmlformats.org/drawingml/2006/main">
              <a:ext uri="{FF2B5EF4-FFF2-40B4-BE49-F238E27FC236}">
                <a16:creationId xmlns:a16="http://schemas.microsoft.com/office/drawing/2014/main" id="{0FA7360A-D9C7-47A1-878D-439207667D1F}"/>
              </a:ext>
            </a:extLst>
          </p:cNvPr>
          <p:cNvSpPr>
            <a:spLocks xmlns:a="http://schemas.openxmlformats.org/drawingml/2006/main" noGrp="1"/>
          </p:cNvSpPr>
          <p:nvPr/>
        </p:nvSpPr>
        <p:spPr>
          <a:xfrm xmlns:a="http://schemas.openxmlformats.org/drawingml/2006/main">
            <a:off x="1381125" y="61531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CF5D4A"/>
                </a:solidFill>
                <a:latin typeface="Aptos"/>
                <a:ea typeface="Aptos"/>
                <a:cs typeface="Aptos"/>
              </a:defRPr>
            </a:pPr>
            <a:r>
              <a:rPr sz="1350" b="1">
                <a:solidFill>
                  <a:srgbClr val="CF5D4A"/>
                </a:solidFill>
                <a:latin typeface="Aptos"/>
                <a:ea typeface="Aptos"/>
                <a:cs typeface="Aptos"/>
              </a:rPr>
              <a:t>Run paid models only after these checks.</a:t>
            </a:r>
          </a:p>
        </p:txBody>
      </p:sp>
    </p:spTree>
    <p:extLst>
      <p:ext uri="{BB962C8B-B14F-4D97-AF65-F5344CB8AC3E}">
        <p14:creationId xmlns:p14="http://schemas.microsoft.com/office/powerpoint/2010/main" val="1451943202"/>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F4943CF-8D09-4CF5-AF84-5FAFD90BE025}"/>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different models have the highest saved score</a:t>
            </a:r>
          </a:p>
        </p:txBody>
      </p:sp>
      <p:sp>
        <p:nvSpPr>
          <p:cNvPr id="2" name="slide-subtitle">
            <a:extLst xmlns:a="http://schemas.openxmlformats.org/drawingml/2006/main">
              <a:ext uri="{FF2B5EF4-FFF2-40B4-BE49-F238E27FC236}">
                <a16:creationId xmlns:a16="http://schemas.microsoft.com/office/drawing/2014/main" id="{58844CF6-F231-4F93-BBEF-8470FB872302}"/>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CEI local result. x = model; y = task score; dot = score; line = saved 95% range.</a:t>
            </a:r>
          </a:p>
        </p:txBody>
      </p:sp>
      <p:sp>
        <p:nvSpPr>
          <p:cNvPr id="3" name="">
            <a:extLst xmlns:a="http://schemas.openxmlformats.org/drawingml/2006/main">
              <a:ext uri="{FF2B5EF4-FFF2-40B4-BE49-F238E27FC236}">
                <a16:creationId xmlns:a16="http://schemas.microsoft.com/office/drawing/2014/main" id="{EBFAF739-B277-4636-B398-C79FDEE05113}"/>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be9c74acc4448a8"/>
          <a:stretch xmlns:a="http://schemas.openxmlformats.org/drawingml/2006/main"/>
        </p:blipFill>
        <p:spPr>
          <a:xfrm xmlns:a="http://schemas.openxmlformats.org/drawingml/2006/main">
            <a:off x="685800" y="2586384"/>
            <a:ext cx="10820400" cy="253295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B994F2-0E73-4620-83B6-23F7ECE2BC72}"/>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Accuracy and text match stay separate. These ranges are not direct tests between two models.</a:t>
            </a:r>
          </a:p>
        </p:txBody>
      </p:sp>
    </p:spTree>
    <p:extLst>
      <p:ext uri="{BB962C8B-B14F-4D97-AF65-F5344CB8AC3E}">
        <p14:creationId xmlns:p14="http://schemas.microsoft.com/office/powerpoint/2010/main" val="1312544695"/>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05F7448-1652-4D31-B839-A0BEAFC5910F}"/>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factor size: Gemma rises; Qwen and Llama reverse</a:t>
            </a:r>
          </a:p>
        </p:txBody>
      </p:sp>
      <p:sp>
        <p:nvSpPr>
          <p:cNvPr id="2" name="slide-subtitle">
            <a:extLst xmlns:a="http://schemas.openxmlformats.org/drawingml/2006/main">
              <a:ext uri="{FF2B5EF4-FFF2-40B4-BE49-F238E27FC236}">
                <a16:creationId xmlns:a16="http://schemas.microsoft.com/office/drawing/2014/main" id="{E8CC019D-88C3-4BAD-A9A4-FF214D5B3A53}"/>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published size category, ordered only; y = factor accuracy; labels = model + B.</a:t>
            </a:r>
          </a:p>
        </p:txBody>
      </p:sp>
      <p:sp>
        <p:nvSpPr>
          <p:cNvPr id="3" name="">
            <a:extLst xmlns:a="http://schemas.openxmlformats.org/drawingml/2006/main">
              <a:ext uri="{FF2B5EF4-FFF2-40B4-BE49-F238E27FC236}">
                <a16:creationId xmlns:a16="http://schemas.microsoft.com/office/drawing/2014/main" id="{0DAEA75F-D52B-405C-857C-F6B6ADE884B7}"/>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b02adc8e317451c"/>
          <a:stretch xmlns:a="http://schemas.openxmlformats.org/drawingml/2006/main"/>
        </p:blipFill>
        <p:spPr>
          <a:xfrm xmlns:a="http://schemas.openxmlformats.org/drawingml/2006/main">
            <a:off x="685800" y="1959293"/>
            <a:ext cx="10820400" cy="37871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1DF58D0-E038-4146-B1F8-0E5A3079DA58}"/>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Size is not isolated from training differences. The available files have no saved uncertainty ranges or raw run archive.</a:t>
            </a:r>
          </a:p>
        </p:txBody>
      </p:sp>
    </p:spTree>
    <p:extLst>
      <p:ext uri="{BB962C8B-B14F-4D97-AF65-F5344CB8AC3E}">
        <p14:creationId xmlns:p14="http://schemas.microsoft.com/office/powerpoint/2010/main" val="47249280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DAD5201-2CEE-4574-8261-72F49DDAD974}"/>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ValuePrism valence size: Llama falls, then rises</a:t>
            </a:r>
          </a:p>
        </p:txBody>
      </p:sp>
      <p:sp>
        <p:nvSpPr>
          <p:cNvPr id="2" name="slide-subtitle">
            <a:extLst xmlns:a="http://schemas.openxmlformats.org/drawingml/2006/main">
              <a:ext uri="{FF2B5EF4-FFF2-40B4-BE49-F238E27FC236}">
                <a16:creationId xmlns:a16="http://schemas.microsoft.com/office/drawing/2014/main" id="{F44C16C8-2FE3-4C56-9E79-E7B737F5A772}"/>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published size category, ordered only; y = valence accuracy; labels = model + B.</a:t>
            </a:r>
          </a:p>
        </p:txBody>
      </p:sp>
      <p:sp>
        <p:nvSpPr>
          <p:cNvPr id="3" name="">
            <a:extLst xmlns:a="http://schemas.openxmlformats.org/drawingml/2006/main">
              <a:ext uri="{FF2B5EF4-FFF2-40B4-BE49-F238E27FC236}">
                <a16:creationId xmlns:a16="http://schemas.microsoft.com/office/drawing/2014/main" id="{9B4EE173-75A1-4745-8E03-425CBF46F196}"/>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1ffd4da90e6485d"/>
          <a:stretch xmlns:a="http://schemas.openxmlformats.org/drawingml/2006/main"/>
        </p:blipFill>
        <p:spPr>
          <a:xfrm xmlns:a="http://schemas.openxmlformats.org/drawingml/2006/main">
            <a:off x="685800" y="1959293"/>
            <a:ext cx="10820400" cy="37871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7BB21D-BB4E-4B6C-AFCD-3E96878B0D14}"/>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Only Llama has all three sizes. CEI ValuePrism is not the paper's Kaleido test. The available files have no saved uncertainty ranges or raw run archive.</a:t>
            </a:r>
          </a:p>
        </p:txBody>
      </p:sp>
    </p:spTree>
    <p:extLst>
      <p:ext uri="{BB962C8B-B14F-4D97-AF65-F5344CB8AC3E}">
        <p14:creationId xmlns:p14="http://schemas.microsoft.com/office/powerpoint/2010/main" val="1006101203"/>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F9F5BCF-7F24-415D-A367-735440A66AC6}"/>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UniMoral factor releases: DeepSeek falls .038; Qwen changes .002</a:t>
            </a:r>
          </a:p>
        </p:txBody>
      </p:sp>
      <p:sp>
        <p:nvSpPr>
          <p:cNvPr id="2" name="slide-subtitle">
            <a:extLst xmlns:a="http://schemas.openxmlformats.org/drawingml/2006/main">
              <a:ext uri="{FF2B5EF4-FFF2-40B4-BE49-F238E27FC236}">
                <a16:creationId xmlns:a16="http://schemas.microsoft.com/office/drawing/2014/main" id="{A5F2C8CA-81A6-496D-86B8-3D80F7C56802}"/>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model release quarter; y = factor accuracy; labels = model + B.</a:t>
            </a:r>
          </a:p>
        </p:txBody>
      </p:sp>
      <p:sp>
        <p:nvSpPr>
          <p:cNvPr id="3" name="">
            <a:extLst xmlns:a="http://schemas.openxmlformats.org/drawingml/2006/main">
              <a:ext uri="{FF2B5EF4-FFF2-40B4-BE49-F238E27FC236}">
                <a16:creationId xmlns:a16="http://schemas.microsoft.com/office/drawing/2014/main" id="{3D552E4B-75CA-46DD-8841-40C6EE340763}"/>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1338914848d4250"/>
          <a:stretch xmlns:a="http://schemas.openxmlformats.org/drawingml/2006/main"/>
        </p:blipFill>
        <p:spPr>
          <a:xfrm xmlns:a="http://schemas.openxmlformats.org/drawingml/2006/main">
            <a:off x="685800" y="1959293"/>
            <a:ext cx="10820400" cy="37871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3AD50A-CD48-42A6-9ED5-B6FD36E1D2FC}"/>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Release quarter is model metadata, not test time. It does not explain the change. All scores were tested in May 2026; no saved uncertainty ranges.</a:t>
            </a:r>
          </a:p>
        </p:txBody>
      </p:sp>
    </p:spTree>
    <p:extLst>
      <p:ext uri="{BB962C8B-B14F-4D97-AF65-F5344CB8AC3E}">
        <p14:creationId xmlns:p14="http://schemas.microsoft.com/office/powerpoint/2010/main" val="684845597"/>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7F01AA8-291C-4E14-BD99-17DA6DABF769}"/>
              </a:ext>
            </a:extLst>
          </p:cNvPr>
          <p:cNvSpPr>
            <a:spLocks xmlns:a="http://schemas.openxmlformats.org/drawingml/2006/main" noGrp="1"/>
          </p:cNvSpPr>
          <p:nvPr/>
        </p:nvSpPr>
        <p:spPr>
          <a:xfrm xmlns:a="http://schemas.openxmlformats.org/drawingml/2006/main">
            <a:off x="685800" y="3429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212B"/>
                </a:solidFill>
                <a:latin typeface="Aptos"/>
                <a:ea typeface="Aptos"/>
                <a:cs typeface="Aptos"/>
              </a:defRPr>
            </a:pPr>
            <a:r>
              <a:rPr sz="2550" b="1">
                <a:solidFill>
                  <a:srgbClr val="17212B"/>
                </a:solidFill>
                <a:latin typeface="Aptos"/>
                <a:ea typeface="Aptos"/>
                <a:cs typeface="Aptos"/>
              </a:rPr>
              <a:t>ValuePrism valence releases: Qwen +.187; DeepSeek -.062</a:t>
            </a:r>
          </a:p>
        </p:txBody>
      </p:sp>
      <p:sp>
        <p:nvSpPr>
          <p:cNvPr id="2" name="slide-subtitle">
            <a:extLst xmlns:a="http://schemas.openxmlformats.org/drawingml/2006/main">
              <a:ext uri="{FF2B5EF4-FFF2-40B4-BE49-F238E27FC236}">
                <a16:creationId xmlns:a16="http://schemas.microsoft.com/office/drawing/2014/main" id="{7E9C8710-980D-47C7-859C-B897674BA22C}"/>
              </a:ext>
            </a:extLst>
          </p:cNvPr>
          <p:cNvSpPr>
            <a:spLocks xmlns:a="http://schemas.openxmlformats.org/drawingml/2006/main" noGrp="1"/>
          </p:cNvSpPr>
          <p:nvPr/>
        </p:nvSpPr>
        <p:spPr>
          <a:xfrm xmlns:a="http://schemas.openxmlformats.org/drawingml/2006/main">
            <a:off x="781050" y="952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66727E"/>
                </a:solidFill>
                <a:latin typeface="Aptos"/>
                <a:ea typeface="Aptos"/>
                <a:cs typeface="Aptos"/>
              </a:defRPr>
            </a:pPr>
            <a:r>
              <a:rPr sz="1275" b="0">
                <a:solidFill>
                  <a:srgbClr val="66727E"/>
                </a:solidFill>
                <a:latin typeface="Aptos"/>
                <a:ea typeface="Aptos"/>
                <a:cs typeface="Aptos"/>
              </a:rPr>
              <a:t>Exploratory CEI result. x = model release quarter; y = valence accuracy; labels = model + B.</a:t>
            </a:r>
          </a:p>
        </p:txBody>
      </p:sp>
      <p:sp>
        <p:nvSpPr>
          <p:cNvPr id="3" name="">
            <a:extLst xmlns:a="http://schemas.openxmlformats.org/drawingml/2006/main">
              <a:ext uri="{FF2B5EF4-FFF2-40B4-BE49-F238E27FC236}">
                <a16:creationId xmlns:a16="http://schemas.microsoft.com/office/drawing/2014/main" id="{FF37CA59-C44F-46D5-8219-CB84ABDD10A2}"/>
              </a:ext>
            </a:extLst>
          </p:cNvPr>
          <p:cNvSpPr>
            <a:spLocks xmlns:a="http://schemas.openxmlformats.org/drawingml/2006/main" noGrp="1"/>
          </p:cNvSpPr>
          <p:nvPr/>
        </p:nvSpPr>
        <p:spPr>
          <a:xfrm xmlns:a="http://schemas.openxmlformats.org/drawingml/2006/main">
            <a:off x="685800" y="1352550"/>
            <a:ext cx="10820400" cy="0"/>
          </a:xfrm>
          <a:prstGeom xmlns:a="http://schemas.openxmlformats.org/drawingml/2006/main" prst="line">
            <a:avLst/>
          </a:prstGeom>
          <a:noFill xmlns:a="http://schemas.openxmlformats.org/drawingml/2006/main"/>
          <a:ln xmlns:a="http://schemas.openxmlformats.org/drawingml/2006/main" w="9525">
            <a:solidFill>
              <a:srgbClr val="D8D9D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256056bc5214baa"/>
          <a:stretch xmlns:a="http://schemas.openxmlformats.org/drawingml/2006/main"/>
        </p:blipFill>
        <p:spPr>
          <a:xfrm xmlns:a="http://schemas.openxmlformats.org/drawingml/2006/main">
            <a:off x="685800" y="1959293"/>
            <a:ext cx="10820400" cy="37871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04AFC55-85F5-4FCF-983F-F07FDB701326}"/>
              </a:ext>
            </a:extLst>
          </p:cNvPr>
          <p:cNvSpPr>
            <a:spLocks xmlns:a="http://schemas.openxmlformats.org/drawingml/2006/main" noGrp="1"/>
          </p:cNvSpPr>
          <p:nvPr/>
        </p:nvSpPr>
        <p:spPr>
          <a:xfrm xmlns:a="http://schemas.openxmlformats.org/drawingml/2006/main">
            <a:off x="781050" y="6334125"/>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0">
                <a:solidFill>
                  <a:srgbClr val="66727E"/>
                </a:solidFill>
                <a:latin typeface="Aptos"/>
                <a:ea typeface="Aptos"/>
                <a:cs typeface="Aptos"/>
              </a:defRPr>
            </a:pPr>
            <a:r>
              <a:rPr sz="1050" b="0">
                <a:solidFill>
                  <a:srgbClr val="66727E"/>
                </a:solidFill>
                <a:latin typeface="Aptos"/>
                <a:ea typeface="Aptos"/>
                <a:cs typeface="Aptos"/>
              </a:rPr>
              <a:t>Release quarter is model metadata, not test time. CEI ValuePrism is not the paper's Kaleido test. The available files have no saved uncertainty ranges or raw run archive.</a:t>
            </a:r>
          </a:p>
        </p:txBody>
      </p:sp>
    </p:spTree>
    <p:extLst>
      <p:ext uri="{BB962C8B-B14F-4D97-AF65-F5344CB8AC3E}">
        <p14:creationId xmlns:p14="http://schemas.microsoft.com/office/powerpoint/2010/main" val="663514729"/>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4d994249a7742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774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2026-09-05T01:07:53.6250000Z</dcterms:created>
  <dcterms:modified xsi:type="dcterms:W3CDTF">2026-09-05T01:07:53.6250000Z</dcterms:modified>
</coreProperties>
</file>